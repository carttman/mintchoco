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75" r:id="rId4"/>
    <p:sldId id="259" r:id="rId5"/>
    <p:sldId id="276" r:id="rId6"/>
    <p:sldId id="277" r:id="rId7"/>
    <p:sldId id="278" r:id="rId8"/>
    <p:sldId id="261" r:id="rId9"/>
    <p:sldId id="262" r:id="rId10"/>
    <p:sldId id="263" r:id="rId11"/>
    <p:sldId id="280" r:id="rId12"/>
    <p:sldId id="264" r:id="rId13"/>
    <p:sldId id="281" r:id="rId14"/>
    <p:sldId id="265" r:id="rId15"/>
    <p:sldId id="266" r:id="rId16"/>
    <p:sldId id="258" r:id="rId17"/>
    <p:sldId id="267" r:id="rId18"/>
    <p:sldId id="268" r:id="rId19"/>
    <p:sldId id="279" r:id="rId20"/>
    <p:sldId id="273" r:id="rId21"/>
    <p:sldId id="274" r:id="rId22"/>
    <p:sldId id="270" r:id="rId23"/>
    <p:sldId id="272"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4" d="100"/>
          <a:sy n="164" d="100"/>
        </p:scale>
        <p:origin x="418"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200" b="0" i="0" u="none" strike="noStrike">
                <a:solidFill>
                  <a:srgbClr val="2B1B12"/>
                </a:solidFill>
                <a:latin typeface="Malgun Gothic"/>
              </a:defRPr>
            </a:pPr>
            <a:r>
              <a:rPr lang="ko-KR" altLang="en-US" sz="1200" b="0" i="0" u="none" strike="noStrike">
                <a:solidFill>
                  <a:srgbClr val="2B1B12"/>
                </a:solidFill>
                <a:latin typeface="Malgun Gothic"/>
              </a:rPr>
              <a:t>자동화 테스트 파일 </a:t>
            </a:r>
            <a:r>
              <a:rPr lang="en-US" altLang="ko-KR" sz="1200" b="0" i="0" u="none" strike="noStrike">
                <a:solidFill>
                  <a:srgbClr val="2B1B12"/>
                </a:solidFill>
                <a:latin typeface="Malgun Gothic"/>
              </a:rPr>
              <a:t>55</a:t>
            </a:r>
            <a:r>
              <a:rPr lang="ko-KR" altLang="en-US" sz="1200" b="0" i="0" u="none" strike="noStrike">
                <a:solidFill>
                  <a:srgbClr val="2B1B12"/>
                </a:solidFill>
                <a:latin typeface="Malgun Gothic"/>
              </a:rPr>
              <a:t>개 </a:t>
            </a:r>
            <a:r>
              <a:rPr lang="en-US" altLang="ko-KR" sz="1200" b="0" i="0" u="none" strike="noStrike">
                <a:solidFill>
                  <a:srgbClr val="2B1B12"/>
                </a:solidFill>
                <a:latin typeface="Malgun Gothic"/>
              </a:rPr>
              <a:t>(</a:t>
            </a:r>
            <a:r>
              <a:rPr lang="ko-KR" altLang="en-US" sz="1200" b="0" i="0" u="none" strike="noStrike">
                <a:solidFill>
                  <a:srgbClr val="2B1B12"/>
                </a:solidFill>
                <a:latin typeface="Malgun Gothic"/>
              </a:rPr>
              <a:t>영역별</a:t>
            </a:r>
            <a:r>
              <a:rPr lang="en-US" altLang="ko-KR" sz="1200" b="0" i="0" u="none" strike="noStrike">
                <a:solidFill>
                  <a:srgbClr val="2B1B12"/>
                </a:solidFill>
                <a:latin typeface="Malgun Gothic"/>
              </a:rPr>
              <a:t>)</a:t>
            </a:r>
          </a:p>
        </c:rich>
      </c:tx>
      <c:overlay val="0"/>
    </c:title>
    <c:autoTitleDeleted val="0"/>
    <c:plotArea>
      <c:layout/>
      <c:barChart>
        <c:barDir val="bar"/>
        <c:grouping val="clustered"/>
        <c:varyColors val="0"/>
        <c:ser>
          <c:idx val="0"/>
          <c:order val="0"/>
          <c:tx>
            <c:strRef>
              <c:f>Sheet1!$B$1</c:f>
              <c:strCache>
                <c:ptCount val="1"/>
                <c:pt idx="0">
                  <c:v>테스트 파일</c:v>
                </c:pt>
              </c:strCache>
            </c:strRef>
          </c:tx>
          <c:spPr>
            <a:solidFill>
              <a:srgbClr val="1FA88E"/>
            </a:solidFill>
            <a:effectLst/>
          </c:spPr>
          <c:invertIfNegative val="0"/>
          <c:dLbls>
            <c:numFmt formatCode="#,##0" sourceLinked="0"/>
            <c:spPr>
              <a:noFill/>
              <a:ln>
                <a:noFill/>
              </a:ln>
              <a:effectLst/>
            </c:spPr>
            <c:txPr>
              <a:bodyPr/>
              <a:lstStyle/>
              <a:p>
                <a:pPr>
                  <a:defRPr sz="1100" b="0" i="0" u="none" strike="noStrike">
                    <a:solidFill>
                      <a:srgbClr val="2A221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그 외 (페인트·HUD 등)</c:v>
                </c:pt>
                <c:pt idx="1">
                  <c:v>온라인·경기 흐름</c:v>
                </c:pt>
                <c:pt idx="2">
                  <c:v>캐릭터·이동</c:v>
                </c:pt>
                <c:pt idx="3">
                  <c:v>아이템</c:v>
                </c:pt>
              </c:strCache>
            </c:strRef>
          </c:cat>
          <c:val>
            <c:numRef>
              <c:f>Sheet1!$B$2:$B$5</c:f>
              <c:numCache>
                <c:formatCode>General</c:formatCode>
                <c:ptCount val="4"/>
                <c:pt idx="0">
                  <c:v>21</c:v>
                </c:pt>
                <c:pt idx="1">
                  <c:v>6</c:v>
                </c:pt>
                <c:pt idx="2">
                  <c:v>9</c:v>
                </c:pt>
                <c:pt idx="3">
                  <c:v>19</c:v>
                </c:pt>
              </c:numCache>
            </c:numRef>
          </c:val>
          <c:extLst>
            <c:ext xmlns:c16="http://schemas.microsoft.com/office/drawing/2014/chart" uri="{C3380CC4-5D6E-409C-BE32-E72D297353CC}">
              <c16:uniqueId val="{00000000-47C7-4CB7-99EF-4F46D0A8C28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A221D"/>
                </a:solidFill>
                <a:latin typeface="Malgun Gothic"/>
              </a:defRPr>
            </a:pPr>
            <a:endParaRPr lang="ko-KR"/>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585530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민트와 초코 두 팀이 페인트 총으로 맵을 칠하고 칠한 면적으로 승부하는 멀티플레이 슈터입니다. 언리얼 엔진 5.8과 C++로 만들었고 Steam으로 방을 만들어 리슨 서버로 경기를 엽니다.</a:t>
            </a:r>
          </a:p>
          <a:p>
            <a:r>
              <a:rPr lang="ko-KR" dirty="0"/>
              <a:t>저는 페인트 렌더링을 뺀 게임플레이와 네트워크 쪽을 맡았습니다. 오늘은 그중 아이템 GAS, 캐릭터와 이동</a:t>
            </a:r>
            <a:r>
              <a:rPr lang="ko-KR"/>
              <a:t>, </a:t>
            </a:r>
            <a:r>
              <a:rPr lang="ko-KR" altLang="en-US"/>
              <a:t>온라인과 세션</a:t>
            </a:r>
            <a:r>
              <a:rPr lang="en-US" altLang="ko-KR"/>
              <a:t>, </a:t>
            </a:r>
            <a:r>
              <a:rPr lang="ko-KR" altLang="en-US"/>
              <a:t>사운드 네 시스템을</a:t>
            </a:r>
            <a:r>
              <a:rPr lang="ko-KR"/>
              <a:t> </a:t>
            </a:r>
            <a:r>
              <a:rPr lang="ko-KR" dirty="0"/>
              <a:t>설명드리겠습니다.</a:t>
            </a:r>
          </a:p>
          <a:p>
            <a:r>
              <a:rPr lang="ko-KR" dirty="0"/>
              <a:t>각 시스템에서 무엇을 만들었는지보다 서버와 클라이언트 사이에서 어떤 판단을 내렸는지를 중심으로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규칙부터 말씀드리면 경기 시간은 90초이고 칠한 면적이 많은 팀이 이깁니다. 격차가 크게 벌어지면 KO로 일찍 끝나고 시간이 끝났을 때 동점이면 민트가 이깁니다.</a:t>
            </a:r>
          </a:p>
          <a:p>
            <a:r>
              <a:rPr lang="ko-KR" dirty="0"/>
              <a:t>숫자 네 개로 규모를 보여드리겠습니다. 아이템은 8종이고 이동 상태는 압축 이동 플래그 4개로 동기화합니다. 자동화 테스트 파일은 55개이고 헤드리스 에디터로 돌립니다.</a:t>
            </a:r>
          </a:p>
          <a:p>
            <a:r>
              <a:rPr lang="ko-KR" dirty="0"/>
              <a:t>기술 스택은 아래 줄과 같습니다. 아이템은 Gameplay Ability System으로, 입력은 Enhanced Input으로 만들었고 네트워크는 Steam 온라인 서브시스템과 SteamSockets를 씁니다.</a:t>
            </a:r>
          </a:p>
          <a:p>
            <a:r>
              <a:rPr lang="ko-KR" dirty="0"/>
              <a:t>경기는 WaitingForPlayers, Countdown, Playing, Ended 네 단계로 흐르고 Playing에서만 이동과 사격이 풀립니다.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네 시스템을 맡았고 카드마다 핵심 클래스를 적었습니다</a:t>
            </a:r>
            <a:r>
              <a:rPr lang="en-US" altLang="ko-KR"/>
              <a:t>.</a:t>
            </a:r>
          </a:p>
          <a:p>
            <a:r>
              <a:rPr lang="ko-KR" altLang="en-US"/>
              <a:t>아이템은 스폰 지점에서 픽업</a:t>
            </a:r>
            <a:r>
              <a:rPr lang="en-US" altLang="ko-KR"/>
              <a:t>, </a:t>
            </a:r>
            <a:r>
              <a:rPr lang="ko-KR" altLang="en-US"/>
              <a:t>슬롯</a:t>
            </a:r>
            <a:r>
              <a:rPr lang="en-US" altLang="ko-KR"/>
              <a:t>, </a:t>
            </a:r>
            <a:r>
              <a:rPr lang="ko-KR" altLang="en-US"/>
              <a:t>발동</a:t>
            </a:r>
            <a:r>
              <a:rPr lang="en-US" altLang="ko-KR"/>
              <a:t>, </a:t>
            </a:r>
            <a:r>
              <a:rPr lang="ko-KR" altLang="en-US"/>
              <a:t>끝 동작까지 한 아이템의 전체 생애입니다</a:t>
            </a:r>
            <a:r>
              <a:rPr lang="en-US" altLang="ko-KR"/>
              <a:t>. 8</a:t>
            </a:r>
            <a:r>
              <a:rPr lang="ko-KR" altLang="en-US"/>
              <a:t>종 아이템과 상대에게 거는 스턴</a:t>
            </a:r>
            <a:r>
              <a:rPr lang="en-US" altLang="ko-KR"/>
              <a:t>, </a:t>
            </a:r>
            <a:r>
              <a:rPr lang="ko-KR" altLang="en-US"/>
              <a:t>슈퍼아머</a:t>
            </a:r>
            <a:r>
              <a:rPr lang="en-US" altLang="ko-KR"/>
              <a:t>, </a:t>
            </a:r>
            <a:r>
              <a:rPr lang="ko-KR" altLang="en-US"/>
              <a:t>넉백도 여기에 들어갑니다</a:t>
            </a:r>
            <a:r>
              <a:rPr lang="en-US" altLang="ko-KR"/>
              <a:t>.</a:t>
            </a:r>
          </a:p>
          <a:p>
            <a:r>
              <a:rPr lang="ko-KR" altLang="en-US"/>
              <a:t>캐릭터는 플레이어와 </a:t>
            </a:r>
            <a:r>
              <a:rPr lang="en-US" altLang="ko-KR"/>
              <a:t>AI</a:t>
            </a:r>
            <a:r>
              <a:rPr lang="ko-KR" altLang="en-US"/>
              <a:t>가 함께 쓰는 </a:t>
            </a:r>
            <a:r>
              <a:rPr lang="en-US" altLang="ko-KR"/>
              <a:t>AUnit </a:t>
            </a:r>
            <a:r>
              <a:rPr lang="ko-KR" altLang="en-US"/>
              <a:t>하나와 이동 컴포넌트</a:t>
            </a:r>
            <a:r>
              <a:rPr lang="en-US" altLang="ko-KR"/>
              <a:t>, </a:t>
            </a:r>
            <a:r>
              <a:rPr lang="ko-KR" altLang="en-US"/>
              <a:t>애님 인스턴스입니다</a:t>
            </a:r>
            <a:r>
              <a:rPr lang="en-US" altLang="ko-KR"/>
              <a:t>. </a:t>
            </a:r>
            <a:r>
              <a:rPr lang="ko-KR" altLang="en-US"/>
              <a:t>이동 예측과 히어로 랜딩 상태 기계</a:t>
            </a:r>
            <a:r>
              <a:rPr lang="en-US" altLang="ko-KR"/>
              <a:t>, </a:t>
            </a:r>
            <a:r>
              <a:rPr lang="ko-KR" altLang="en-US"/>
              <a:t>몸 방향 규칙이 핵심입니다</a:t>
            </a:r>
            <a:r>
              <a:rPr lang="en-US" altLang="ko-KR"/>
              <a:t>.</a:t>
            </a:r>
          </a:p>
          <a:p>
            <a:r>
              <a:rPr lang="ko-KR" altLang="en-US"/>
              <a:t>온라인은 </a:t>
            </a:r>
            <a:r>
              <a:rPr lang="en-US" altLang="ko-KR"/>
              <a:t>Steam </a:t>
            </a:r>
            <a:r>
              <a:rPr lang="ko-KR" altLang="en-US"/>
              <a:t>세션의 생성부터 정리까지와 로비와 경기 사이의 </a:t>
            </a:r>
            <a:r>
              <a:rPr lang="en-US" altLang="ko-KR"/>
              <a:t>seamless travel, </a:t>
            </a:r>
            <a:r>
              <a:rPr lang="ko-KR" altLang="en-US"/>
              <a:t>그리고 맵을 옮길 때 화면을 가리는 가림막입니다</a:t>
            </a:r>
            <a:r>
              <a:rPr lang="en-US" altLang="ko-KR"/>
              <a:t>.</a:t>
            </a:r>
          </a:p>
          <a:p>
            <a:r>
              <a:rPr lang="ko-KR" altLang="en-US"/>
              <a:t>사운드는 태그와 뱅크</a:t>
            </a:r>
            <a:r>
              <a:rPr lang="en-US" altLang="ko-KR"/>
              <a:t>, </a:t>
            </a:r>
            <a:r>
              <a:rPr lang="ko-KR" altLang="en-US"/>
              <a:t>재생 서브시스템 세 층으로 나눴습니다</a:t>
            </a:r>
            <a:r>
              <a:rPr lang="en-US" altLang="ko-KR"/>
              <a:t>. </a:t>
            </a:r>
            <a:r>
              <a:rPr lang="ko-KR" altLang="en-US"/>
              <a:t>코드는 태그만 넘기고 소리는 </a:t>
            </a:r>
            <a:r>
              <a:rPr lang="en-US" altLang="ko-KR"/>
              <a:t>RPC </a:t>
            </a:r>
            <a:r>
              <a:rPr lang="ko-KR" altLang="en-US"/>
              <a:t>없이 각 머신이 이미 받은 이벤트에서 재생합니다</a:t>
            </a:r>
            <a:r>
              <a:rPr lang="en-US" altLang="ko-KR"/>
              <a:t>.</a:t>
            </a:r>
          </a:p>
          <a:p>
            <a:r>
              <a:rPr lang="ko-KR" altLang="en-US"/>
              <a:t>네 시스템은 서로 맞물려 있습니다</a:t>
            </a:r>
            <a:r>
              <a:rPr lang="en-US" altLang="ko-KR"/>
              <a:t>. </a:t>
            </a:r>
            <a:r>
              <a:rPr lang="ko-KR" altLang="en-US"/>
              <a:t>스피드스타 아이템의 속도는 이동 컴포넌트가 계산하고 경기 시작은 가림막이 열려야 진행됩니다</a:t>
            </a:r>
            <a:r>
              <a:rPr lang="en-US" altLang="ko-KR"/>
              <a:t>. </a:t>
            </a:r>
            <a:r>
              <a:rPr lang="ko-KR" altLang="en-US"/>
              <a:t>이런 연결부도 함께 맞춰야 했습니다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298791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원칙은 뒤에 나오는 모든 슬라이드에 반복해서 나옵니다.</a:t>
            </a:r>
          </a:p>
          <a:p>
            <a:r>
              <a:rPr lang="ko-KR" dirty="0"/>
              <a:t>판정은 서버만 하고 연출은 각자 합니다. 페인트탄은 모든 머신에 보이지만 실제로 칠하는 것은 서버의 탄뿐이고 그 결과가 복제됩니다. 소리와 아이템 연출은 RPC로 보내지 않습니다. 각 머신이 복제된 태그나 이벤트를 보고 직접 켭니다.</a:t>
            </a:r>
          </a:p>
          <a:p>
            <a:r>
              <a:rPr lang="ko-KR" dirty="0"/>
              <a:t>두 번째 원칙은 값 대신 의도를 보내는 것입니다. 이동 속도를 직접 바꾸면 서버 보정이 올 때마다 클라이언트가 뒤로 끌려가는 rubber banding이 생깁니다. 대시나 부스트 같은 의도만 압축 플래그로 보내고 속도는 서버와 클라이언트가 같은 함수로 계산합니다. 이동과 아이템 양쪽에서 rubber banding을 막는 핵심입니다.</a:t>
            </a:r>
          </a:p>
          <a:p>
            <a:r>
              <a:rPr lang="ko-KR" dirty="0"/>
              <a:t>세 번째는 확장을 데이터로 하는 것입니다. 캐릭터는 UnitDataAsset 하나로, 아이템은 Profile과 Ability 한 쌍으로 늘립니다. 코드에는 캐릭터나 아이템 이름을 묻는 분기를 두지 않습니다.</a:t>
            </a:r>
          </a:p>
          <a:p>
            <a:r>
              <a:rPr lang="ko-KR" dirty="0"/>
              <a:t>대가는 모든 머신이 같은 계산을 하도록 맞춰야 한다는 점입니다. 몸 방향 판정처럼 서버도 같은 답을 내야 하는 로직은 서버가 가진 데이터만 읽게 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프로젝트 구조를 수명 기준으로 네 층으로 나눴습니다</a:t>
            </a:r>
            <a:r>
              <a:rPr lang="en-US" altLang="ko-KR"/>
              <a:t>. </a:t>
            </a:r>
            <a:r>
              <a:rPr lang="ko-KR" altLang="en-US"/>
              <a:t>어느 층에 둘지는 그 객체가 얼마나 오래 살아야 하는지로 정했습니다</a:t>
            </a:r>
            <a:r>
              <a:rPr lang="en-US" altLang="ko-KR"/>
              <a:t>.</a:t>
            </a:r>
          </a:p>
          <a:p>
            <a:r>
              <a:rPr lang="ko-KR" altLang="en-US"/>
              <a:t>맨 위 </a:t>
            </a:r>
            <a:r>
              <a:rPr lang="en-US" altLang="ko-KR"/>
              <a:t>GameInstance </a:t>
            </a:r>
            <a:r>
              <a:rPr lang="ko-KR" altLang="en-US"/>
              <a:t>서브시스템 다섯 개는 맵이 바뀌어도 살아 있습니다</a:t>
            </a:r>
            <a:r>
              <a:rPr lang="en-US" altLang="ko-KR"/>
              <a:t>. </a:t>
            </a:r>
            <a:r>
              <a:rPr lang="ko-KR" altLang="en-US"/>
              <a:t>세션과 가림막</a:t>
            </a:r>
            <a:r>
              <a:rPr lang="en-US" altLang="ko-KR"/>
              <a:t>, </a:t>
            </a:r>
            <a:r>
              <a:rPr lang="ko-KR" altLang="en-US"/>
              <a:t>음악</a:t>
            </a:r>
            <a:r>
              <a:rPr lang="en-US" altLang="ko-KR"/>
              <a:t>, </a:t>
            </a:r>
            <a:r>
              <a:rPr lang="ko-KR" altLang="en-US"/>
              <a:t>예열</a:t>
            </a:r>
            <a:r>
              <a:rPr lang="en-US" altLang="ko-KR"/>
              <a:t>, </a:t>
            </a:r>
            <a:r>
              <a:rPr lang="ko-KR" altLang="en-US"/>
              <a:t>에셋 보존처럼 맵 이동을 넘어 이어져야 하는 일만 여기에 뒀습니다</a:t>
            </a:r>
            <a:r>
              <a:rPr lang="en-US" altLang="ko-KR"/>
              <a:t>.</a:t>
            </a:r>
          </a:p>
          <a:p>
            <a:r>
              <a:rPr lang="en-US" altLang="ko-KR"/>
              <a:t>World </a:t>
            </a:r>
            <a:r>
              <a:rPr lang="ko-KR" altLang="en-US"/>
              <a:t>층은 맵마다 새로 생깁니다</a:t>
            </a:r>
            <a:r>
              <a:rPr lang="en-US" altLang="ko-KR"/>
              <a:t>. </a:t>
            </a:r>
            <a:r>
              <a:rPr lang="ko-KR" altLang="en-US"/>
              <a:t>게임모드와 게임스테이트</a:t>
            </a:r>
            <a:r>
              <a:rPr lang="en-US" altLang="ko-KR"/>
              <a:t>, </a:t>
            </a:r>
            <a:r>
              <a:rPr lang="ko-KR" altLang="en-US"/>
              <a:t>플레이어스테이트가 경기 규칙을 맡고 페인트와 투사체 풀</a:t>
            </a:r>
            <a:r>
              <a:rPr lang="en-US" altLang="ko-KR"/>
              <a:t>, </a:t>
            </a:r>
            <a:r>
              <a:rPr lang="ko-KR" altLang="en-US"/>
              <a:t>결과 연출 같은 월드 서브시스템은 경기 하나 동안만 삽니다</a:t>
            </a:r>
            <a:r>
              <a:rPr lang="en-US" altLang="ko-KR"/>
              <a:t>. </a:t>
            </a:r>
            <a:r>
              <a:rPr lang="ko-KR" altLang="en-US"/>
              <a:t>맵을 넘어 옮겨야 하는 값은 </a:t>
            </a:r>
            <a:r>
              <a:rPr lang="en-US" altLang="ko-KR"/>
              <a:t>Team</a:t>
            </a:r>
            <a:r>
              <a:rPr lang="ko-KR" altLang="en-US"/>
              <a:t>과 </a:t>
            </a:r>
            <a:r>
              <a:rPr lang="en-US" altLang="ko-KR"/>
              <a:t>Nickname </a:t>
            </a:r>
            <a:r>
              <a:rPr lang="ko-KR" altLang="en-US"/>
              <a:t>두 개뿐이고 </a:t>
            </a:r>
            <a:r>
              <a:rPr lang="en-US" altLang="ko-KR"/>
              <a:t>seamless travel</a:t>
            </a:r>
            <a:r>
              <a:rPr lang="ko-KR" altLang="en-US"/>
              <a:t>의 </a:t>
            </a:r>
            <a:r>
              <a:rPr lang="en-US" altLang="ko-KR"/>
              <a:t>PlayerState </a:t>
            </a:r>
            <a:r>
              <a:rPr lang="ko-KR" altLang="en-US"/>
              <a:t>복사로 넘깁니다</a:t>
            </a:r>
            <a:r>
              <a:rPr lang="en-US" altLang="ko-KR"/>
              <a:t>.</a:t>
            </a:r>
          </a:p>
          <a:p>
            <a:r>
              <a:rPr lang="ko-KR" altLang="en-US"/>
              <a:t>그 아래가 액터와 컴포넌트입니다</a:t>
            </a:r>
            <a:r>
              <a:rPr lang="en-US" altLang="ko-KR"/>
              <a:t>. AUnit</a:t>
            </a:r>
            <a:r>
              <a:rPr lang="ko-KR" altLang="en-US"/>
              <a:t>은 이동</a:t>
            </a:r>
            <a:r>
              <a:rPr lang="en-US" altLang="ko-KR"/>
              <a:t>, </a:t>
            </a:r>
            <a:r>
              <a:rPr lang="ko-KR" altLang="en-US"/>
              <a:t>무기 두 개</a:t>
            </a:r>
            <a:r>
              <a:rPr lang="en-US" altLang="ko-KR"/>
              <a:t>, </a:t>
            </a:r>
            <a:r>
              <a:rPr lang="ko-KR" altLang="en-US"/>
              <a:t>잉크</a:t>
            </a:r>
            <a:r>
              <a:rPr lang="en-US" altLang="ko-KR"/>
              <a:t>, ASC, </a:t>
            </a:r>
            <a:r>
              <a:rPr lang="ko-KR" altLang="en-US"/>
              <a:t>아이템 슬롯을 조합한 캐릭터 하나입니다</a:t>
            </a:r>
            <a:r>
              <a:rPr lang="en-US" altLang="ko-KR"/>
              <a:t>.</a:t>
            </a:r>
          </a:p>
          <a:p>
            <a:r>
              <a:rPr lang="ko-KR" altLang="en-US"/>
              <a:t>맨 아래 데이터 층의 에셋과 설정이 위 층들에 값을 공급합니다</a:t>
            </a:r>
            <a:r>
              <a:rPr lang="en-US" altLang="ko-KR"/>
              <a:t>. </a:t>
            </a:r>
            <a:r>
              <a:rPr lang="ko-KR" altLang="en-US"/>
              <a:t>이 층만 바꾸면 코드를 고치지 않고도 게임이 바뀝니다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69727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무엇을 누가 정하는지 네 칸으로 정리했습니다</a:t>
            </a:r>
            <a:r>
              <a:rPr lang="en-US" altLang="ko-KR"/>
              <a:t>.</a:t>
            </a:r>
          </a:p>
          <a:p>
            <a:r>
              <a:rPr lang="ko-KR" altLang="en-US"/>
              <a:t>서버만 정하는 것은 결과가 하나여야 하는 것들입니다</a:t>
            </a:r>
            <a:r>
              <a:rPr lang="en-US" altLang="ko-KR"/>
              <a:t>. </a:t>
            </a:r>
            <a:r>
              <a:rPr lang="ko-KR" altLang="en-US"/>
              <a:t>칠하기와 픽업</a:t>
            </a:r>
            <a:r>
              <a:rPr lang="en-US" altLang="ko-KR"/>
              <a:t>, </a:t>
            </a:r>
            <a:r>
              <a:rPr lang="ko-KR" altLang="en-US"/>
              <a:t>스턴과 넉백</a:t>
            </a:r>
            <a:r>
              <a:rPr lang="en-US" altLang="ko-KR"/>
              <a:t>, </a:t>
            </a:r>
            <a:r>
              <a:rPr lang="ko-KR" altLang="en-US"/>
              <a:t>경기 단계와 승패</a:t>
            </a:r>
            <a:r>
              <a:rPr lang="en-US" altLang="ko-KR"/>
              <a:t>, </a:t>
            </a:r>
            <a:r>
              <a:rPr lang="ko-KR" altLang="en-US"/>
              <a:t>아이템 스폰이 여기에 들어갑니다</a:t>
            </a:r>
            <a:r>
              <a:rPr lang="en-US" altLang="ko-KR"/>
              <a:t>.</a:t>
            </a:r>
          </a:p>
          <a:p>
            <a:r>
              <a:rPr lang="ko-KR" altLang="en-US"/>
              <a:t>소유자가 먼저 하는 것은 반응 속도가 중요한 입력입니다</a:t>
            </a:r>
            <a:r>
              <a:rPr lang="en-US" altLang="ko-KR"/>
              <a:t>. </a:t>
            </a:r>
            <a:r>
              <a:rPr lang="ko-KR" altLang="en-US"/>
              <a:t>이동과 아이템 발동</a:t>
            </a:r>
            <a:r>
              <a:rPr lang="en-US" altLang="ko-KR"/>
              <a:t>, </a:t>
            </a:r>
            <a:r>
              <a:rPr lang="ko-KR" altLang="en-US"/>
              <a:t>잉크 소비</a:t>
            </a:r>
            <a:r>
              <a:rPr lang="en-US" altLang="ko-KR"/>
              <a:t>, </a:t>
            </a:r>
            <a:r>
              <a:rPr lang="ko-KR" altLang="en-US"/>
              <a:t>사격 입력은 소유자가 예측하고 서버가 확정합니다</a:t>
            </a:r>
            <a:r>
              <a:rPr lang="en-US" altLang="ko-KR"/>
              <a:t>.</a:t>
            </a:r>
          </a:p>
          <a:p>
            <a:r>
              <a:rPr lang="ko-KR" altLang="en-US"/>
              <a:t>각 머신이 로컬로 하는 것은 보이고 들리는 것들입니다</a:t>
            </a:r>
            <a:r>
              <a:rPr lang="en-US" altLang="ko-KR"/>
              <a:t>. </a:t>
            </a:r>
            <a:r>
              <a:rPr lang="ko-KR" altLang="en-US"/>
              <a:t>소리와 몽타주</a:t>
            </a:r>
            <a:r>
              <a:rPr lang="en-US" altLang="ko-KR"/>
              <a:t>, FX, </a:t>
            </a:r>
            <a:r>
              <a:rPr lang="ko-KR" altLang="en-US"/>
              <a:t>연출용 탄</a:t>
            </a:r>
            <a:r>
              <a:rPr lang="en-US" altLang="ko-KR"/>
              <a:t>, </a:t>
            </a:r>
            <a:r>
              <a:rPr lang="ko-KR" altLang="en-US"/>
              <a:t>결과 연출은 네트워크로 보내지 않습니다</a:t>
            </a:r>
            <a:r>
              <a:rPr lang="en-US" altLang="ko-KR"/>
              <a:t>.</a:t>
            </a:r>
          </a:p>
          <a:p>
            <a:r>
              <a:rPr lang="ko-KR" altLang="en-US"/>
              <a:t>복제로 보내는 값은 이 셋을 잇는 최소한의 상태입니다</a:t>
            </a:r>
            <a:r>
              <a:rPr lang="en-US" altLang="ko-KR"/>
              <a:t>. </a:t>
            </a:r>
            <a:r>
              <a:rPr lang="ko-KR" altLang="en-US"/>
              <a:t>타이머도 끝나는 시각만 보내고 남은 시간은 각 머신이 직접 계산합니다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24105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아이템 하나가 소유자와 서버</a:t>
            </a:r>
            <a:r>
              <a:rPr lang="en-US" altLang="ko-KR"/>
              <a:t>, </a:t>
            </a:r>
            <a:r>
              <a:rPr lang="ko-KR" altLang="en-US"/>
              <a:t>다른 클라이언트에서 어떻게 처리되는지 그렸습니다</a:t>
            </a:r>
            <a:r>
              <a:rPr lang="en-US" altLang="ko-KR"/>
              <a:t>.</a:t>
            </a:r>
          </a:p>
          <a:p>
            <a:r>
              <a:rPr lang="ko-KR" altLang="en-US"/>
              <a:t>픽업 판정은 서버만 합니다</a:t>
            </a:r>
            <a:r>
              <a:rPr lang="en-US" altLang="ko-KR"/>
              <a:t>. </a:t>
            </a:r>
            <a:r>
              <a:rPr lang="ko-KR" altLang="en-US"/>
              <a:t>두 사람이 동시에 밟아도 한 명만 가져가고 서버가 그 자리에서 어빌리티 스펙을 줍니다</a:t>
            </a:r>
            <a:r>
              <a:rPr lang="en-US" altLang="ko-KR"/>
              <a:t>. </a:t>
            </a:r>
            <a:r>
              <a:rPr lang="ko-KR" altLang="en-US"/>
              <a:t>들고 있는 아이템은 모두에게 복제되어 </a:t>
            </a:r>
            <a:r>
              <a:rPr lang="en-US" altLang="ko-KR"/>
              <a:t>HUD</a:t>
            </a:r>
            <a:r>
              <a:rPr lang="ko-KR" altLang="en-US"/>
              <a:t>에 나타납니다</a:t>
            </a:r>
            <a:r>
              <a:rPr lang="en-US" altLang="ko-KR"/>
              <a:t>. </a:t>
            </a:r>
            <a:r>
              <a:rPr lang="ko-KR" altLang="en-US"/>
              <a:t>아이템은 </a:t>
            </a:r>
            <a:r>
              <a:rPr lang="en-US" altLang="ko-KR"/>
              <a:t>Shared </a:t>
            </a:r>
            <a:r>
              <a:rPr lang="ko-KR" altLang="en-US"/>
              <a:t>지점이면 게임모드가 </a:t>
            </a:r>
            <a:r>
              <a:rPr lang="en-US" altLang="ko-KR"/>
              <a:t>15</a:t>
            </a:r>
            <a:r>
              <a:rPr lang="ko-KR" altLang="en-US"/>
              <a:t>초마다 놓고 </a:t>
            </a:r>
            <a:r>
              <a:rPr lang="en-US" altLang="ko-KR"/>
              <a:t>Standalone </a:t>
            </a:r>
            <a:r>
              <a:rPr lang="ko-KR" altLang="en-US"/>
              <a:t>지점이면 자기 아이템이 사라진 뒤 </a:t>
            </a:r>
            <a:r>
              <a:rPr lang="en-US" altLang="ko-KR"/>
              <a:t>3</a:t>
            </a:r>
            <a:r>
              <a:rPr lang="ko-KR" altLang="en-US"/>
              <a:t>초 만에 스스로 다시 놓습니다</a:t>
            </a:r>
            <a:r>
              <a:rPr lang="en-US" altLang="ko-KR"/>
              <a:t>.</a:t>
            </a:r>
          </a:p>
          <a:p>
            <a:r>
              <a:rPr lang="ko-KR" altLang="en-US"/>
              <a:t>아이템 키를 누르면 소유자가 예측으로 먼저 발동하고 서버가 확정합니다</a:t>
            </a:r>
            <a:r>
              <a:rPr lang="en-US" altLang="ko-KR"/>
              <a:t>. </a:t>
            </a:r>
            <a:r>
              <a:rPr lang="ko-KR" altLang="en-US"/>
              <a:t>점선은 조준형 아이템에만 있는 단계입니다</a:t>
            </a:r>
            <a:r>
              <a:rPr lang="en-US" altLang="ko-KR"/>
              <a:t>. </a:t>
            </a:r>
            <a:r>
              <a:rPr lang="ko-KR" altLang="en-US"/>
              <a:t>미리보기를 보고 확정하면 그 입력을 </a:t>
            </a:r>
            <a:r>
              <a:rPr lang="en-US" altLang="ko-KR"/>
              <a:t>Reliable RPC</a:t>
            </a:r>
            <a:r>
              <a:rPr lang="ko-KR" altLang="en-US"/>
              <a:t>로 서버에 보냅니다</a:t>
            </a:r>
            <a:r>
              <a:rPr lang="en-US" altLang="ko-KR"/>
              <a:t>.</a:t>
            </a:r>
          </a:p>
          <a:p>
            <a:r>
              <a:rPr lang="ko-KR" altLang="en-US"/>
              <a:t>아이템이 실제로 슬롯에서 빠지는 곳은 </a:t>
            </a:r>
            <a:r>
              <a:rPr lang="en-US" altLang="ko-KR"/>
              <a:t>StartItem</a:t>
            </a:r>
            <a:r>
              <a:rPr lang="ko-KR" altLang="en-US"/>
              <a:t>입니다</a:t>
            </a:r>
            <a:r>
              <a:rPr lang="en-US" altLang="ko-KR"/>
              <a:t>. </a:t>
            </a:r>
            <a:r>
              <a:rPr lang="ko-KR" altLang="en-US"/>
              <a:t>조준 중에 취소하면 여기에 닿지 않으므로 아이템이 남고 되돌려 줄 코드도 없습니다</a:t>
            </a:r>
            <a:r>
              <a:rPr lang="en-US" altLang="ko-KR"/>
              <a:t>. </a:t>
            </a:r>
            <a:r>
              <a:rPr lang="ko-KR" altLang="en-US"/>
              <a:t>서버가 실제 </a:t>
            </a:r>
            <a:r>
              <a:rPr lang="en-US" altLang="ko-KR"/>
              <a:t>GE</a:t>
            </a:r>
            <a:r>
              <a:rPr lang="ko-KR" altLang="en-US"/>
              <a:t>를 걸면 상태 태그가 다른 클라이언트에 복제되고 각 머신이 오라와 소리를 켭니다</a:t>
            </a:r>
            <a:r>
              <a:rPr lang="en-US" altLang="ko-KR"/>
              <a:t>.</a:t>
            </a:r>
          </a:p>
          <a:p>
            <a:r>
              <a:rPr lang="ko-KR" altLang="en-US"/>
              <a:t>종료 대기는 둘로 나눴습니다</a:t>
            </a:r>
            <a:r>
              <a:rPr lang="en-US" altLang="ko-KR"/>
              <a:t>. </a:t>
            </a:r>
            <a:r>
              <a:rPr lang="ko-KR" altLang="en-US"/>
              <a:t>서버는 </a:t>
            </a:r>
            <a:r>
              <a:rPr lang="en-US" altLang="ko-KR"/>
              <a:t>GE </a:t>
            </a:r>
            <a:r>
              <a:rPr lang="ko-KR" altLang="en-US"/>
              <a:t>제거를 기다리고 소유자는 </a:t>
            </a:r>
            <a:r>
              <a:rPr lang="en-US" altLang="ko-KR"/>
              <a:t>WaitDelay</a:t>
            </a:r>
            <a:r>
              <a:rPr lang="ko-KR" altLang="en-US"/>
              <a:t>로 같은 시간을 기다립니다</a:t>
            </a:r>
            <a:r>
              <a:rPr lang="en-US" altLang="ko-KR"/>
              <a:t>. </a:t>
            </a:r>
            <a:r>
              <a:rPr lang="ko-KR" altLang="en-US"/>
              <a:t>예측 핸들은 서버가 확정하면 사라지기 때문입니다</a:t>
            </a:r>
            <a:r>
              <a:rPr lang="en-US" altLang="ko-KR"/>
              <a:t>. GE</a:t>
            </a:r>
            <a:r>
              <a:rPr lang="ko-KR" altLang="en-US"/>
              <a:t>가 끝나면 끝 동작 구간을 거쳐 어빌리티가 끝납니다</a:t>
            </a:r>
            <a:r>
              <a:rPr lang="en-US" altLang="ko-KR"/>
              <a:t>.</a:t>
            </a:r>
          </a:p>
          <a:p>
            <a:r>
              <a:rPr lang="ko-KR" altLang="en-US"/>
              <a:t>아이템 하나는 데이터 에셋인 </a:t>
            </a:r>
            <a:r>
              <a:rPr lang="en-US" altLang="ko-KR"/>
              <a:t>Profile</a:t>
            </a:r>
            <a:r>
              <a:rPr lang="ko-KR" altLang="en-US"/>
              <a:t>과 </a:t>
            </a:r>
            <a:r>
              <a:rPr lang="en-US" altLang="ko-KR"/>
              <a:t>GA</a:t>
            </a:r>
            <a:r>
              <a:rPr lang="ko-KR" altLang="en-US"/>
              <a:t>인 </a:t>
            </a:r>
            <a:r>
              <a:rPr lang="en-US" altLang="ko-KR"/>
              <a:t>Ability, </a:t>
            </a:r>
            <a:r>
              <a:rPr lang="ko-KR" altLang="en-US"/>
              <a:t>지속형이면 전용 </a:t>
            </a:r>
            <a:r>
              <a:rPr lang="en-US" altLang="ko-KR"/>
              <a:t>GE</a:t>
            </a:r>
            <a:r>
              <a:rPr lang="ko-KR" altLang="en-US"/>
              <a:t>로 이뤄집니다</a:t>
            </a:r>
            <a:r>
              <a:rPr lang="en-US" altLang="ko-KR"/>
              <a:t>. </a:t>
            </a:r>
            <a:r>
              <a:rPr lang="ko-KR" altLang="en-US"/>
              <a:t>비용과 쿨다운 </a:t>
            </a:r>
            <a:r>
              <a:rPr lang="en-US" altLang="ko-KR"/>
              <a:t>GE</a:t>
            </a:r>
            <a:r>
              <a:rPr lang="ko-KR" altLang="en-US"/>
              <a:t>는 두지 않았습니다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86937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다섯 가지 판단을 상황과 처리, 효과로 정리했습니다.</a:t>
            </a:r>
          </a:p>
          <a:p>
            <a:r>
              <a:rPr lang="ko-KR" dirty="0"/>
              <a:t>종료 시점부터 자세히 말씀드리겠습니다. 클라이언트가 예측으로 건 GE 핸들은 서버가 확정하면 사라집니다. 클라이언트가 그 핸들의 제거를 기다리면 효과가 RTT 한 번 만에 끝나 버립니다. 그래서 서버는 GE 제거를 기다리고 클라이언트는 같은 시간만큼 WaitDelay로 기다리게 나눴습니다.</a:t>
            </a:r>
          </a:p>
          <a:p>
            <a:r>
              <a:rPr lang="ko-KR" dirty="0"/>
              <a:t>조준 취소는 소모 시점을 효과 시작으로 미뤄 해결했습니다. 취소해도 아이템이 남고 환불 코드가 없으니 환불 누락 같은 버그가 생길 자리도 없습니다.</a:t>
            </a:r>
          </a:p>
          <a:p>
            <a:r>
              <a:rPr lang="ko-KR" dirty="0"/>
              <a:t>효과 중에 같은 아이템을 다시 쓰면 새 스펙을 만들지 않고 기존 스펙을 재사용합니다. GE는 스택 1에 Refresh라 타이머만 다시 시작됩니다. 서로 다른 아이템의 스택이 섞이지 않도록 GE 클래스는 아이템마다 따로 뒀습니다.</a:t>
            </a:r>
          </a:p>
          <a:p>
            <a:r>
              <a:rPr lang="ko-KR" dirty="0"/>
              <a:t>스피드스타의 1.5배 속도는 GAS 속성으로 바꾸지 않습니다. 이동 컴포넌트의 압축 플래그로 보내고 서버는 SpeedStar 태그가 있을 때만 그 플래그를 받아들입니다. 클라이언트가 플래그를 임의로 켜도 서버에서 걸러집니다.</a:t>
            </a:r>
          </a:p>
          <a:p>
            <a:r>
              <a:rPr lang="ko-KR" dirty="0"/>
              <a:t>스턴은 TryApplyStun 한 곳으로만 겁니다. 이미 스턴 중이거나 슈퍼아머가 있으면 거부하고 스턴이 끝나면 슈퍼아머를 겁니다. 기본값은 스턴 2초에 슈퍼아머 4초라서 여러 명에게 연달아 맞아도 계속 갇혀 있지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8종을 지속형과 즉발형으로 나눴습니다. 민트색 카드가 지속형이고 초코색이 즉발형입니다.</a:t>
            </a:r>
          </a:p>
          <a:p>
            <a:r>
              <a:rPr lang="ko-KR" dirty="0"/>
              <a:t>지속형은 GE의 DynamicGrantedTags에 상태 태그를 싣습니다. 무기는 이 태그를 보고 사격을 막거나 잉크 비용을 0으로 만들고 이동 컴포넌트는 이동을 잠급니다. ASC가 Mixed 복제라 태그는 모든 클라이언트에 전달되고 각 머신의 아이템 슬롯이 태그 변화를 보고 오라와 소리를 켭니다.</a:t>
            </a:r>
          </a:p>
          <a:p>
            <a:r>
              <a:rPr lang="ko-KR" dirty="0"/>
              <a:t>즉발형은 어빌리티가 서버와 소유자에만 있어서 효과를 복제되는 액터에 맡겼습니다. 꿀풍선과 꿀벌은 투사체이고 디저트 폭격은 PaintRain 액터, 초콜릿 분수는 돔 액터입니다. 디저트 폭격은 서버가 계획만 복제하고 각 머신이 같은 타이머로 재생하며 칠하는 것은 서버의 탄뿐입니다.</a:t>
            </a:r>
          </a:p>
          <a:p>
            <a:r>
              <a:rPr lang="ko-KR" dirty="0"/>
              <a:t>조준형인 꿀풍선과 디저트 폭격은 궤적과 낙하 범위를 소유자 화면에만 미리 보여 줍니다. 꿀풍선의 궤적은 실제 투사체와 같은 출발점과 속도, 중력으로 계산해서 표시된 자리에 그대로 떨어집니다.</a:t>
            </a:r>
          </a:p>
          <a:p>
            <a:r>
              <a:rPr lang="ko-KR" dirty="0"/>
              <a:t>초콜릿 분수는 지금 드롭 목록에서 빠져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가장 지키려고 한 규칙은 AUnit 안에 캐릭터 분기를 두지 않는 것입니다. 분기가 하나라도 생기면 그 값이 데이터로 가야 한다는 신호로 봤습니다.</a:t>
            </a:r>
          </a:p>
          <a:p>
            <a:r>
              <a:rPr lang="ko-KR" dirty="0"/>
              <a:t>이 구조로 얻은 이점은 네 가지입니다.</a:t>
            </a:r>
          </a:p>
          <a:p>
            <a:r>
              <a:rPr lang="ko-KR" dirty="0"/>
              <a:t>캐릭터를 추가할 때 코드가 필요 없습니다. 에셋 하나를 만들어 게임모드의 TeamUnitData에 넣으면 끝나서 Live Coding이 꺼진 이 프로젝트에서 빌드와 재시작을 아낍니다. 아트 담당자가 프로그래머 없이 메시와 애님, 몽타주, FX, 사운드를 바꿀 수 있습니다.</a:t>
            </a:r>
          </a:p>
          <a:p>
            <a:r>
              <a:rPr lang="ko-KR" dirty="0"/>
              <a:t>게임플레이도 캐릭터마다 갈라지지 않습니다. 이동과 대시, 총, 잉크, 아이템이 모두 같은 코드라 한쪽에서 고친 버그는 양쪽에서 함께 고쳐집니다. 팀 대전의 공정성이 구조로 보장되는 셈입니다.</a:t>
            </a:r>
          </a:p>
          <a:p>
            <a:r>
              <a:rPr lang="ko-KR" dirty="0"/>
              <a:t>네트워크는 더 단순해집니다. 폰 클래스가 하나이고 복제되는 것은 에셋 참조 하나뿐입니다. 서버는 SetUnitData에서, 클라이언트는 OnRep_UnitData에서 같은 ApplyUnitData를 불러 모든 머신의 모습을 맞춥니다. 예측과 보정 로직도 한 클래스에만 있습니다.</a:t>
            </a:r>
          </a:p>
          <a:p>
            <a:r>
              <a:rPr lang="ko-KR" dirty="0"/>
              <a:t>테스트와 유지보수도 쉬워집니다. 테스트는 클래스 하나만 다루면 되고 동작이 이상하면 AUnit을, 모습이 이상하면 에셋을 보면 됩니다.</a:t>
            </a:r>
          </a:p>
          <a:p>
            <a:r>
              <a:rPr lang="ko-KR" dirty="0"/>
              <a:t>대가도 있습니다. 캐릭터마다 다른 고유 능력이 생기면 그 능력을 데이터에 어빌리티로 넣을지 서브클래스를 둘지 다시 정해야 합니다. 소켓 이름 오타 같은 데이터 실수는 컴파일 오류 없이 실행해 봐야 드러나므로 에셋 검증 테스트로 보완했습니다.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MaxWalkSpeed를 직접 바꾸면 서버와 보정 재생이 서로 다른 값을 써서 클라이언트가 계속 끌려갑니다. 그래서 의도만 플래그로 보내고 속도 계산은 양쪽이 같은 함수로 합니다.</a:t>
            </a:r>
          </a:p>
          <a:p>
            <a:r>
              <a:rPr lang="ko-KR" dirty="0"/>
              <a:t>플래그는 대시, 속도 부스트, 히어로 랜딩, 다이브 시작 네 개입니다. 서버는 부스트와 히어로 랜딩 플래그를 태그나 아이템 보유로 검증해서 클라이언트가 임의로 켤 수 없게 했습니다.</a:t>
            </a:r>
          </a:p>
          <a:p>
            <a:r>
              <a:rPr lang="ko-KR" dirty="0"/>
              <a:t>속도는 GetMaxSpeed 한 함수에서 기본 속도에 부스트 1.5배와 대시 1.7배를 곱해 계산합니다. 입력이 잠겨 있으면 0을 돌려주고 가속도 이동 컴포넌트에서 0으로 막습니다. 서버는 클라이언트가 보낸 가속을 그대로 쓰기 때문에 입력 핸들러에서만 막으면 서버에서는 움직여 버립니다.</a:t>
            </a:r>
          </a:p>
          <a:p>
            <a:r>
              <a:rPr lang="ko-KR" dirty="0"/>
              <a:t>보정 재생도 챙겼습니다. 저장된 무브에 히어로 상태 전체를 담고 PrepMoveFor는 델리게이트 없이 필드만 복원합니다. 서버 보정으로 재생이 일어나도 대시 이펙트나 소리가 다시 나가지 않습니다. 플래그가 다른 무브는 서로 합치지 않게 했습니다.</a:t>
            </a:r>
          </a:p>
          <a:p>
            <a:r>
              <a:rPr lang="ko-KR" dirty="0"/>
              <a:t>대가는 이동 상태가 늘 때마다 플래그가 필요하다는 점입니다. 기본 압축 플래그의 커스텀 칸 네 개를 모두 쓰고 있어서 더 늘리려면 무브 데이터를 확장해야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아이템을 쓰면 위로 떠올라 착지점을 조준하고 그 지점으로 내리꽂는 동작입니다. 목표가 더 높으면 Approach 단계에서 먼저 올라간 뒤 수평으로 이동하고 수직으로 떨어집니다.</a:t>
            </a:r>
          </a:p>
          <a:p>
            <a:r>
              <a:rPr lang="ko-KR" dirty="0"/>
              <a:t>이 동작은 이동 컴포넌트 안의 커스텀 무브 모드로 만들었습니다. 상승과 조준, 다이브가 모두 예측 이동 안에서 돌기 때문에 서버 보정이 와도 같은 결과로 재생됩니다. 다이브 시작도 RPC 없이 이동 플래그로 보냅니다.</a:t>
            </a:r>
          </a:p>
          <a:p>
            <a:r>
              <a:rPr lang="ko-KR" dirty="0"/>
              <a:t>플래그가 0에서 1로 바뀌는 순간에만 시작하게 했습니다. 중단은 Rise와 Hover에서만 가능하고 다이브에 들어가면 끝까지 갑니다.</a:t>
            </a:r>
          </a:p>
          <a:p>
            <a:r>
              <a:rPr lang="ko-KR" dirty="0"/>
              <a:t>착지하면 서버가 충전량에 비례한 크기로 페인트를 터뜨리고 반경 안의 상대를 스턴시키며 밀어냅니다. 착지 표시는 소유자 화면에만 있습니다.</a:t>
            </a:r>
          </a:p>
          <a:p>
            <a:r>
              <a:rPr lang="ko-KR" dirty="0"/>
              <a:t>프록시는 상태 기계를 돌리지 않고 복제된 단계만 받습니다. 다이브 중 무중력 판정에 단계가 필요해서입니다. 다이브 기울기는 캡슐 대신 메시를 돌려 표현하고 메시 회전을 쓰는 곳은 한 곳으로 모아 네트워크 스무딩이 회전을 덮어쓰지 않게 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규칙 모두 서버와 소유자가 같은 답을 내게 하려는 것입니다.</a:t>
            </a:r>
          </a:p>
          <a:p>
            <a:r>
              <a:rPr lang="ko-KR" dirty="0"/>
              <a:t>몸 방향부터 말씀드리겠습니다. 컨트롤러 요를 켜면 매 프레임 몸이 카메라 쪽으로 돌아서 가만히 서서 둘러보는 동작이 불가능해집니다. 그래서 꺼 두고 이동 컴포넌트가 방향을 정합니다. 움직이거나 쏘거나 조준할 때와 마지막 사격 후 0.5초 동안만 초당 720도로 조준 방향을 봅니다. 대시 중에는 보드 회전이 방향을 정합니다.</a:t>
            </a:r>
          </a:p>
          <a:p>
            <a:r>
              <a:rPr lang="ko-KR" dirty="0"/>
              <a:t>이 판정은 서버가 가진 데이터만 읽습니다. 마지막 사격 시각도 데디케이티드 서버에서 기록해서 서버와 소유자가 같은 몸 방향을 계산합니다.</a:t>
            </a:r>
          </a:p>
          <a:p>
            <a:r>
              <a:rPr lang="ko-KR" dirty="0"/>
              <a:t>탄은 카메라 시선 위에서 폰과 같은 깊이의 점에서 나갑니다. 서버는 소유자의 시점을 받아 같은 점을 계산합니다. 총의 Muzzle 소켓은 총구 화염과 트레이서처럼 보이는 것에만 씁니다. 소켓은 애니메이션 포즈에 따라 흔들리고 서버와 소유자의 포즈가 달라서 판정에 쓰면 탄 위치가 어긋납니다.</a:t>
            </a:r>
          </a:p>
          <a:p>
            <a:r>
              <a:rPr lang="ko-KR" dirty="0"/>
              <a:t>화면에서는 탄이 총구에서 나와 비행 경로로 합쳐지게 그려서 플레이어는 두 위치의 차이를 느끼지 못합니다.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탄 한 발이 세 머신에서 어떻게 처리되는지 그렸습니다</a:t>
            </a:r>
            <a:r>
              <a:rPr lang="en-US" altLang="ko-KR"/>
              <a:t>.</a:t>
            </a:r>
          </a:p>
          <a:p>
            <a:r>
              <a:rPr lang="ko-KR" altLang="en-US"/>
              <a:t>소유자가 쏘면 시선 위 폰 깊이에서 발사 원점을 계산하고 </a:t>
            </a:r>
            <a:r>
              <a:rPr lang="en-US" altLang="ko-KR"/>
              <a:t>ServerFire</a:t>
            </a:r>
            <a:r>
              <a:rPr lang="ko-KR" altLang="en-US"/>
              <a:t>로 자기 시점을 보냅니다</a:t>
            </a:r>
            <a:r>
              <a:rPr lang="en-US" altLang="ko-KR"/>
              <a:t>. </a:t>
            </a:r>
            <a:r>
              <a:rPr lang="ko-KR" altLang="en-US"/>
              <a:t>소유자 화면에는 바로 연출용 탄이 나가서 반응이 늦지 않습니다</a:t>
            </a:r>
            <a:r>
              <a:rPr lang="en-US" altLang="ko-KR"/>
              <a:t>.</a:t>
            </a:r>
          </a:p>
          <a:p>
            <a:r>
              <a:rPr lang="ko-KR" altLang="en-US"/>
              <a:t>서버는 경기 단계와 잠금 태그를 검증한 뒤 풀에서 꺼낸 탄을 날립니다</a:t>
            </a:r>
            <a:r>
              <a:rPr lang="en-US" altLang="ko-KR"/>
              <a:t>. </a:t>
            </a:r>
            <a:r>
              <a:rPr lang="ko-KR" altLang="en-US"/>
              <a:t>같은 발사를 멀티캐스트로 알려서 다른 클라이언트도 연출용 탄을 봅니다</a:t>
            </a:r>
            <a:r>
              <a:rPr lang="en-US" altLang="ko-KR"/>
              <a:t>.</a:t>
            </a:r>
          </a:p>
          <a:p>
            <a:r>
              <a:rPr lang="ko-KR" altLang="en-US"/>
              <a:t>착탄 처리는 서버만 합니다</a:t>
            </a:r>
            <a:r>
              <a:rPr lang="en-US" altLang="ko-KR"/>
              <a:t>. </a:t>
            </a:r>
            <a:r>
              <a:rPr lang="ko-KR" altLang="en-US"/>
              <a:t>표면이면 스플랫을 만들고 유닛이면 스턴을 겁니다</a:t>
            </a:r>
            <a:r>
              <a:rPr lang="en-US" altLang="ko-KR"/>
              <a:t>. </a:t>
            </a:r>
            <a:r>
              <a:rPr lang="ko-KR" altLang="en-US"/>
              <a:t>칠해진 결과는 탄과 따로 스플랫 기록으로 복제되고 모든 머신이 같은 기록으로 같은 자국을 그립니다</a:t>
            </a:r>
            <a:r>
              <a:rPr lang="en-US" altLang="ko-KR"/>
              <a:t>.</a:t>
            </a:r>
          </a:p>
          <a:p>
            <a:r>
              <a:rPr lang="ko-KR" altLang="en-US"/>
              <a:t>이렇게 나눈 덕분에 연출용 탄이 머신마다 조금 다르게 날아도 칠해진 결과는 어느 화면에서나 같습니다</a:t>
            </a:r>
            <a:r>
              <a:rPr lang="en-US" altLang="ko-KR"/>
              <a:t>. </a:t>
            </a:r>
            <a:r>
              <a:rPr lang="ko-KR" altLang="en-US"/>
              <a:t>착탄 정보 대신 결과를 보내므로 머신마다 계산이 달라질 여지도 없습니다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312729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화살표가 맵 순서입니다. 타이틀에서 방 목록으로 가고 방을 만들면 리슨 서버로 로비가 열립니다. 모두 준비하면 경기 맵으로 가고 결과 연출이 끝나면 다시 로비로 돌아옵니다.</a:t>
            </a:r>
          </a:p>
          <a:p>
            <a:r>
              <a:rPr lang="ko-KR" dirty="0"/>
              <a:t>세션 서브시스템은 Create, Find, Join, Destroy를 맡습니다. 남은 세션이 있으면 Create가 실패하므로 먼저 Destroy하고 완료 콜백에서 하려던 일을 이어서 합니다. Join은 검색 결과의 인덱스 대신 결과 전체를 복사해 씁니다. Destroy를 기다리는 사이 새 검색이 결과 목록을 바꿀 수 있기 때문입니다.</a:t>
            </a:r>
          </a:p>
          <a:p>
            <a:r>
              <a:rPr lang="ko-KR" dirty="0"/>
              <a:t>StartSession은 블루프린트의 AdvancedSessions가 맡고 EndSession은 C++ 게임모드가 로비로 돌아가기 전에 부릅니다.</a:t>
            </a:r>
          </a:p>
          <a:p>
            <a:r>
              <a:rPr lang="ko-KR" dirty="0"/>
              <a:t>Steam 개발용 앱 ID 480은 많은 개발자가 함께 쓰기 때문에 남의 로비가 섞여 보입니다. 그래서 비공개 키 MINTCHOCO_ID와 BuildId로 걸렀습니다. 두 값 중 하나라도 바꾸면 두 PC를 모두 다시 패키징해야 서로 보입니다.</a:t>
            </a:r>
          </a:p>
          <a:p>
            <a:r>
              <a:rPr lang="ko-KR" dirty="0"/>
              <a:t>경기 단계는 GameState가 복제하고 타이머는 끝나는 시각만 보냅니다. 남은 시간은 각 머신이 직접 계산하므로 매초 값을 보낼 필요가 없습니다.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다섯 가지 문제를 증상, 원인, 처리로 정리했습니다.</a:t>
            </a:r>
          </a:p>
          <a:p>
            <a:r>
              <a:rPr lang="ko-KR" dirty="0"/>
              <a:t>로비 초기화 문제는 seamless travel의 동작에서 나왔습니다. 로비로 돌아올 때 PlayerController와 PlayerState는 새로 만들어지지만 PostLogin은 불리지 않습니다. 그래서 플레이어 초기화를 InitLobbyPlayer 한 함수에 모으고 PostLogin과 HandleSeamlessTravelPlayer 양쪽에서 부릅니다.</a:t>
            </a:r>
          </a:p>
          <a:p>
            <a:r>
              <a:rPr lang="ko-KR" dirty="0"/>
              <a:t>페인트와 아이템이 사라지는 문제는 로비에 돌아간 뒤 90초가 지나야 나타나고 한 클라이언트에서만 보입니다. 클라이언트가 로비에서 게임 에셋을 GC하면 90초 뒤 NetGUID 캐시가 만료되는데 서버는 경로 없이 GUID만 계속 보냅니다. 그러면 NOT_IN_CACHE가 납니다. NetAssetRetainerSubsystem이 복제로 참조되는 에셋 클래스를 목록으로 계속 붙들고 관련 net CVar 두 개를 켭니다. 이 목록은 NetAssetRetainer 테스트로 고정했습니다.</a:t>
            </a:r>
          </a:p>
          <a:p>
            <a:r>
              <a:rPr lang="ko-KR" dirty="0"/>
              <a:t>다음 경기가 열리지 않는 문제는 세션 상태 때문입니다. 세션이 InProgress로 남아 있으면 엔진이 다시 시작하지 않으므로 로비로 돌아가기 전에 EndOnlineSession을 부릅니다.</a:t>
            </a:r>
          </a:p>
          <a:p>
            <a:r>
              <a:rPr lang="ko-KR" dirty="0"/>
              <a:t>PIE 창 문제는 월드 없이 온라인 서브시스템을 얻어서 생겼습니다. 창들이 서브시스템 하나를 공유해 Create 한 번에 모든 창이 반응했습니다. GetWorld를 넘겨 창마다 따로 얻습니다.</a:t>
            </a:r>
          </a:p>
          <a:p>
            <a:r>
              <a:rPr lang="ko-KR" dirty="0"/>
              <a:t>팀 기본값이 0이면 복사가 빠졌을 때 조용히 민트가 됩니다. 기본값을 None, 곧 -1로 둬서 누락이 바로 드러나게 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위 줄은 화면 가림막의 상태이고 아래 줄은 경기 단계입니다</a:t>
            </a:r>
            <a:r>
              <a:rPr lang="en-US" altLang="ko-KR"/>
              <a:t>. </a:t>
            </a:r>
            <a:r>
              <a:rPr lang="ko-KR" altLang="en-US"/>
              <a:t>민트 선이 두 상태 기계를 잇는 유일한 연결입니다</a:t>
            </a:r>
            <a:r>
              <a:rPr lang="en-US" altLang="ko-KR"/>
              <a:t>.</a:t>
            </a:r>
          </a:p>
          <a:p>
            <a:r>
              <a:rPr lang="ko-KR" altLang="en-US"/>
              <a:t>서버가 </a:t>
            </a:r>
            <a:r>
              <a:rPr lang="en-US" altLang="ko-KR"/>
              <a:t>ServerTravelWithFade</a:t>
            </a:r>
            <a:r>
              <a:rPr lang="ko-KR" altLang="en-US"/>
              <a:t>를 부르면 항상 관련되는 릴레이 액터의 멀티캐스트로 모든 머신이 어두워지고 </a:t>
            </a:r>
            <a:r>
              <a:rPr lang="en-US" altLang="ko-KR"/>
              <a:t>0.2</a:t>
            </a:r>
            <a:r>
              <a:rPr lang="ko-KR" altLang="en-US"/>
              <a:t>초 뒤 실제 </a:t>
            </a:r>
            <a:r>
              <a:rPr lang="en-US" altLang="ko-KR"/>
              <a:t>ServerTravel</a:t>
            </a:r>
            <a:r>
              <a:rPr lang="ko-KR" altLang="en-US"/>
              <a:t>이 일어납니다</a:t>
            </a:r>
            <a:r>
              <a:rPr lang="en-US" altLang="ko-KR"/>
              <a:t>.</a:t>
            </a:r>
          </a:p>
          <a:p>
            <a:r>
              <a:rPr lang="ko-KR" altLang="en-US"/>
              <a:t>새 맵이 로드되면 가림막은 닫힌 채 준비를 기다립니다</a:t>
            </a:r>
            <a:r>
              <a:rPr lang="en-US" altLang="ko-KR"/>
              <a:t>. Warmup </a:t>
            </a:r>
            <a:r>
              <a:rPr lang="ko-KR" altLang="en-US"/>
              <a:t>서브시스템이 홀드를 걸고 아이템 프리로드와 투사체 풀 예열</a:t>
            </a:r>
            <a:r>
              <a:rPr lang="en-US" altLang="ko-KR"/>
              <a:t>, PSO </a:t>
            </a:r>
            <a:r>
              <a:rPr lang="ko-KR" altLang="en-US"/>
              <a:t>캐시를 처리합니다</a:t>
            </a:r>
            <a:r>
              <a:rPr lang="en-US" altLang="ko-KR"/>
              <a:t>. </a:t>
            </a:r>
            <a:r>
              <a:rPr lang="ko-KR" altLang="en-US"/>
              <a:t>경기 중에 생길 끊김을 로딩 화면 뒤로 옮긴 셈입니다</a:t>
            </a:r>
            <a:r>
              <a:rPr lang="en-US" altLang="ko-KR"/>
              <a:t>.</a:t>
            </a:r>
          </a:p>
          <a:p>
            <a:r>
              <a:rPr lang="ko-KR" altLang="en-US"/>
              <a:t>가림막은 </a:t>
            </a:r>
            <a:r>
              <a:rPr lang="en-US" altLang="ko-KR"/>
              <a:t>PlayerState</a:t>
            </a:r>
            <a:r>
              <a:rPr lang="ko-KR" altLang="en-US"/>
              <a:t>와 폰이 있고 남은 홀드가 없을 때 열립니다</a:t>
            </a:r>
            <a:r>
              <a:rPr lang="en-US" altLang="ko-KR"/>
              <a:t>. </a:t>
            </a:r>
            <a:r>
              <a:rPr lang="ko-KR" altLang="en-US"/>
              <a:t>각 플레이어는 가림막이 열린 뒤에야 준비를 보고하고 서버는 전원이 준비되면 </a:t>
            </a:r>
            <a:r>
              <a:rPr lang="en-US" altLang="ko-KR"/>
              <a:t>3</a:t>
            </a:r>
            <a:r>
              <a:rPr lang="ko-KR" altLang="en-US"/>
              <a:t>초 카운트다운 뒤 </a:t>
            </a:r>
            <a:r>
              <a:rPr lang="en-US" altLang="ko-KR"/>
              <a:t>Playing</a:t>
            </a:r>
            <a:r>
              <a:rPr lang="ko-KR" altLang="en-US"/>
              <a:t>으로 넘깁니다</a:t>
            </a:r>
            <a:r>
              <a:rPr lang="en-US" altLang="ko-KR"/>
              <a:t>. </a:t>
            </a:r>
            <a:r>
              <a:rPr lang="ko-KR" altLang="en-US"/>
              <a:t>로딩이 늦은 플레이어를 두고 경기가 먼저 시작되는 일이 없습니다</a:t>
            </a:r>
            <a:r>
              <a:rPr lang="en-US" altLang="ko-KR"/>
              <a:t>.</a:t>
            </a:r>
          </a:p>
          <a:p>
            <a:r>
              <a:rPr lang="ko-KR" altLang="en-US"/>
              <a:t>홀드가 풀리지 않는 사고에 대비해 가림막은 </a:t>
            </a:r>
            <a:r>
              <a:rPr lang="en-US" altLang="ko-KR"/>
              <a:t>18</a:t>
            </a:r>
            <a:r>
              <a:rPr lang="ko-KR" altLang="en-US"/>
              <a:t>초</a:t>
            </a:r>
            <a:r>
              <a:rPr lang="en-US" altLang="ko-KR"/>
              <a:t>, </a:t>
            </a:r>
            <a:r>
              <a:rPr lang="ko-KR" altLang="en-US"/>
              <a:t>서버의 준비 확인은 </a:t>
            </a:r>
            <a:r>
              <a:rPr lang="en-US" altLang="ko-KR"/>
              <a:t>20</a:t>
            </a:r>
            <a:r>
              <a:rPr lang="ko-KR" altLang="en-US"/>
              <a:t>초가 지나면 진행합니다</a:t>
            </a:r>
            <a:r>
              <a:rPr lang="en-US" altLang="ko-KR"/>
              <a:t>. </a:t>
            </a:r>
            <a:r>
              <a:rPr lang="ko-KR" altLang="en-US"/>
              <a:t>직접 </a:t>
            </a:r>
            <a:r>
              <a:rPr lang="en-US" altLang="ko-KR"/>
              <a:t>ServerTravel</a:t>
            </a:r>
            <a:r>
              <a:rPr lang="ko-KR" altLang="en-US"/>
              <a:t>을 부르면 이 연결이 끊기므로 모든 이동은 가림막을 거칩니다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42229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기획자와 아트가 </a:t>
            </a:r>
            <a:r>
              <a:rPr lang="en-US" altLang="ko-KR"/>
              <a:t>C++</a:t>
            </a:r>
            <a:r>
              <a:rPr lang="ko-KR" altLang="en-US"/>
              <a:t>을 고치지 않고 값을 바꿀 수 있게 네 가지를 해 두었습니다</a:t>
            </a:r>
            <a:r>
              <a:rPr lang="en-US" altLang="ko-KR"/>
              <a:t>.</a:t>
            </a:r>
          </a:p>
          <a:p>
            <a:r>
              <a:rPr lang="ko-KR" altLang="en-US"/>
              <a:t>캐릭터의 메시와 애님</a:t>
            </a:r>
            <a:r>
              <a:rPr lang="en-US" altLang="ko-KR"/>
              <a:t>, </a:t>
            </a:r>
            <a:r>
              <a:rPr lang="ko-KR" altLang="en-US"/>
              <a:t>동작별 몽타주와 </a:t>
            </a:r>
            <a:r>
              <a:rPr lang="en-US" altLang="ko-KR"/>
              <a:t>FX</a:t>
            </a:r>
            <a:r>
              <a:rPr lang="ko-KR" altLang="en-US"/>
              <a:t>는 </a:t>
            </a:r>
            <a:r>
              <a:rPr lang="en-US" altLang="ko-KR"/>
              <a:t>UnitDataAsset</a:t>
            </a:r>
            <a:r>
              <a:rPr lang="ko-KR" altLang="en-US"/>
              <a:t>에 있고 아이템 튜닝 값은 아이템마다 </a:t>
            </a:r>
            <a:r>
              <a:rPr lang="en-US" altLang="ko-KR"/>
              <a:t>Profile </a:t>
            </a:r>
            <a:r>
              <a:rPr lang="ko-KR" altLang="en-US"/>
              <a:t>에셋에 있습니다</a:t>
            </a:r>
            <a:r>
              <a:rPr lang="en-US" altLang="ko-KR"/>
              <a:t>. </a:t>
            </a:r>
            <a:r>
              <a:rPr lang="ko-KR" altLang="en-US"/>
              <a:t>무기는 탄과 퍼짐을 다른 에셋으로 나눠서 같은 탄을 단발로도 산탄으로도 쓸 수 있습니다</a:t>
            </a:r>
            <a:r>
              <a:rPr lang="en-US" altLang="ko-KR"/>
              <a:t>. </a:t>
            </a:r>
            <a:r>
              <a:rPr lang="ko-KR" altLang="en-US"/>
              <a:t>사운드는 바꿀 소리만 담는 오버라이드 뱅크를 두고 없는 소리는 기본 뱅크에서 가져옵니다</a:t>
            </a:r>
            <a:r>
              <a:rPr lang="en-US" altLang="ko-KR"/>
              <a:t>.</a:t>
            </a:r>
          </a:p>
          <a:p>
            <a:r>
              <a:rPr lang="ko-KR" altLang="en-US"/>
              <a:t>아이템 드롭 목록과 스폰 주기</a:t>
            </a:r>
            <a:r>
              <a:rPr lang="en-US" altLang="ko-KR"/>
              <a:t>, </a:t>
            </a:r>
            <a:r>
              <a:rPr lang="ko-KR" altLang="en-US"/>
              <a:t>결과 연출 시간</a:t>
            </a:r>
            <a:r>
              <a:rPr lang="en-US" altLang="ko-KR"/>
              <a:t>, </a:t>
            </a:r>
            <a:r>
              <a:rPr lang="ko-KR" altLang="en-US"/>
              <a:t>로딩 화면</a:t>
            </a:r>
            <a:r>
              <a:rPr lang="en-US" altLang="ko-KR"/>
              <a:t>, </a:t>
            </a:r>
            <a:r>
              <a:rPr lang="ko-KR" altLang="en-US"/>
              <a:t>예열 시간은 </a:t>
            </a:r>
            <a:r>
              <a:rPr lang="en-US" altLang="ko-KR"/>
              <a:t>Project Settings </a:t>
            </a:r>
            <a:r>
              <a:rPr lang="ko-KR" altLang="en-US"/>
              <a:t>페이지로 노출했고 값은 </a:t>
            </a:r>
            <a:r>
              <a:rPr lang="en-US" altLang="ko-KR"/>
              <a:t>DefaultGame.ini</a:t>
            </a:r>
            <a:r>
              <a:rPr lang="ko-KR" altLang="en-US"/>
              <a:t>에 저장됩니다</a:t>
            </a:r>
            <a:r>
              <a:rPr lang="en-US" altLang="ko-KR"/>
              <a:t>. </a:t>
            </a:r>
            <a:r>
              <a:rPr lang="ko-KR" altLang="en-US"/>
              <a:t>결과 연출 단계 시간의 합이 로비 복귀 시간이 되므로 단계를 늘려도 다른 값을 따로 맞출 필요가 없습니다</a:t>
            </a:r>
            <a:r>
              <a:rPr lang="en-US" altLang="ko-KR"/>
              <a:t>.</a:t>
            </a:r>
          </a:p>
          <a:p>
            <a:r>
              <a:rPr lang="en-US" altLang="ko-KR"/>
              <a:t>HUD </a:t>
            </a:r>
            <a:r>
              <a:rPr lang="ko-KR" altLang="en-US"/>
              <a:t>위젯에 </a:t>
            </a:r>
            <a:r>
              <a:rPr lang="en-US" altLang="ko-KR"/>
              <a:t>Txt_Timer</a:t>
            </a:r>
            <a:r>
              <a:rPr lang="ko-KR" altLang="en-US"/>
              <a:t>라는 이름의 텍스트를 두면 코드와 자동으로 연결됩니다</a:t>
            </a:r>
            <a:r>
              <a:rPr lang="en-US" altLang="ko-KR"/>
              <a:t>. </a:t>
            </a:r>
            <a:r>
              <a:rPr lang="ko-KR" altLang="en-US"/>
              <a:t>판정은 </a:t>
            </a:r>
            <a:r>
              <a:rPr lang="en-US" altLang="ko-KR"/>
              <a:t>C++</a:t>
            </a:r>
            <a:r>
              <a:rPr lang="ko-KR" altLang="en-US"/>
              <a:t>에 두고 스턴이나 경기 종료 같은 순간에는 블루프린트 이벤트를 열어 연출만 붙이게 했습니다</a:t>
            </a:r>
            <a:r>
              <a:rPr lang="en-US" altLang="ko-KR"/>
              <a:t>. </a:t>
            </a:r>
            <a:r>
              <a:rPr lang="ko-KR" altLang="en-US"/>
              <a:t>팀 시작 지점과 아이템 스폰 지점은 레벨 디자이너가 맵에 놓고 디테일 패널에서 설정합니다</a:t>
            </a:r>
            <a:r>
              <a:rPr lang="en-US" altLang="ko-KR"/>
              <a:t>.</a:t>
            </a:r>
          </a:p>
          <a:p>
            <a:r>
              <a:rPr lang="ko-KR" altLang="en-US"/>
              <a:t>값을 열어 두면 잘못 넣는 일도 생깁니다</a:t>
            </a:r>
            <a:r>
              <a:rPr lang="en-US" altLang="ko-KR"/>
              <a:t>. </a:t>
            </a:r>
            <a:r>
              <a:rPr lang="ko-KR" altLang="en-US"/>
              <a:t>무기와 아이템 프로필에 필수 참조가 비어 있으면 어느 액터의 어느 필드인지 로그로 알려 주고 입력 칸에는 최솟값과 단위를 붙였습니다</a:t>
            </a:r>
            <a:r>
              <a:rPr lang="en-US" altLang="ko-KR"/>
              <a:t>. </a:t>
            </a:r>
            <a:r>
              <a:rPr lang="ko-KR" altLang="en-US"/>
              <a:t>실제 에셋 값을 검사하는 테스트도 둬서 데이터 실수가 테스트 실행에서 드러납니다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857211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t>사운드는 태그</a:t>
            </a:r>
            <a:r>
              <a:rPr lang="en-US" altLang="ko-KR"/>
              <a:t>, </a:t>
            </a:r>
            <a:r>
              <a:rPr lang="ko-KR" altLang="en-US"/>
              <a:t>뱅크</a:t>
            </a:r>
            <a:r>
              <a:rPr lang="en-US" altLang="ko-KR"/>
              <a:t>, </a:t>
            </a:r>
            <a:r>
              <a:rPr lang="ko-KR" altLang="en-US"/>
              <a:t>재생 서브시스템 세 층으로 만들었습니다</a:t>
            </a:r>
            <a:r>
              <a:rPr lang="en-US" altLang="ko-KR"/>
              <a:t>. </a:t>
            </a:r>
            <a:r>
              <a:rPr lang="ko-KR" altLang="en-US"/>
              <a:t>코드는 태그 하나만 넘기고 어떤 소리를 어떤 볼륨과 감쇠로 낼지는 뱅크 에셋이 정합니다</a:t>
            </a:r>
            <a:r>
              <a:rPr lang="en-US" altLang="ko-KR"/>
              <a:t>. </a:t>
            </a:r>
            <a:r>
              <a:rPr lang="ko-KR" altLang="en-US"/>
              <a:t>뱅크에 없는 태그는 조용히 넘어가서 소리를 아직 채우지 않아도 게임이 돌아갑니다</a:t>
            </a:r>
            <a:r>
              <a:rPr lang="en-US" altLang="ko-KR"/>
              <a:t>.</a:t>
            </a:r>
          </a:p>
          <a:p>
            <a:r>
              <a:rPr lang="ko-KR" altLang="en-US"/>
              <a:t>뱅크의 항목마다 감쇠와 동시 재생 제한</a:t>
            </a:r>
            <a:r>
              <a:rPr lang="en-US" altLang="ko-KR"/>
              <a:t>, </a:t>
            </a:r>
            <a:r>
              <a:rPr lang="ko-KR" altLang="en-US"/>
              <a:t>피치 범위를 둡니다</a:t>
            </a:r>
            <a:r>
              <a:rPr lang="en-US" altLang="ko-KR"/>
              <a:t>. </a:t>
            </a:r>
            <a:r>
              <a:rPr lang="ko-KR" altLang="en-US"/>
              <a:t>스플랫이나 산탄처럼 한 프레임에 수십 번 나는 소리는 동시 재생 제한으로 막고 같은 소리가 연달아 날 때는 피치를 랜덤으로 뽑아 기계음처럼 들리지 않게 했습니다</a:t>
            </a:r>
            <a:r>
              <a:rPr lang="en-US" altLang="ko-KR"/>
              <a:t>.</a:t>
            </a:r>
          </a:p>
          <a:p>
            <a:r>
              <a:rPr lang="ko-KR" altLang="en-US"/>
              <a:t>소리는 </a:t>
            </a:r>
            <a:r>
              <a:rPr lang="en-US" altLang="ko-KR"/>
              <a:t>RPC</a:t>
            </a:r>
            <a:r>
              <a:rPr lang="ko-KR" altLang="en-US"/>
              <a:t>로 보내지 않습니다</a:t>
            </a:r>
            <a:r>
              <a:rPr lang="en-US" altLang="ko-KR"/>
              <a:t>. </a:t>
            </a:r>
            <a:r>
              <a:rPr lang="ko-KR" altLang="en-US"/>
              <a:t>발사음은 소유자와 서버</a:t>
            </a:r>
            <a:r>
              <a:rPr lang="en-US" altLang="ko-KR"/>
              <a:t>, </a:t>
            </a:r>
            <a:r>
              <a:rPr lang="ko-KR" altLang="en-US"/>
              <a:t>발사 멀티캐스트를 받은 머신이 각자 재생하고 스턴 소리는 복제된 태그를 보고 재생합니다</a:t>
            </a:r>
            <a:r>
              <a:rPr lang="en-US" altLang="ko-KR"/>
              <a:t>. </a:t>
            </a:r>
            <a:r>
              <a:rPr lang="ko-KR" altLang="en-US"/>
              <a:t>여기에 멀티캐스트를 더 얹으면 같은 소리가 두 번 납니다</a:t>
            </a:r>
            <a:r>
              <a:rPr lang="en-US" altLang="ko-KR"/>
              <a:t>. </a:t>
            </a:r>
            <a:r>
              <a:rPr lang="ko-KR" altLang="en-US"/>
              <a:t>데디케이티드 서버는 서브시스템 한 곳에서 재생을 막습니다</a:t>
            </a:r>
            <a:r>
              <a:rPr lang="en-US" altLang="ko-KR"/>
              <a:t>.</a:t>
            </a:r>
          </a:p>
          <a:p>
            <a:r>
              <a:rPr lang="ko-KR" altLang="en-US"/>
              <a:t>캐릭터와 무기</a:t>
            </a:r>
            <a:r>
              <a:rPr lang="en-US" altLang="ko-KR"/>
              <a:t>, </a:t>
            </a:r>
            <a:r>
              <a:rPr lang="ko-KR" altLang="en-US"/>
              <a:t>아이템은 바꿀 소리만 담은 작은 오버라이드 뱅크를 갖습니다</a:t>
            </a:r>
            <a:r>
              <a:rPr lang="en-US" altLang="ko-KR"/>
              <a:t>. </a:t>
            </a:r>
            <a:r>
              <a:rPr lang="ko-KR" altLang="en-US"/>
              <a:t>발소리와 아이템 소리는 애님 노티파이로 프레임에 맞추고 노티파이 클래스 하나로 모든 아이템을 처리합니다</a:t>
            </a:r>
            <a:r>
              <a:rPr lang="en-US" altLang="ko-KR"/>
              <a:t>.</a:t>
            </a:r>
          </a:p>
          <a:p>
            <a:r>
              <a:rPr lang="ko-KR" altLang="en-US"/>
              <a:t>음악은 </a:t>
            </a:r>
            <a:r>
              <a:rPr lang="en-US" altLang="ko-KR"/>
              <a:t>GameInstance </a:t>
            </a:r>
            <a:r>
              <a:rPr lang="ko-KR" altLang="en-US"/>
              <a:t>서브시스템이 들고 있어서 맵이 바뀌어도 끊기지 않습니다</a:t>
            </a:r>
            <a:r>
              <a:rPr lang="en-US" altLang="ko-KR"/>
              <a:t>. </a:t>
            </a:r>
            <a:r>
              <a:rPr lang="ko-KR" altLang="en-US"/>
              <a:t>같은 곡을 다시 요청하면 무시하므로 타이틀에서 로비까지 한 곡이 이어지고 경기 단계가 바뀌면 각 머신이 복제된 단계를 보고 곡을 바꿉니다</a:t>
            </a:r>
            <a:r>
              <a:rPr lang="en-US" altLang="ko-KR"/>
              <a:t>. </a:t>
            </a:r>
            <a:r>
              <a:rPr lang="ko-KR" altLang="en-US"/>
              <a:t>오디오 컴포넌트 하나로는 크로스페이드가 안 돼서 두 개를 번갈아 씁니다</a:t>
            </a:r>
            <a:r>
              <a:rPr lang="en-US" altLang="ko-K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539374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테스트 파일 55개를 영역별로 나눴습니다. 아이템이 19개로 가장 많습니다.</a:t>
            </a:r>
          </a:p>
          <a:p>
            <a:r>
              <a:rPr lang="ko-KR" dirty="0"/>
              <a:t>테스트는 물리나 에셋 없이 돌도록 판정에 쓰이는 값만 보게 만들었습니다. 자동화 월드에는 물리가 돌지 않기 때문입니다. 끝 동작 테스트는 효과 중에는 사격이 끝 동작을 끊지 않는다는 규칙을 고정합니다.</a:t>
            </a:r>
          </a:p>
          <a:p>
            <a:r>
              <a:rPr lang="ko-KR" dirty="0"/>
              <a:t>헤드리스 에디터에 -nullrhi를 줘서 GPU 없이 돌리고 에디터를 켜기 전에 실행합니다.</a:t>
            </a:r>
          </a:p>
          <a:p>
            <a:r>
              <a:rPr lang="ko-KR" dirty="0"/>
              <a:t>Traps.md에는 증상별로 먼저 볼 곳을 시스템마다 표로 남겼습니다. 카운트다운이 시작되지 않으면 준비 보고 로그부터 보라는 식입니다. 한 번 시간을 들인 진단을 다음 사람이 처음부터 다시 하지 않게 하려는 문서입니다.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원칙을 다시 한 줄로 정리하며 마치겠습니다.</a:t>
            </a:r>
          </a:p>
          <a:p>
            <a:r>
              <a:rPr lang="ko-KR" dirty="0"/>
              <a:t>판정은 서버에 둬서 칠하기와 픽업, 스턴을 서버가 정합니다. 연출은 각자에 둬서 소리와 몽타주, 결과 연출을 RPC 없이 각 머신이 재생합니다. 확장은 데이터에 둬서 캐릭터와 아이템을 에셋으로 늘립니다.</a:t>
            </a:r>
          </a:p>
          <a:p>
            <a:r>
              <a:rPr lang="ko-KR" dirty="0"/>
              <a:t>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12"/>
        </a:solidFill>
        <a:effectLst/>
      </p:bgPr>
    </p:bg>
    <p:spTree>
      <p:nvGrpSpPr>
        <p:cNvPr id="1" name=""/>
        <p:cNvGrpSpPr/>
        <p:nvPr/>
      </p:nvGrpSpPr>
      <p:grpSpPr>
        <a:xfrm>
          <a:off x="0" y="0"/>
          <a:ext cx="0" cy="0"/>
          <a:chOff x="0" y="0"/>
          <a:chExt cx="0" cy="0"/>
        </a:xfrm>
      </p:grpSpPr>
      <p:sp>
        <p:nvSpPr>
          <p:cNvPr id="2" name="Shape 0"/>
          <p:cNvSpPr/>
          <p:nvPr/>
        </p:nvSpPr>
        <p:spPr>
          <a:xfrm>
            <a:off x="6035040" y="-1005840"/>
            <a:ext cx="4389120" cy="4389120"/>
          </a:xfrm>
          <a:prstGeom prst="ellipse">
            <a:avLst/>
          </a:prstGeom>
          <a:solidFill>
            <a:srgbClr val="1FA88E"/>
          </a:solidFill>
          <a:ln w="12700">
            <a:solidFill>
              <a:srgbClr val="1FA88E"/>
            </a:solidFill>
            <a:prstDash val="solid"/>
          </a:ln>
        </p:spPr>
        <p:txBody>
          <a:bodyPr/>
          <a:lstStyle/>
          <a:p>
            <a:endParaRPr lang="ko-KR" altLang="en-US"/>
          </a:p>
        </p:txBody>
      </p:sp>
      <p:sp>
        <p:nvSpPr>
          <p:cNvPr id="3" name="Shape 1"/>
          <p:cNvSpPr/>
          <p:nvPr/>
        </p:nvSpPr>
        <p:spPr>
          <a:xfrm>
            <a:off x="7223760" y="2651760"/>
            <a:ext cx="2377440" cy="2377440"/>
          </a:xfrm>
          <a:prstGeom prst="ellipse">
            <a:avLst/>
          </a:prstGeom>
          <a:solidFill>
            <a:srgbClr val="6B4430"/>
          </a:solidFill>
          <a:ln w="12700">
            <a:solidFill>
              <a:srgbClr val="6B4430"/>
            </a:solidFill>
            <a:prstDash val="solid"/>
          </a:ln>
        </p:spPr>
        <p:txBody>
          <a:bodyPr/>
          <a:lstStyle/>
          <a:p>
            <a:endParaRPr lang="ko-KR" altLang="en-US"/>
          </a:p>
        </p:txBody>
      </p:sp>
      <p:sp>
        <p:nvSpPr>
          <p:cNvPr id="4" name="Shape 2"/>
          <p:cNvSpPr/>
          <p:nvPr/>
        </p:nvSpPr>
        <p:spPr>
          <a:xfrm>
            <a:off x="5760720" y="3017520"/>
            <a:ext cx="502920" cy="502920"/>
          </a:xfrm>
          <a:prstGeom prst="ellipse">
            <a:avLst/>
          </a:prstGeom>
          <a:solidFill>
            <a:srgbClr val="9FE3D3"/>
          </a:solidFill>
          <a:ln w="12700">
            <a:solidFill>
              <a:srgbClr val="9FE3D3"/>
            </a:solidFill>
            <a:prstDash val="solid"/>
          </a:ln>
        </p:spPr>
        <p:txBody>
          <a:bodyPr/>
          <a:lstStyle/>
          <a:p>
            <a:endParaRPr lang="ko-KR" altLang="en-US"/>
          </a:p>
        </p:txBody>
      </p:sp>
      <p:sp>
        <p:nvSpPr>
          <p:cNvPr id="5" name="Text 3"/>
          <p:cNvSpPr txBox="1"/>
          <p:nvPr/>
        </p:nvSpPr>
        <p:spPr>
          <a:xfrm>
            <a:off x="548640" y="1005840"/>
            <a:ext cx="5120640" cy="274320"/>
          </a:xfrm>
          <a:prstGeom prst="rect">
            <a:avLst/>
          </a:prstGeom>
          <a:noFill/>
          <a:ln/>
        </p:spPr>
        <p:txBody>
          <a:bodyPr wrap="square" lIns="0" tIns="0" rIns="0" bIns="0" rtlCol="0" anchor="t"/>
          <a:lstStyle/>
          <a:p>
            <a:pPr marL="0" indent="0">
              <a:buNone/>
            </a:pPr>
            <a:endParaRPr lang="en-US" sz="1300" dirty="0"/>
          </a:p>
        </p:txBody>
      </p:sp>
      <p:sp>
        <p:nvSpPr>
          <p:cNvPr id="6" name="Text 4"/>
          <p:cNvSpPr txBox="1"/>
          <p:nvPr/>
        </p:nvSpPr>
        <p:spPr>
          <a:xfrm>
            <a:off x="548640" y="1371600"/>
            <a:ext cx="5303520" cy="914400"/>
          </a:xfrm>
          <a:prstGeom prst="rect">
            <a:avLst/>
          </a:prstGeom>
          <a:noFill/>
          <a:ln/>
        </p:spPr>
        <p:txBody>
          <a:bodyPr wrap="square" lIns="0" tIns="0" rIns="0" bIns="0" rtlCol="0" anchor="t"/>
          <a:lstStyle/>
          <a:p>
            <a:pPr marL="0" indent="0">
              <a:buNone/>
            </a:pPr>
            <a:r>
              <a:rPr lang="en-US" sz="5400" b="1" dirty="0">
                <a:solidFill>
                  <a:srgbClr val="FFFFFF"/>
                </a:solidFill>
                <a:latin typeface="Malgun Gothic" pitchFamily="34" charset="0"/>
                <a:ea typeface="Malgun Gothic" pitchFamily="34" charset="-122"/>
                <a:cs typeface="Malgun Gothic" pitchFamily="34" charset="-120"/>
              </a:rPr>
              <a:t>MintChoco</a:t>
            </a:r>
            <a:endParaRPr lang="en-US" sz="5400" dirty="0"/>
          </a:p>
        </p:txBody>
      </p:sp>
      <p:sp>
        <p:nvSpPr>
          <p:cNvPr id="7" name="Text 5"/>
          <p:cNvSpPr txBox="1"/>
          <p:nvPr/>
        </p:nvSpPr>
        <p:spPr>
          <a:xfrm>
            <a:off x="548640" y="2331720"/>
            <a:ext cx="5303520" cy="615206"/>
          </a:xfrm>
          <a:prstGeom prst="rect">
            <a:avLst/>
          </a:prstGeom>
          <a:noFill/>
          <a:ln/>
        </p:spPr>
        <p:txBody>
          <a:bodyPr wrap="square" lIns="0" tIns="0" rIns="0" bIns="0" rtlCol="0" anchor="t"/>
          <a:lstStyle/>
          <a:p>
            <a:pPr marL="0" indent="0">
              <a:buNone/>
            </a:pPr>
            <a:r>
              <a:rPr lang="en-US" sz="1800" dirty="0" err="1">
                <a:solidFill>
                  <a:srgbClr val="FFFFFF"/>
                </a:solidFill>
                <a:latin typeface="Malgun Gothic" pitchFamily="34" charset="0"/>
                <a:ea typeface="Malgun Gothic" pitchFamily="34" charset="-122"/>
                <a:cs typeface="Malgun Gothic" pitchFamily="34" charset="-120"/>
              </a:rPr>
              <a:t>멀티플레이</a:t>
            </a:r>
            <a:r>
              <a:rPr lang="en-US" sz="1800" dirty="0">
                <a:solidFill>
                  <a:srgbClr val="FFFFFF"/>
                </a:solidFill>
                <a:latin typeface="Malgun Gothic" pitchFamily="34" charset="0"/>
                <a:ea typeface="Malgun Gothic" pitchFamily="34" charset="-122"/>
                <a:cs typeface="Malgun Gothic" pitchFamily="34" charset="-120"/>
              </a:rPr>
              <a:t> 팀 </a:t>
            </a:r>
            <a:r>
              <a:rPr lang="en-US" sz="1800" dirty="0" err="1">
                <a:solidFill>
                  <a:srgbClr val="FFFFFF"/>
                </a:solidFill>
                <a:latin typeface="Malgun Gothic" pitchFamily="34" charset="0"/>
                <a:ea typeface="Malgun Gothic" pitchFamily="34" charset="-122"/>
                <a:cs typeface="Malgun Gothic" pitchFamily="34" charset="-120"/>
              </a:rPr>
              <a:t>페인트</a:t>
            </a:r>
            <a:r>
              <a:rPr lang="en-US" sz="1800" dirty="0">
                <a:solidFill>
                  <a:srgbClr val="FFFFFF"/>
                </a:solidFill>
                <a:latin typeface="Malgun Gothic" pitchFamily="34" charset="0"/>
                <a:ea typeface="Malgun Gothic" pitchFamily="34" charset="-122"/>
                <a:cs typeface="Malgun Gothic" pitchFamily="34" charset="-120"/>
              </a:rPr>
              <a:t> </a:t>
            </a:r>
            <a:r>
              <a:rPr lang="en-US" sz="1800" dirty="0" err="1">
                <a:solidFill>
                  <a:srgbClr val="FFFFFF"/>
                </a:solidFill>
                <a:latin typeface="Malgun Gothic" pitchFamily="34" charset="0"/>
                <a:ea typeface="Malgun Gothic" pitchFamily="34" charset="-122"/>
                <a:cs typeface="Malgun Gothic" pitchFamily="34" charset="-120"/>
              </a:rPr>
              <a:t>슈터</a:t>
            </a:r>
            <a:endParaRPr lang="en-US" dirty="0">
              <a:solidFill>
                <a:srgbClr val="FFFFFF"/>
              </a:solidFill>
              <a:latin typeface="Malgun Gothic" pitchFamily="34" charset="0"/>
              <a:ea typeface="Malgun Gothic" pitchFamily="34" charset="-122"/>
              <a:cs typeface="Malgun Gothic" pitchFamily="34" charset="-120"/>
            </a:endParaRPr>
          </a:p>
          <a:p>
            <a:pPr marL="0" indent="0">
              <a:buNone/>
            </a:pPr>
            <a:r>
              <a:rPr lang="ko-KR" altLang="en-US" dirty="0" err="1">
                <a:solidFill>
                  <a:srgbClr val="FFFFFF"/>
                </a:solidFill>
                <a:latin typeface="Malgun Gothic" pitchFamily="34" charset="0"/>
                <a:ea typeface="Malgun Gothic" pitchFamily="34" charset="-122"/>
                <a:cs typeface="Malgun Gothic" pitchFamily="34" charset="-120"/>
              </a:rPr>
              <a:t>최형재</a:t>
            </a:r>
            <a:endParaRPr lang="en-US" sz="1800" dirty="0">
              <a:solidFill>
                <a:srgbClr val="FFFFFF"/>
              </a:solidFill>
              <a:latin typeface="Malgun Gothic" pitchFamily="34" charset="0"/>
              <a:ea typeface="Malgun Gothic" pitchFamily="34" charset="-122"/>
              <a:cs typeface="Malgun Gothic" pitchFamily="34" charset="-120"/>
            </a:endParaRPr>
          </a:p>
        </p:txBody>
      </p:sp>
      <p:sp>
        <p:nvSpPr>
          <p:cNvPr id="8" name="Text 6"/>
          <p:cNvSpPr txBox="1"/>
          <p:nvPr/>
        </p:nvSpPr>
        <p:spPr>
          <a:xfrm>
            <a:off x="548640" y="4114800"/>
            <a:ext cx="5303520" cy="274320"/>
          </a:xfrm>
          <a:prstGeom prst="rect">
            <a:avLst/>
          </a:prstGeom>
          <a:noFill/>
          <a:ln/>
        </p:spPr>
        <p:txBody>
          <a:bodyPr wrap="square" lIns="0" tIns="0" rIns="0" bIns="0" rtlCol="0" anchor="t"/>
          <a:lstStyle/>
          <a:p>
            <a:pPr marL="0" indent="0">
              <a:buNone/>
            </a:pPr>
            <a:r>
              <a:rPr lang="en-US" sz="1200" dirty="0" err="1">
                <a:solidFill>
                  <a:srgbClr val="9FE3D3"/>
                </a:solidFill>
                <a:latin typeface="Malgun Gothic" pitchFamily="34" charset="0"/>
                <a:ea typeface="Malgun Gothic" pitchFamily="34" charset="-122"/>
                <a:cs typeface="Malgun Gothic" pitchFamily="34" charset="-120"/>
              </a:rPr>
              <a:t>담당</a:t>
            </a:r>
            <a:r>
              <a:rPr lang="en-US" sz="1200" dirty="0">
                <a:solidFill>
                  <a:srgbClr val="9FE3D3"/>
                </a:solidFill>
                <a:latin typeface="Malgun Gothic" pitchFamily="34" charset="0"/>
                <a:ea typeface="Malgun Gothic" pitchFamily="34" charset="-122"/>
                <a:cs typeface="Malgun Gothic" pitchFamily="34" charset="-120"/>
              </a:rPr>
              <a:t>   </a:t>
            </a:r>
            <a:r>
              <a:rPr lang="en-US" sz="1200" dirty="0" err="1">
                <a:solidFill>
                  <a:srgbClr val="9FE3D3"/>
                </a:solidFill>
                <a:latin typeface="Malgun Gothic" pitchFamily="34" charset="0"/>
                <a:ea typeface="Malgun Gothic" pitchFamily="34" charset="-122"/>
                <a:cs typeface="Malgun Gothic" pitchFamily="34" charset="-120"/>
              </a:rPr>
              <a:t>아이템</a:t>
            </a:r>
            <a:r>
              <a:rPr lang="en-US" sz="1200" dirty="0">
                <a:solidFill>
                  <a:srgbClr val="9FE3D3"/>
                </a:solidFill>
                <a:latin typeface="Malgun Gothic" pitchFamily="34" charset="0"/>
                <a:ea typeface="Malgun Gothic" pitchFamily="34" charset="-122"/>
                <a:cs typeface="Malgun Gothic" pitchFamily="34" charset="-120"/>
              </a:rPr>
              <a:t>·  캐릭터와 이동  ·  </a:t>
            </a:r>
            <a:r>
              <a:rPr lang="ko-KR" altLang="en-US" sz="1200" dirty="0">
                <a:solidFill>
                  <a:srgbClr val="9FE3D3"/>
                </a:solidFill>
                <a:latin typeface="Malgun Gothic" pitchFamily="34" charset="0"/>
                <a:ea typeface="Malgun Gothic" pitchFamily="34" charset="-122"/>
                <a:cs typeface="Malgun Gothic" pitchFamily="34" charset="-120"/>
              </a:rPr>
              <a:t>온라인과 세션  </a:t>
            </a:r>
            <a:r>
              <a:rPr lang="en-US" altLang="ko-KR" sz="1200" dirty="0">
                <a:solidFill>
                  <a:srgbClr val="9FE3D3"/>
                </a:solidFill>
                <a:latin typeface="Malgun Gothic" pitchFamily="34" charset="0"/>
                <a:ea typeface="Malgun Gothic" pitchFamily="34" charset="-122"/>
                <a:cs typeface="Malgun Gothic" pitchFamily="34" charset="-120"/>
              </a:rPr>
              <a:t>·  </a:t>
            </a:r>
            <a:r>
              <a:rPr lang="ko-KR" altLang="en-US" sz="1200" dirty="0">
                <a:solidFill>
                  <a:srgbClr val="9FE3D3"/>
                </a:solidFill>
                <a:latin typeface="Malgun Gothic" pitchFamily="34" charset="0"/>
                <a:ea typeface="Malgun Gothic" pitchFamily="34" charset="-122"/>
                <a:cs typeface="Malgun Gothic" pitchFamily="34" charset="-120"/>
              </a:rPr>
              <a:t>사운드</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PROJECT</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어떤 게임인가</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2</a:t>
            </a:r>
            <a:endParaRPr lang="en-US" sz="900" dirty="0"/>
          </a:p>
        </p:txBody>
      </p:sp>
      <p:sp>
        <p:nvSpPr>
          <p:cNvPr id="7" name="Text 5"/>
          <p:cNvSpPr txBox="1"/>
          <p:nvPr/>
        </p:nvSpPr>
        <p:spPr>
          <a:xfrm>
            <a:off x="457200" y="1234440"/>
            <a:ext cx="4114800" cy="2194560"/>
          </a:xfrm>
          <a:prstGeom prst="rect">
            <a:avLst/>
          </a:prstGeom>
          <a:noFill/>
          <a:ln/>
        </p:spPr>
        <p:txBody>
          <a:bodyPr wrap="square" lIns="0" tIns="0" rIns="0" bIns="0" rtlCol="0" anchor="t"/>
          <a:lstStyle/>
          <a:p>
            <a:pPr marL="152400" indent="-152400">
              <a:spcAft>
                <a:spcPts val="500"/>
              </a:spcAft>
              <a:buSzPct val="100000"/>
              <a:buChar char="•"/>
            </a:pPr>
            <a:r>
              <a:rPr lang="en-US" sz="1300" dirty="0" err="1">
                <a:solidFill>
                  <a:srgbClr val="2A221D"/>
                </a:solidFill>
                <a:latin typeface="Malgun Gothic" pitchFamily="34" charset="0"/>
                <a:ea typeface="Malgun Gothic" pitchFamily="34" charset="-122"/>
                <a:cs typeface="Malgun Gothic" pitchFamily="34" charset="-120"/>
              </a:rPr>
              <a:t>민트와</a:t>
            </a:r>
            <a:r>
              <a:rPr lang="en-US" sz="1300" dirty="0">
                <a:solidFill>
                  <a:srgbClr val="2A221D"/>
                </a:solidFill>
                <a:latin typeface="Malgun Gothic" pitchFamily="34" charset="0"/>
                <a:ea typeface="Malgun Gothic" pitchFamily="34" charset="-122"/>
                <a:cs typeface="Malgun Gothic" pitchFamily="34" charset="-120"/>
              </a:rPr>
              <a:t> </a:t>
            </a:r>
            <a:r>
              <a:rPr lang="en-US" sz="1300" dirty="0" err="1">
                <a:solidFill>
                  <a:srgbClr val="2A221D"/>
                </a:solidFill>
                <a:latin typeface="Malgun Gothic" pitchFamily="34" charset="0"/>
                <a:ea typeface="Malgun Gothic" pitchFamily="34" charset="-122"/>
                <a:cs typeface="Malgun Gothic" pitchFamily="34" charset="-120"/>
              </a:rPr>
              <a:t>초코</a:t>
            </a:r>
            <a:r>
              <a:rPr lang="en-US" sz="1300" dirty="0">
                <a:solidFill>
                  <a:srgbClr val="2A221D"/>
                </a:solidFill>
                <a:latin typeface="Malgun Gothic" pitchFamily="34" charset="0"/>
                <a:ea typeface="Malgun Gothic" pitchFamily="34" charset="-122"/>
                <a:cs typeface="Malgun Gothic" pitchFamily="34" charset="-120"/>
              </a:rPr>
              <a:t> 두 팀이 페인트 총으로 맵을 칠한다</a:t>
            </a:r>
            <a:endParaRPr lang="en-US" sz="1300" dirty="0"/>
          </a:p>
          <a:p>
            <a:pPr marL="152400" indent="-152400">
              <a:spcAft>
                <a:spcPts val="500"/>
              </a:spcAft>
              <a:buSzPct val="100000"/>
              <a:buChar char="•"/>
            </a:pPr>
            <a:r>
              <a:rPr lang="en-US" sz="1300" dirty="0">
                <a:solidFill>
                  <a:srgbClr val="2A221D"/>
                </a:solidFill>
                <a:latin typeface="Malgun Gothic" pitchFamily="34" charset="0"/>
                <a:ea typeface="Malgun Gothic" pitchFamily="34" charset="-122"/>
                <a:cs typeface="Malgun Gothic" pitchFamily="34" charset="-120"/>
              </a:rPr>
              <a:t>90초 동안 칠한 면적이 많은 팀이 이기고 격차가 크면 KO로 일찍 끝난다</a:t>
            </a:r>
            <a:endParaRPr lang="en-US" sz="1300" dirty="0"/>
          </a:p>
          <a:p>
            <a:pPr marL="152400" indent="-152400">
              <a:spcAft>
                <a:spcPts val="500"/>
              </a:spcAft>
              <a:buSzPct val="100000"/>
              <a:buChar char="•"/>
            </a:pPr>
            <a:r>
              <a:rPr lang="en-US" sz="1300" dirty="0">
                <a:solidFill>
                  <a:srgbClr val="2A221D"/>
                </a:solidFill>
                <a:latin typeface="Malgun Gothic" pitchFamily="34" charset="0"/>
                <a:ea typeface="Malgun Gothic" pitchFamily="34" charset="-122"/>
                <a:cs typeface="Malgun Gothic" pitchFamily="34" charset="-120"/>
              </a:rPr>
              <a:t>Steam 로비에서 방을 만들고 리슨 서버로 경기를 연다</a:t>
            </a:r>
            <a:endParaRPr lang="en-US" sz="1300" dirty="0"/>
          </a:p>
          <a:p>
            <a:pPr marL="152400" indent="-152400">
              <a:spcAft>
                <a:spcPts val="500"/>
              </a:spcAft>
              <a:buSzPct val="100000"/>
              <a:buChar char="•"/>
            </a:pPr>
            <a:r>
              <a:rPr lang="en-US" sz="1300" dirty="0">
                <a:solidFill>
                  <a:srgbClr val="2A221D"/>
                </a:solidFill>
                <a:latin typeface="Malgun Gothic" pitchFamily="34" charset="0"/>
                <a:ea typeface="Malgun Gothic" pitchFamily="34" charset="-122"/>
                <a:cs typeface="Malgun Gothic" pitchFamily="34" charset="-120"/>
              </a:rPr>
              <a:t>아이템은 GAS로 만들고 캐릭터는 데이터 에셋으로 갈라 쓴다</a:t>
            </a:r>
            <a:endParaRPr lang="en-US" sz="1300" dirty="0"/>
          </a:p>
        </p:txBody>
      </p:sp>
      <p:sp>
        <p:nvSpPr>
          <p:cNvPr id="8" name="Shape 6"/>
          <p:cNvSpPr/>
          <p:nvPr/>
        </p:nvSpPr>
        <p:spPr>
          <a:xfrm>
            <a:off x="4937760" y="1234440"/>
            <a:ext cx="1737360" cy="1051560"/>
          </a:xfrm>
          <a:prstGeom prst="roundRect">
            <a:avLst>
              <a:gd name="adj" fmla="val 6957"/>
            </a:avLst>
          </a:prstGeom>
          <a:solidFill>
            <a:srgbClr val="E2F4EF"/>
          </a:solidFill>
          <a:ln w="12700">
            <a:solidFill>
              <a:srgbClr val="E2F4EF"/>
            </a:solidFill>
            <a:prstDash val="solid"/>
          </a:ln>
        </p:spPr>
        <p:txBody>
          <a:bodyPr/>
          <a:lstStyle/>
          <a:p>
            <a:endParaRPr lang="ko-KR" altLang="en-US"/>
          </a:p>
        </p:txBody>
      </p:sp>
      <p:sp>
        <p:nvSpPr>
          <p:cNvPr id="9" name="Text 7"/>
          <p:cNvSpPr txBox="1"/>
          <p:nvPr/>
        </p:nvSpPr>
        <p:spPr>
          <a:xfrm>
            <a:off x="5120640" y="1371600"/>
            <a:ext cx="1463040" cy="502920"/>
          </a:xfrm>
          <a:prstGeom prst="rect">
            <a:avLst/>
          </a:prstGeom>
          <a:noFill/>
          <a:ln/>
        </p:spPr>
        <p:txBody>
          <a:bodyPr wrap="square" lIns="0" tIns="0" rIns="0" bIns="0" rtlCol="0" anchor="t"/>
          <a:lstStyle/>
          <a:p>
            <a:pPr marL="0" indent="0">
              <a:buNone/>
            </a:pPr>
            <a:r>
              <a:rPr lang="en-US" sz="3000" b="1" dirty="0">
                <a:solidFill>
                  <a:srgbClr val="137A67"/>
                </a:solidFill>
                <a:latin typeface="Malgun Gothic" pitchFamily="34" charset="0"/>
                <a:ea typeface="Malgun Gothic" pitchFamily="34" charset="-122"/>
                <a:cs typeface="Malgun Gothic" pitchFamily="34" charset="-120"/>
              </a:rPr>
              <a:t>90초</a:t>
            </a:r>
            <a:endParaRPr lang="en-US" sz="3000" dirty="0"/>
          </a:p>
        </p:txBody>
      </p:sp>
      <p:sp>
        <p:nvSpPr>
          <p:cNvPr id="10" name="Text 8"/>
          <p:cNvSpPr txBox="1"/>
          <p:nvPr/>
        </p:nvSpPr>
        <p:spPr>
          <a:xfrm>
            <a:off x="5120640" y="1920240"/>
            <a:ext cx="1463040" cy="228600"/>
          </a:xfrm>
          <a:prstGeom prst="rect">
            <a:avLst/>
          </a:prstGeom>
          <a:noFill/>
          <a:ln/>
        </p:spPr>
        <p:txBody>
          <a:bodyPr wrap="square" lIns="0" tIns="0" rIns="0" bIns="0" rtlCol="0" anchor="t"/>
          <a:lstStyle/>
          <a:p>
            <a:pPr marL="0" indent="0">
              <a:buNone/>
            </a:pPr>
            <a:r>
              <a:rPr lang="en-US" sz="1050" dirty="0">
                <a:solidFill>
                  <a:srgbClr val="6E655F"/>
                </a:solidFill>
                <a:latin typeface="Malgun Gothic" pitchFamily="34" charset="0"/>
                <a:ea typeface="Malgun Gothic" pitchFamily="34" charset="-122"/>
                <a:cs typeface="Malgun Gothic" pitchFamily="34" charset="-120"/>
              </a:rPr>
              <a:t>경기 시간</a:t>
            </a:r>
            <a:endParaRPr lang="en-US" sz="1050" dirty="0"/>
          </a:p>
        </p:txBody>
      </p:sp>
      <p:sp>
        <p:nvSpPr>
          <p:cNvPr id="11" name="Shape 9"/>
          <p:cNvSpPr/>
          <p:nvPr/>
        </p:nvSpPr>
        <p:spPr>
          <a:xfrm>
            <a:off x="6858000" y="1234440"/>
            <a:ext cx="1737360" cy="1051560"/>
          </a:xfrm>
          <a:prstGeom prst="roundRect">
            <a:avLst>
              <a:gd name="adj" fmla="val 6957"/>
            </a:avLst>
          </a:prstGeom>
          <a:solidFill>
            <a:srgbClr val="F3ECE6"/>
          </a:solidFill>
          <a:ln w="12700">
            <a:solidFill>
              <a:srgbClr val="F3ECE6"/>
            </a:solidFill>
            <a:prstDash val="solid"/>
          </a:ln>
        </p:spPr>
        <p:txBody>
          <a:bodyPr/>
          <a:lstStyle/>
          <a:p>
            <a:endParaRPr lang="ko-KR" altLang="en-US"/>
          </a:p>
        </p:txBody>
      </p:sp>
      <p:sp>
        <p:nvSpPr>
          <p:cNvPr id="12" name="Text 10"/>
          <p:cNvSpPr txBox="1"/>
          <p:nvPr/>
        </p:nvSpPr>
        <p:spPr>
          <a:xfrm>
            <a:off x="7040880" y="1371600"/>
            <a:ext cx="1463040" cy="502920"/>
          </a:xfrm>
          <a:prstGeom prst="rect">
            <a:avLst/>
          </a:prstGeom>
          <a:noFill/>
          <a:ln/>
        </p:spPr>
        <p:txBody>
          <a:bodyPr wrap="square" lIns="0" tIns="0" rIns="0" bIns="0" rtlCol="0" anchor="t"/>
          <a:lstStyle/>
          <a:p>
            <a:pPr marL="0" indent="0">
              <a:buNone/>
            </a:pPr>
            <a:r>
              <a:rPr lang="en-US" sz="3000" b="1" dirty="0">
                <a:solidFill>
                  <a:srgbClr val="6B4430"/>
                </a:solidFill>
                <a:latin typeface="Malgun Gothic" pitchFamily="34" charset="0"/>
                <a:ea typeface="Malgun Gothic" pitchFamily="34" charset="-122"/>
                <a:cs typeface="Malgun Gothic" pitchFamily="34" charset="-120"/>
              </a:rPr>
              <a:t>8종</a:t>
            </a:r>
            <a:endParaRPr lang="en-US" sz="3000" dirty="0"/>
          </a:p>
        </p:txBody>
      </p:sp>
      <p:sp>
        <p:nvSpPr>
          <p:cNvPr id="13" name="Text 11"/>
          <p:cNvSpPr txBox="1"/>
          <p:nvPr/>
        </p:nvSpPr>
        <p:spPr>
          <a:xfrm>
            <a:off x="7040880" y="1920240"/>
            <a:ext cx="1463040" cy="228600"/>
          </a:xfrm>
          <a:prstGeom prst="rect">
            <a:avLst/>
          </a:prstGeom>
          <a:noFill/>
          <a:ln/>
        </p:spPr>
        <p:txBody>
          <a:bodyPr wrap="square" lIns="0" tIns="0" rIns="0" bIns="0" rtlCol="0" anchor="t"/>
          <a:lstStyle/>
          <a:p>
            <a:pPr marL="0" indent="0">
              <a:buNone/>
            </a:pPr>
            <a:r>
              <a:rPr lang="en-US" sz="1050" dirty="0">
                <a:solidFill>
                  <a:srgbClr val="6E655F"/>
                </a:solidFill>
                <a:latin typeface="Malgun Gothic" pitchFamily="34" charset="0"/>
                <a:ea typeface="Malgun Gothic" pitchFamily="34" charset="-122"/>
                <a:cs typeface="Malgun Gothic" pitchFamily="34" charset="-120"/>
              </a:rPr>
              <a:t>아이템</a:t>
            </a:r>
            <a:endParaRPr lang="en-US" sz="1050" dirty="0"/>
          </a:p>
        </p:txBody>
      </p:sp>
      <p:sp>
        <p:nvSpPr>
          <p:cNvPr id="14" name="Shape 12"/>
          <p:cNvSpPr/>
          <p:nvPr/>
        </p:nvSpPr>
        <p:spPr>
          <a:xfrm>
            <a:off x="4937760" y="2468880"/>
            <a:ext cx="1737360" cy="1051560"/>
          </a:xfrm>
          <a:prstGeom prst="roundRect">
            <a:avLst>
              <a:gd name="adj" fmla="val 6957"/>
            </a:avLst>
          </a:prstGeom>
          <a:solidFill>
            <a:srgbClr val="E2F4EF"/>
          </a:solidFill>
          <a:ln w="12700">
            <a:solidFill>
              <a:srgbClr val="E2F4EF"/>
            </a:solidFill>
            <a:prstDash val="solid"/>
          </a:ln>
        </p:spPr>
        <p:txBody>
          <a:bodyPr/>
          <a:lstStyle/>
          <a:p>
            <a:endParaRPr lang="ko-KR" altLang="en-US"/>
          </a:p>
        </p:txBody>
      </p:sp>
      <p:sp>
        <p:nvSpPr>
          <p:cNvPr id="15" name="Text 13"/>
          <p:cNvSpPr txBox="1"/>
          <p:nvPr/>
        </p:nvSpPr>
        <p:spPr>
          <a:xfrm>
            <a:off x="5120640" y="2606040"/>
            <a:ext cx="1463040" cy="502920"/>
          </a:xfrm>
          <a:prstGeom prst="rect">
            <a:avLst/>
          </a:prstGeom>
          <a:noFill/>
          <a:ln/>
        </p:spPr>
        <p:txBody>
          <a:bodyPr wrap="square" lIns="0" tIns="0" rIns="0" bIns="0" rtlCol="0" anchor="t"/>
          <a:lstStyle/>
          <a:p>
            <a:pPr marL="0" indent="0">
              <a:buNone/>
            </a:pPr>
            <a:r>
              <a:rPr lang="en-US" sz="3000" b="1" dirty="0">
                <a:solidFill>
                  <a:srgbClr val="137A67"/>
                </a:solidFill>
                <a:latin typeface="Malgun Gothic" pitchFamily="34" charset="0"/>
                <a:ea typeface="Malgun Gothic" pitchFamily="34" charset="-122"/>
                <a:cs typeface="Malgun Gothic" pitchFamily="34" charset="-120"/>
              </a:rPr>
              <a:t>4개</a:t>
            </a:r>
            <a:endParaRPr lang="en-US" sz="3000" dirty="0"/>
          </a:p>
        </p:txBody>
      </p:sp>
      <p:sp>
        <p:nvSpPr>
          <p:cNvPr id="16" name="Text 14"/>
          <p:cNvSpPr txBox="1"/>
          <p:nvPr/>
        </p:nvSpPr>
        <p:spPr>
          <a:xfrm>
            <a:off x="5120640" y="3154680"/>
            <a:ext cx="1463040" cy="228600"/>
          </a:xfrm>
          <a:prstGeom prst="rect">
            <a:avLst/>
          </a:prstGeom>
          <a:noFill/>
          <a:ln/>
        </p:spPr>
        <p:txBody>
          <a:bodyPr wrap="square" lIns="0" tIns="0" rIns="0" bIns="0" rtlCol="0" anchor="t"/>
          <a:lstStyle/>
          <a:p>
            <a:pPr marL="0" indent="0">
              <a:buNone/>
            </a:pPr>
            <a:r>
              <a:rPr lang="en-US" sz="1050" dirty="0">
                <a:solidFill>
                  <a:srgbClr val="6E655F"/>
                </a:solidFill>
                <a:latin typeface="Malgun Gothic" pitchFamily="34" charset="0"/>
                <a:ea typeface="Malgun Gothic" pitchFamily="34" charset="-122"/>
                <a:cs typeface="Malgun Gothic" pitchFamily="34" charset="-120"/>
              </a:rPr>
              <a:t>압축 이동 플래그</a:t>
            </a:r>
            <a:endParaRPr lang="en-US" sz="1050" dirty="0"/>
          </a:p>
        </p:txBody>
      </p:sp>
      <p:sp>
        <p:nvSpPr>
          <p:cNvPr id="17" name="Shape 15"/>
          <p:cNvSpPr/>
          <p:nvPr/>
        </p:nvSpPr>
        <p:spPr>
          <a:xfrm>
            <a:off x="6858000" y="2468880"/>
            <a:ext cx="1737360" cy="1051560"/>
          </a:xfrm>
          <a:prstGeom prst="roundRect">
            <a:avLst>
              <a:gd name="adj" fmla="val 6957"/>
            </a:avLst>
          </a:prstGeom>
          <a:solidFill>
            <a:srgbClr val="F3ECE6"/>
          </a:solidFill>
          <a:ln w="12700">
            <a:solidFill>
              <a:srgbClr val="F3ECE6"/>
            </a:solidFill>
            <a:prstDash val="solid"/>
          </a:ln>
        </p:spPr>
        <p:txBody>
          <a:bodyPr/>
          <a:lstStyle/>
          <a:p>
            <a:endParaRPr lang="ko-KR" altLang="en-US"/>
          </a:p>
        </p:txBody>
      </p:sp>
      <p:sp>
        <p:nvSpPr>
          <p:cNvPr id="18" name="Text 16"/>
          <p:cNvSpPr txBox="1"/>
          <p:nvPr/>
        </p:nvSpPr>
        <p:spPr>
          <a:xfrm>
            <a:off x="7040880" y="2606040"/>
            <a:ext cx="1463040" cy="502920"/>
          </a:xfrm>
          <a:prstGeom prst="rect">
            <a:avLst/>
          </a:prstGeom>
          <a:noFill/>
          <a:ln/>
        </p:spPr>
        <p:txBody>
          <a:bodyPr wrap="square" lIns="0" tIns="0" rIns="0" bIns="0" rtlCol="0" anchor="t"/>
          <a:lstStyle/>
          <a:p>
            <a:pPr marL="0" indent="0">
              <a:buNone/>
            </a:pPr>
            <a:r>
              <a:rPr lang="en-US" sz="3000" b="1" dirty="0">
                <a:solidFill>
                  <a:srgbClr val="6B4430"/>
                </a:solidFill>
                <a:latin typeface="Malgun Gothic" pitchFamily="34" charset="0"/>
                <a:ea typeface="Malgun Gothic" pitchFamily="34" charset="-122"/>
                <a:cs typeface="Malgun Gothic" pitchFamily="34" charset="-120"/>
              </a:rPr>
              <a:t>55개</a:t>
            </a:r>
            <a:endParaRPr lang="en-US" sz="3000" dirty="0"/>
          </a:p>
        </p:txBody>
      </p:sp>
      <p:sp>
        <p:nvSpPr>
          <p:cNvPr id="19" name="Text 17"/>
          <p:cNvSpPr txBox="1"/>
          <p:nvPr/>
        </p:nvSpPr>
        <p:spPr>
          <a:xfrm>
            <a:off x="7040880" y="3154680"/>
            <a:ext cx="1463040" cy="228600"/>
          </a:xfrm>
          <a:prstGeom prst="rect">
            <a:avLst/>
          </a:prstGeom>
          <a:noFill/>
          <a:ln/>
        </p:spPr>
        <p:txBody>
          <a:bodyPr wrap="square" lIns="0" tIns="0" rIns="0" bIns="0" rtlCol="0" anchor="t"/>
          <a:lstStyle/>
          <a:p>
            <a:pPr marL="0" indent="0">
              <a:buNone/>
            </a:pPr>
            <a:r>
              <a:rPr lang="en-US" sz="1050" dirty="0">
                <a:solidFill>
                  <a:srgbClr val="6E655F"/>
                </a:solidFill>
                <a:latin typeface="Malgun Gothic" pitchFamily="34" charset="0"/>
                <a:ea typeface="Malgun Gothic" pitchFamily="34" charset="-122"/>
                <a:cs typeface="Malgun Gothic" pitchFamily="34" charset="-120"/>
              </a:rPr>
              <a:t>자동화 테스트 파일</a:t>
            </a:r>
            <a:endParaRPr lang="en-US" sz="1050" dirty="0"/>
          </a:p>
        </p:txBody>
      </p:sp>
      <p:sp>
        <p:nvSpPr>
          <p:cNvPr id="20" name="Text 18"/>
          <p:cNvSpPr txBox="1"/>
          <p:nvPr/>
        </p:nvSpPr>
        <p:spPr>
          <a:xfrm>
            <a:off x="457200" y="3977640"/>
            <a:ext cx="1828800" cy="228600"/>
          </a:xfrm>
          <a:prstGeom prst="rect">
            <a:avLst/>
          </a:prstGeom>
          <a:noFill/>
          <a:ln/>
        </p:spPr>
        <p:txBody>
          <a:bodyPr wrap="square" lIns="0" tIns="0" rIns="0" bIns="0" rtlCol="0" anchor="t"/>
          <a:lstStyle/>
          <a:p>
            <a:pPr marL="0" indent="0">
              <a:buNone/>
            </a:pPr>
            <a:r>
              <a:rPr lang="en-US" sz="1000" b="1" dirty="0">
                <a:solidFill>
                  <a:srgbClr val="6E655F"/>
                </a:solidFill>
                <a:latin typeface="Malgun Gothic" pitchFamily="34" charset="0"/>
                <a:ea typeface="Malgun Gothic" pitchFamily="34" charset="-122"/>
                <a:cs typeface="Malgun Gothic" pitchFamily="34" charset="-120"/>
              </a:rPr>
              <a:t>기술 스택</a:t>
            </a:r>
            <a:endParaRPr lang="en-US" sz="1000" dirty="0"/>
          </a:p>
        </p:txBody>
      </p:sp>
      <p:sp>
        <p:nvSpPr>
          <p:cNvPr id="21" name="Shape 19"/>
          <p:cNvSpPr/>
          <p:nvPr/>
        </p:nvSpPr>
        <p:spPr>
          <a:xfrm>
            <a:off x="457200" y="4251960"/>
            <a:ext cx="1613002" cy="219456"/>
          </a:xfrm>
          <a:prstGeom prst="roundRect">
            <a:avLst>
              <a:gd name="adj" fmla="val 50000"/>
            </a:avLst>
          </a:prstGeom>
          <a:solidFill>
            <a:srgbClr val="F3ECE6"/>
          </a:solidFill>
          <a:ln w="12700">
            <a:solidFill>
              <a:srgbClr val="F3ECE6"/>
            </a:solidFill>
            <a:prstDash val="solid"/>
          </a:ln>
        </p:spPr>
        <p:txBody>
          <a:bodyPr/>
          <a:lstStyle/>
          <a:p>
            <a:endParaRPr lang="ko-KR" altLang="en-US"/>
          </a:p>
        </p:txBody>
      </p:sp>
      <p:sp>
        <p:nvSpPr>
          <p:cNvPr id="22" name="Text 20"/>
          <p:cNvSpPr txBox="1"/>
          <p:nvPr/>
        </p:nvSpPr>
        <p:spPr>
          <a:xfrm>
            <a:off x="457200" y="4251960"/>
            <a:ext cx="1613002" cy="219456"/>
          </a:xfrm>
          <a:prstGeom prst="rect">
            <a:avLst/>
          </a:prstGeom>
          <a:noFill/>
          <a:ln/>
        </p:spPr>
        <p:txBody>
          <a:bodyPr wrap="square" lIns="0" tIns="0" rIns="0" bIns="0" rtlCol="0" anchor="ctr"/>
          <a:lstStyle/>
          <a:p>
            <a:pPr marL="0" indent="0" algn="ctr">
              <a:buNone/>
            </a:pPr>
            <a:r>
              <a:rPr lang="en-US" sz="900" b="1" dirty="0">
                <a:solidFill>
                  <a:srgbClr val="6B4430"/>
                </a:solidFill>
                <a:latin typeface="Malgun Gothic" pitchFamily="34" charset="0"/>
                <a:ea typeface="Malgun Gothic" pitchFamily="34" charset="-122"/>
                <a:cs typeface="Malgun Gothic" pitchFamily="34" charset="-120"/>
              </a:rPr>
              <a:t>Gameplay Ability System</a:t>
            </a:r>
            <a:endParaRPr lang="en-US" sz="900" dirty="0"/>
          </a:p>
        </p:txBody>
      </p:sp>
      <p:sp>
        <p:nvSpPr>
          <p:cNvPr id="23" name="Shape 21"/>
          <p:cNvSpPr/>
          <p:nvPr/>
        </p:nvSpPr>
        <p:spPr>
          <a:xfrm>
            <a:off x="2161642" y="4251960"/>
            <a:ext cx="1053389" cy="219456"/>
          </a:xfrm>
          <a:prstGeom prst="roundRect">
            <a:avLst>
              <a:gd name="adj" fmla="val 50000"/>
            </a:avLst>
          </a:prstGeom>
          <a:solidFill>
            <a:srgbClr val="F3ECE6"/>
          </a:solidFill>
          <a:ln w="12700">
            <a:solidFill>
              <a:srgbClr val="F3ECE6"/>
            </a:solidFill>
            <a:prstDash val="solid"/>
          </a:ln>
        </p:spPr>
        <p:txBody>
          <a:bodyPr/>
          <a:lstStyle/>
          <a:p>
            <a:endParaRPr lang="ko-KR" altLang="en-US"/>
          </a:p>
        </p:txBody>
      </p:sp>
      <p:sp>
        <p:nvSpPr>
          <p:cNvPr id="24" name="Text 22"/>
          <p:cNvSpPr txBox="1"/>
          <p:nvPr/>
        </p:nvSpPr>
        <p:spPr>
          <a:xfrm>
            <a:off x="2161642" y="4251960"/>
            <a:ext cx="1053389" cy="219456"/>
          </a:xfrm>
          <a:prstGeom prst="rect">
            <a:avLst/>
          </a:prstGeom>
          <a:noFill/>
          <a:ln/>
        </p:spPr>
        <p:txBody>
          <a:bodyPr wrap="square" lIns="0" tIns="0" rIns="0" bIns="0" rtlCol="0" anchor="ctr"/>
          <a:lstStyle/>
          <a:p>
            <a:pPr marL="0" indent="0" algn="ctr">
              <a:buNone/>
            </a:pPr>
            <a:r>
              <a:rPr lang="en-US" sz="900" b="1" dirty="0">
                <a:solidFill>
                  <a:srgbClr val="6B4430"/>
                </a:solidFill>
                <a:latin typeface="Malgun Gothic" pitchFamily="34" charset="0"/>
                <a:ea typeface="Malgun Gothic" pitchFamily="34" charset="-122"/>
                <a:cs typeface="Malgun Gothic" pitchFamily="34" charset="-120"/>
              </a:rPr>
              <a:t>Enhanced Input</a:t>
            </a:r>
            <a:endParaRPr lang="en-US" sz="900" dirty="0"/>
          </a:p>
        </p:txBody>
      </p:sp>
      <p:sp>
        <p:nvSpPr>
          <p:cNvPr id="25" name="Shape 23"/>
          <p:cNvSpPr/>
          <p:nvPr/>
        </p:nvSpPr>
        <p:spPr>
          <a:xfrm>
            <a:off x="3306470" y="4251960"/>
            <a:ext cx="742493" cy="219456"/>
          </a:xfrm>
          <a:prstGeom prst="roundRect">
            <a:avLst>
              <a:gd name="adj" fmla="val 50000"/>
            </a:avLst>
          </a:prstGeom>
          <a:solidFill>
            <a:srgbClr val="F3ECE6"/>
          </a:solidFill>
          <a:ln w="12700">
            <a:solidFill>
              <a:srgbClr val="F3ECE6"/>
            </a:solidFill>
            <a:prstDash val="solid"/>
          </a:ln>
        </p:spPr>
        <p:txBody>
          <a:bodyPr/>
          <a:lstStyle/>
          <a:p>
            <a:endParaRPr lang="ko-KR" altLang="en-US"/>
          </a:p>
        </p:txBody>
      </p:sp>
      <p:sp>
        <p:nvSpPr>
          <p:cNvPr id="26" name="Text 24"/>
          <p:cNvSpPr txBox="1"/>
          <p:nvPr/>
        </p:nvSpPr>
        <p:spPr>
          <a:xfrm>
            <a:off x="3306470" y="4251960"/>
            <a:ext cx="742493" cy="219456"/>
          </a:xfrm>
          <a:prstGeom prst="rect">
            <a:avLst/>
          </a:prstGeom>
          <a:noFill/>
          <a:ln/>
        </p:spPr>
        <p:txBody>
          <a:bodyPr wrap="square" lIns="0" tIns="0" rIns="0" bIns="0" rtlCol="0" anchor="ctr"/>
          <a:lstStyle/>
          <a:p>
            <a:pPr marL="0" indent="0" algn="ctr">
              <a:buNone/>
            </a:pPr>
            <a:r>
              <a:rPr lang="en-US" sz="900" b="1" dirty="0">
                <a:solidFill>
                  <a:srgbClr val="6B4430"/>
                </a:solidFill>
                <a:latin typeface="Malgun Gothic" pitchFamily="34" charset="0"/>
                <a:ea typeface="Malgun Gothic" pitchFamily="34" charset="-122"/>
                <a:cs typeface="Malgun Gothic" pitchFamily="34" charset="-120"/>
              </a:rPr>
              <a:t>Steam OSS</a:t>
            </a:r>
            <a:endParaRPr lang="en-US" sz="900" dirty="0"/>
          </a:p>
        </p:txBody>
      </p:sp>
      <p:sp>
        <p:nvSpPr>
          <p:cNvPr id="27" name="Shape 25"/>
          <p:cNvSpPr/>
          <p:nvPr/>
        </p:nvSpPr>
        <p:spPr>
          <a:xfrm>
            <a:off x="4140403" y="4251960"/>
            <a:ext cx="929030" cy="219456"/>
          </a:xfrm>
          <a:prstGeom prst="roundRect">
            <a:avLst>
              <a:gd name="adj" fmla="val 50000"/>
            </a:avLst>
          </a:prstGeom>
          <a:solidFill>
            <a:srgbClr val="F3ECE6"/>
          </a:solidFill>
          <a:ln w="12700">
            <a:solidFill>
              <a:srgbClr val="F3ECE6"/>
            </a:solidFill>
            <a:prstDash val="solid"/>
          </a:ln>
        </p:spPr>
        <p:txBody>
          <a:bodyPr/>
          <a:lstStyle/>
          <a:p>
            <a:endParaRPr lang="ko-KR" altLang="en-US"/>
          </a:p>
        </p:txBody>
      </p:sp>
      <p:sp>
        <p:nvSpPr>
          <p:cNvPr id="28" name="Text 26"/>
          <p:cNvSpPr txBox="1"/>
          <p:nvPr/>
        </p:nvSpPr>
        <p:spPr>
          <a:xfrm>
            <a:off x="4140403" y="4251960"/>
            <a:ext cx="929030" cy="219456"/>
          </a:xfrm>
          <a:prstGeom prst="rect">
            <a:avLst/>
          </a:prstGeom>
          <a:noFill/>
          <a:ln/>
        </p:spPr>
        <p:txBody>
          <a:bodyPr wrap="square" lIns="0" tIns="0" rIns="0" bIns="0" rtlCol="0" anchor="ctr"/>
          <a:lstStyle/>
          <a:p>
            <a:pPr marL="0" indent="0" algn="ctr">
              <a:buNone/>
            </a:pPr>
            <a:r>
              <a:rPr lang="en-US" sz="900" b="1" dirty="0">
                <a:solidFill>
                  <a:srgbClr val="6B4430"/>
                </a:solidFill>
                <a:latin typeface="Malgun Gothic" pitchFamily="34" charset="0"/>
                <a:ea typeface="Malgun Gothic" pitchFamily="34" charset="-122"/>
                <a:cs typeface="Malgun Gothic" pitchFamily="34" charset="-120"/>
              </a:rPr>
              <a:t>SteamSockets</a:t>
            </a:r>
            <a:endParaRPr lang="en-US" sz="900" dirty="0"/>
          </a:p>
        </p:txBody>
      </p:sp>
      <p:sp>
        <p:nvSpPr>
          <p:cNvPr id="29" name="Shape 27"/>
          <p:cNvSpPr/>
          <p:nvPr/>
        </p:nvSpPr>
        <p:spPr>
          <a:xfrm>
            <a:off x="5160874" y="4251960"/>
            <a:ext cx="618134" cy="219456"/>
          </a:xfrm>
          <a:prstGeom prst="roundRect">
            <a:avLst>
              <a:gd name="adj" fmla="val 50000"/>
            </a:avLst>
          </a:prstGeom>
          <a:solidFill>
            <a:srgbClr val="F3ECE6"/>
          </a:solidFill>
          <a:ln w="12700">
            <a:solidFill>
              <a:srgbClr val="F3ECE6"/>
            </a:solidFill>
            <a:prstDash val="solid"/>
          </a:ln>
        </p:spPr>
        <p:txBody>
          <a:bodyPr/>
          <a:lstStyle/>
          <a:p>
            <a:endParaRPr lang="ko-KR" altLang="en-US"/>
          </a:p>
        </p:txBody>
      </p:sp>
      <p:sp>
        <p:nvSpPr>
          <p:cNvPr id="30" name="Text 28"/>
          <p:cNvSpPr txBox="1"/>
          <p:nvPr/>
        </p:nvSpPr>
        <p:spPr>
          <a:xfrm>
            <a:off x="5160874" y="4251960"/>
            <a:ext cx="618134" cy="219456"/>
          </a:xfrm>
          <a:prstGeom prst="rect">
            <a:avLst/>
          </a:prstGeom>
          <a:noFill/>
          <a:ln/>
        </p:spPr>
        <p:txBody>
          <a:bodyPr wrap="square" lIns="0" tIns="0" rIns="0" bIns="0" rtlCol="0" anchor="ctr"/>
          <a:lstStyle/>
          <a:p>
            <a:pPr marL="0" indent="0" algn="ctr">
              <a:buNone/>
            </a:pPr>
            <a:r>
              <a:rPr lang="en-US" sz="900" b="1" dirty="0">
                <a:solidFill>
                  <a:srgbClr val="6B4430"/>
                </a:solidFill>
                <a:latin typeface="Malgun Gothic" pitchFamily="34" charset="0"/>
                <a:ea typeface="Malgun Gothic" pitchFamily="34" charset="-122"/>
                <a:cs typeface="Malgun Gothic" pitchFamily="34" charset="-120"/>
              </a:rPr>
              <a:t>Niagara</a:t>
            </a:r>
            <a:endParaRPr lang="en-US" sz="900" dirty="0"/>
          </a:p>
        </p:txBody>
      </p:sp>
      <p:sp>
        <p:nvSpPr>
          <p:cNvPr id="31" name="Shape 29"/>
          <p:cNvSpPr/>
          <p:nvPr/>
        </p:nvSpPr>
        <p:spPr>
          <a:xfrm>
            <a:off x="5870448" y="4251960"/>
            <a:ext cx="742493" cy="219456"/>
          </a:xfrm>
          <a:prstGeom prst="roundRect">
            <a:avLst>
              <a:gd name="adj" fmla="val 50000"/>
            </a:avLst>
          </a:prstGeom>
          <a:solidFill>
            <a:srgbClr val="F3ECE6"/>
          </a:solidFill>
          <a:ln w="12700">
            <a:solidFill>
              <a:srgbClr val="F3ECE6"/>
            </a:solidFill>
            <a:prstDash val="solid"/>
          </a:ln>
        </p:spPr>
        <p:txBody>
          <a:bodyPr/>
          <a:lstStyle/>
          <a:p>
            <a:endParaRPr lang="ko-KR" altLang="en-US"/>
          </a:p>
        </p:txBody>
      </p:sp>
      <p:sp>
        <p:nvSpPr>
          <p:cNvPr id="32" name="Text 30"/>
          <p:cNvSpPr txBox="1"/>
          <p:nvPr/>
        </p:nvSpPr>
        <p:spPr>
          <a:xfrm>
            <a:off x="5870448" y="4251960"/>
            <a:ext cx="742493" cy="219456"/>
          </a:xfrm>
          <a:prstGeom prst="rect">
            <a:avLst/>
          </a:prstGeom>
          <a:noFill/>
          <a:ln/>
        </p:spPr>
        <p:txBody>
          <a:bodyPr wrap="square" lIns="0" tIns="0" rIns="0" bIns="0" rtlCol="0" anchor="ctr"/>
          <a:lstStyle/>
          <a:p>
            <a:pPr marL="0" indent="0" algn="ctr">
              <a:buNone/>
            </a:pPr>
            <a:r>
              <a:rPr lang="en-US" sz="900" b="1" dirty="0">
                <a:solidFill>
                  <a:srgbClr val="6B4430"/>
                </a:solidFill>
                <a:latin typeface="Malgun Gothic" pitchFamily="34" charset="0"/>
                <a:ea typeface="Malgun Gothic" pitchFamily="34" charset="-122"/>
                <a:cs typeface="Malgun Gothic" pitchFamily="34" charset="-120"/>
              </a:rPr>
              <a:t>Substrate</a:t>
            </a:r>
            <a:endParaRPr lang="en-US" sz="900" dirty="0"/>
          </a:p>
        </p:txBody>
      </p:sp>
      <p:sp>
        <p:nvSpPr>
          <p:cNvPr id="33" name="Shape 31"/>
          <p:cNvSpPr/>
          <p:nvPr/>
        </p:nvSpPr>
        <p:spPr>
          <a:xfrm>
            <a:off x="6704381" y="4251960"/>
            <a:ext cx="1115568" cy="219456"/>
          </a:xfrm>
          <a:prstGeom prst="roundRect">
            <a:avLst>
              <a:gd name="adj" fmla="val 50000"/>
            </a:avLst>
          </a:prstGeom>
          <a:solidFill>
            <a:srgbClr val="F3ECE6"/>
          </a:solidFill>
          <a:ln w="12700">
            <a:solidFill>
              <a:srgbClr val="F3ECE6"/>
            </a:solidFill>
            <a:prstDash val="solid"/>
          </a:ln>
        </p:spPr>
        <p:txBody>
          <a:bodyPr/>
          <a:lstStyle/>
          <a:p>
            <a:endParaRPr lang="ko-KR" altLang="en-US"/>
          </a:p>
        </p:txBody>
      </p:sp>
      <p:sp>
        <p:nvSpPr>
          <p:cNvPr id="34" name="Text 32"/>
          <p:cNvSpPr txBox="1"/>
          <p:nvPr/>
        </p:nvSpPr>
        <p:spPr>
          <a:xfrm>
            <a:off x="6704381" y="4251960"/>
            <a:ext cx="1115568" cy="219456"/>
          </a:xfrm>
          <a:prstGeom prst="rect">
            <a:avLst/>
          </a:prstGeom>
          <a:noFill/>
          <a:ln/>
        </p:spPr>
        <p:txBody>
          <a:bodyPr wrap="square" lIns="0" tIns="0" rIns="0" bIns="0" rtlCol="0" anchor="ctr"/>
          <a:lstStyle/>
          <a:p>
            <a:pPr marL="0" indent="0" algn="ctr">
              <a:buNone/>
            </a:pPr>
            <a:r>
              <a:rPr lang="en-US" sz="900" b="1" dirty="0">
                <a:solidFill>
                  <a:srgbClr val="6B4430"/>
                </a:solidFill>
                <a:latin typeface="Malgun Gothic" pitchFamily="34" charset="0"/>
                <a:ea typeface="Malgun Gothic" pitchFamily="34" charset="-122"/>
                <a:cs typeface="Malgun Gothic" pitchFamily="34" charset="-120"/>
              </a:rPr>
              <a:t>Automation Test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MY SCOPE</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제가 맡은 네 시스템</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3</a:t>
            </a:r>
            <a:endParaRPr lang="en-US" sz="900" dirty="0"/>
          </a:p>
        </p:txBody>
      </p:sp>
      <p:sp>
        <p:nvSpPr>
          <p:cNvPr id="7" name="Shape 5"/>
          <p:cNvSpPr/>
          <p:nvPr/>
        </p:nvSpPr>
        <p:spPr>
          <a:xfrm>
            <a:off x="457200" y="1234440"/>
            <a:ext cx="1920240" cy="3429000"/>
          </a:xfrm>
          <a:prstGeom prst="roundRect">
            <a:avLst>
              <a:gd name="adj" fmla="val 3810"/>
            </a:avLst>
          </a:prstGeom>
          <a:solidFill>
            <a:srgbClr val="E2F4EF"/>
          </a:solidFill>
          <a:ln w="12700">
            <a:solidFill>
              <a:srgbClr val="E2F4EF"/>
            </a:solidFill>
            <a:prstDash val="solid"/>
          </a:ln>
        </p:spPr>
        <p:txBody>
          <a:bodyPr/>
          <a:lstStyle/>
          <a:p>
            <a:endParaRPr lang="ko-KR" altLang="en-US"/>
          </a:p>
        </p:txBody>
      </p:sp>
      <p:sp>
        <p:nvSpPr>
          <p:cNvPr id="8" name="Shape 6"/>
          <p:cNvSpPr/>
          <p:nvPr/>
        </p:nvSpPr>
        <p:spPr>
          <a:xfrm>
            <a:off x="640080" y="1435608"/>
            <a:ext cx="502920" cy="502920"/>
          </a:xfrm>
          <a:prstGeom prst="ellipse">
            <a:avLst/>
          </a:prstGeom>
          <a:solidFill>
            <a:srgbClr val="1FA88E"/>
          </a:solidFill>
          <a:ln w="12700">
            <a:solidFill>
              <a:srgbClr val="1FA88E"/>
            </a:solidFill>
            <a:prstDash val="solid"/>
          </a:ln>
        </p:spPr>
        <p:txBody>
          <a:bodyPr/>
          <a:lstStyle/>
          <a:p>
            <a:endParaRPr lang="ko-KR" altLang="en-US"/>
          </a:p>
        </p:txBody>
      </p:sp>
      <p:sp>
        <p:nvSpPr>
          <p:cNvPr id="9" name="Text 7"/>
          <p:cNvSpPr txBox="1"/>
          <p:nvPr/>
        </p:nvSpPr>
        <p:spPr>
          <a:xfrm>
            <a:off x="640080" y="1435608"/>
            <a:ext cx="50292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GAS</a:t>
            </a:r>
            <a:endParaRPr lang="en-US" sz="900" dirty="0"/>
          </a:p>
        </p:txBody>
      </p:sp>
      <p:sp>
        <p:nvSpPr>
          <p:cNvPr id="10" name="Text 8"/>
          <p:cNvSpPr txBox="1"/>
          <p:nvPr/>
        </p:nvSpPr>
        <p:spPr>
          <a:xfrm>
            <a:off x="1234440" y="1435608"/>
            <a:ext cx="1051560" cy="502920"/>
          </a:xfrm>
          <a:prstGeom prst="rect">
            <a:avLst/>
          </a:prstGeom>
          <a:noFill/>
          <a:ln/>
        </p:spPr>
        <p:txBody>
          <a:bodyPr wrap="square" lIns="0" tIns="0" rIns="0" bIns="0" rtlCol="0" anchor="ctr"/>
          <a:lstStyle/>
          <a:p>
            <a:pPr marL="0" indent="0">
              <a:buNone/>
            </a:pPr>
            <a:r>
              <a:rPr lang="en-US" sz="1300" b="1" dirty="0">
                <a:solidFill>
                  <a:srgbClr val="2B1B12"/>
                </a:solidFill>
                <a:latin typeface="Malgun Gothic" pitchFamily="34" charset="0"/>
                <a:ea typeface="Malgun Gothic" pitchFamily="34" charset="-122"/>
                <a:cs typeface="Malgun Gothic" pitchFamily="34" charset="-120"/>
              </a:rPr>
              <a:t>아이템</a:t>
            </a:r>
            <a:endParaRPr lang="en-US" sz="1300" dirty="0"/>
          </a:p>
        </p:txBody>
      </p:sp>
      <p:sp>
        <p:nvSpPr>
          <p:cNvPr id="11" name="Text 9"/>
          <p:cNvSpPr txBox="1"/>
          <p:nvPr/>
        </p:nvSpPr>
        <p:spPr>
          <a:xfrm>
            <a:off x="640080" y="2103120"/>
            <a:ext cx="1645920" cy="685800"/>
          </a:xfrm>
          <a:prstGeom prst="rect">
            <a:avLst/>
          </a:prstGeom>
          <a:noFill/>
          <a:ln/>
        </p:spPr>
        <p:txBody>
          <a:bodyPr wrap="square" lIns="0" tIns="0" rIns="0" bIns="0" rtlCol="0" anchor="t"/>
          <a:lstStyle/>
          <a:p>
            <a:pPr marL="0" indent="0">
              <a:buNone/>
            </a:pPr>
            <a:r>
              <a:rPr lang="en-US" sz="800" dirty="0">
                <a:solidFill>
                  <a:srgbClr val="6B4430"/>
                </a:solidFill>
                <a:latin typeface="Consolas" pitchFamily="34" charset="0"/>
                <a:ea typeface="Consolas" pitchFamily="34" charset="-122"/>
                <a:cs typeface="Consolas" pitchFamily="34" charset="-120"/>
              </a:rPr>
              <a:t>UItemAbility</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UItemSlotComponent</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UItemProfile</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ItemGameplayEffect</a:t>
            </a:r>
            <a:endParaRPr lang="en-US" sz="800" dirty="0"/>
          </a:p>
        </p:txBody>
      </p:sp>
      <p:sp>
        <p:nvSpPr>
          <p:cNvPr id="12" name="Text 10"/>
          <p:cNvSpPr txBox="1"/>
          <p:nvPr/>
        </p:nvSpPr>
        <p:spPr>
          <a:xfrm>
            <a:off x="640080" y="2926080"/>
            <a:ext cx="1600200" cy="164592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스폰부터 끝 동작까지 전체 흐름</a:t>
            </a:r>
            <a:endParaRPr lang="en-US" sz="1000" dirty="0"/>
          </a:p>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LocalPredicted 발동과 종료 분리</a:t>
            </a:r>
            <a:endParaRPr lang="en-US" sz="1000" dirty="0"/>
          </a:p>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8종 아이템과 스턴·슈퍼아머·넉백</a:t>
            </a:r>
            <a:endParaRPr lang="en-US" sz="1000" dirty="0"/>
          </a:p>
        </p:txBody>
      </p:sp>
      <p:sp>
        <p:nvSpPr>
          <p:cNvPr id="13" name="Shape 11"/>
          <p:cNvSpPr/>
          <p:nvPr/>
        </p:nvSpPr>
        <p:spPr>
          <a:xfrm>
            <a:off x="2560320" y="1234440"/>
            <a:ext cx="1920240" cy="3429000"/>
          </a:xfrm>
          <a:prstGeom prst="roundRect">
            <a:avLst>
              <a:gd name="adj" fmla="val 3810"/>
            </a:avLst>
          </a:prstGeom>
          <a:solidFill>
            <a:srgbClr val="F3ECE6"/>
          </a:solidFill>
          <a:ln w="12700">
            <a:solidFill>
              <a:srgbClr val="F3ECE6"/>
            </a:solidFill>
            <a:prstDash val="solid"/>
          </a:ln>
        </p:spPr>
        <p:txBody>
          <a:bodyPr/>
          <a:lstStyle/>
          <a:p>
            <a:endParaRPr lang="ko-KR" altLang="en-US"/>
          </a:p>
        </p:txBody>
      </p:sp>
      <p:sp>
        <p:nvSpPr>
          <p:cNvPr id="14" name="Shape 12"/>
          <p:cNvSpPr/>
          <p:nvPr/>
        </p:nvSpPr>
        <p:spPr>
          <a:xfrm>
            <a:off x="2743200" y="1435608"/>
            <a:ext cx="502920" cy="502920"/>
          </a:xfrm>
          <a:prstGeom prst="ellipse">
            <a:avLst/>
          </a:prstGeom>
          <a:solidFill>
            <a:srgbClr val="6B4430"/>
          </a:solidFill>
          <a:ln w="12700">
            <a:solidFill>
              <a:srgbClr val="6B4430"/>
            </a:solidFill>
            <a:prstDash val="solid"/>
          </a:ln>
        </p:spPr>
        <p:txBody>
          <a:bodyPr/>
          <a:lstStyle/>
          <a:p>
            <a:endParaRPr lang="ko-KR" altLang="en-US"/>
          </a:p>
        </p:txBody>
      </p:sp>
      <p:sp>
        <p:nvSpPr>
          <p:cNvPr id="15" name="Text 13"/>
          <p:cNvSpPr txBox="1"/>
          <p:nvPr/>
        </p:nvSpPr>
        <p:spPr>
          <a:xfrm>
            <a:off x="2743200" y="1435608"/>
            <a:ext cx="50292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Unit</a:t>
            </a:r>
            <a:endParaRPr lang="en-US" sz="900" dirty="0"/>
          </a:p>
        </p:txBody>
      </p:sp>
      <p:sp>
        <p:nvSpPr>
          <p:cNvPr id="16" name="Text 14"/>
          <p:cNvSpPr txBox="1"/>
          <p:nvPr/>
        </p:nvSpPr>
        <p:spPr>
          <a:xfrm>
            <a:off x="3337560" y="1435608"/>
            <a:ext cx="1051560" cy="502920"/>
          </a:xfrm>
          <a:prstGeom prst="rect">
            <a:avLst/>
          </a:prstGeom>
          <a:noFill/>
          <a:ln/>
        </p:spPr>
        <p:txBody>
          <a:bodyPr wrap="square" lIns="0" tIns="0" rIns="0" bIns="0" rtlCol="0" anchor="ctr"/>
          <a:lstStyle/>
          <a:p>
            <a:pPr marL="0" indent="0">
              <a:buNone/>
            </a:pPr>
            <a:r>
              <a:rPr lang="en-US" sz="1300" b="1" dirty="0">
                <a:solidFill>
                  <a:srgbClr val="2B1B12"/>
                </a:solidFill>
                <a:latin typeface="Malgun Gothic" pitchFamily="34" charset="0"/>
                <a:ea typeface="Malgun Gothic" pitchFamily="34" charset="-122"/>
                <a:cs typeface="Malgun Gothic" pitchFamily="34" charset="-120"/>
              </a:rPr>
              <a:t>캐릭터와 이동</a:t>
            </a:r>
            <a:endParaRPr lang="en-US" sz="1300" dirty="0"/>
          </a:p>
        </p:txBody>
      </p:sp>
      <p:sp>
        <p:nvSpPr>
          <p:cNvPr id="17" name="Text 15"/>
          <p:cNvSpPr txBox="1"/>
          <p:nvPr/>
        </p:nvSpPr>
        <p:spPr>
          <a:xfrm>
            <a:off x="2743200" y="2103120"/>
            <a:ext cx="1645920" cy="685800"/>
          </a:xfrm>
          <a:prstGeom prst="rect">
            <a:avLst/>
          </a:prstGeom>
          <a:noFill/>
          <a:ln/>
        </p:spPr>
        <p:txBody>
          <a:bodyPr wrap="square" lIns="0" tIns="0" rIns="0" bIns="0" rtlCol="0" anchor="t"/>
          <a:lstStyle/>
          <a:p>
            <a:pPr marL="0" indent="0">
              <a:buNone/>
            </a:pPr>
            <a:r>
              <a:rPr lang="en-US" sz="800" dirty="0">
                <a:solidFill>
                  <a:srgbClr val="6B4430"/>
                </a:solidFill>
                <a:latin typeface="Consolas" pitchFamily="34" charset="0"/>
                <a:ea typeface="Consolas" pitchFamily="34" charset="-122"/>
                <a:cs typeface="Consolas" pitchFamily="34" charset="-120"/>
              </a:rPr>
              <a:t>AUnit</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UUnitMovementComponent</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UUnitAnimInstance</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UUnitDataAsset</a:t>
            </a:r>
            <a:endParaRPr lang="en-US" sz="800" dirty="0"/>
          </a:p>
        </p:txBody>
      </p:sp>
      <p:sp>
        <p:nvSpPr>
          <p:cNvPr id="18" name="Text 16"/>
          <p:cNvSpPr txBox="1"/>
          <p:nvPr/>
        </p:nvSpPr>
        <p:spPr>
          <a:xfrm>
            <a:off x="2743200" y="2926080"/>
            <a:ext cx="1600200" cy="164592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플레이어와 AI가 함께 쓰는 단일 캐릭터 클래스</a:t>
            </a:r>
            <a:endParaRPr lang="en-US" sz="1000" dirty="0"/>
          </a:p>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압축 이동 플래그와 히어로 랜딩</a:t>
            </a:r>
            <a:endParaRPr lang="en-US" sz="1000" dirty="0"/>
          </a:p>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몸 방향 규칙과 발사 원점</a:t>
            </a:r>
            <a:endParaRPr lang="en-US" sz="1000" dirty="0"/>
          </a:p>
        </p:txBody>
      </p:sp>
      <p:sp>
        <p:nvSpPr>
          <p:cNvPr id="19" name="Shape 17"/>
          <p:cNvSpPr/>
          <p:nvPr/>
        </p:nvSpPr>
        <p:spPr>
          <a:xfrm>
            <a:off x="4663440" y="1234440"/>
            <a:ext cx="1920240" cy="3429000"/>
          </a:xfrm>
          <a:prstGeom prst="roundRect">
            <a:avLst>
              <a:gd name="adj" fmla="val 3810"/>
            </a:avLst>
          </a:prstGeom>
          <a:solidFill>
            <a:srgbClr val="E2F4EF"/>
          </a:solidFill>
          <a:ln w="12700">
            <a:solidFill>
              <a:srgbClr val="E2F4EF"/>
            </a:solidFill>
            <a:prstDash val="solid"/>
          </a:ln>
        </p:spPr>
        <p:txBody>
          <a:bodyPr/>
          <a:lstStyle/>
          <a:p>
            <a:endParaRPr lang="ko-KR" altLang="en-US"/>
          </a:p>
        </p:txBody>
      </p:sp>
      <p:sp>
        <p:nvSpPr>
          <p:cNvPr id="20" name="Shape 18"/>
          <p:cNvSpPr/>
          <p:nvPr/>
        </p:nvSpPr>
        <p:spPr>
          <a:xfrm>
            <a:off x="4846320" y="1435608"/>
            <a:ext cx="502920" cy="502920"/>
          </a:xfrm>
          <a:prstGeom prst="ellipse">
            <a:avLst/>
          </a:prstGeom>
          <a:solidFill>
            <a:srgbClr val="137A67"/>
          </a:solidFill>
          <a:ln w="12700">
            <a:solidFill>
              <a:srgbClr val="137A67"/>
            </a:solidFill>
            <a:prstDash val="solid"/>
          </a:ln>
        </p:spPr>
        <p:txBody>
          <a:bodyPr/>
          <a:lstStyle/>
          <a:p>
            <a:endParaRPr lang="ko-KR" altLang="en-US"/>
          </a:p>
        </p:txBody>
      </p:sp>
      <p:sp>
        <p:nvSpPr>
          <p:cNvPr id="21" name="Text 19"/>
          <p:cNvSpPr txBox="1"/>
          <p:nvPr/>
        </p:nvSpPr>
        <p:spPr>
          <a:xfrm>
            <a:off x="4846320" y="1435608"/>
            <a:ext cx="50292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Net</a:t>
            </a:r>
            <a:endParaRPr lang="en-US" sz="900" dirty="0"/>
          </a:p>
        </p:txBody>
      </p:sp>
      <p:sp>
        <p:nvSpPr>
          <p:cNvPr id="22" name="Text 20"/>
          <p:cNvSpPr txBox="1"/>
          <p:nvPr/>
        </p:nvSpPr>
        <p:spPr>
          <a:xfrm>
            <a:off x="5440680" y="1435608"/>
            <a:ext cx="1051560" cy="502920"/>
          </a:xfrm>
          <a:prstGeom prst="rect">
            <a:avLst/>
          </a:prstGeom>
          <a:noFill/>
          <a:ln/>
        </p:spPr>
        <p:txBody>
          <a:bodyPr wrap="square" lIns="0" tIns="0" rIns="0" bIns="0" rtlCol="0" anchor="ctr"/>
          <a:lstStyle/>
          <a:p>
            <a:pPr marL="0" indent="0">
              <a:buNone/>
            </a:pPr>
            <a:r>
              <a:rPr lang="en-US" sz="1300" b="1" dirty="0">
                <a:solidFill>
                  <a:srgbClr val="2B1B12"/>
                </a:solidFill>
                <a:latin typeface="Malgun Gothic" pitchFamily="34" charset="0"/>
                <a:ea typeface="Malgun Gothic" pitchFamily="34" charset="-122"/>
                <a:cs typeface="Malgun Gothic" pitchFamily="34" charset="-120"/>
              </a:rPr>
              <a:t>온라인과 세션</a:t>
            </a:r>
            <a:endParaRPr lang="en-US" sz="1300" dirty="0"/>
          </a:p>
        </p:txBody>
      </p:sp>
      <p:sp>
        <p:nvSpPr>
          <p:cNvPr id="23" name="Text 21"/>
          <p:cNvSpPr txBox="1"/>
          <p:nvPr/>
        </p:nvSpPr>
        <p:spPr>
          <a:xfrm>
            <a:off x="4846320" y="2103120"/>
            <a:ext cx="1645920" cy="685800"/>
          </a:xfrm>
          <a:prstGeom prst="rect">
            <a:avLst/>
          </a:prstGeom>
          <a:noFill/>
          <a:ln/>
        </p:spPr>
        <p:txBody>
          <a:bodyPr wrap="square" lIns="0" tIns="0" rIns="0" bIns="0" rtlCol="0" anchor="t"/>
          <a:lstStyle/>
          <a:p>
            <a:pPr marL="0" indent="0">
              <a:buNone/>
            </a:pPr>
            <a:r>
              <a:rPr lang="en-US" sz="800" dirty="0">
                <a:solidFill>
                  <a:srgbClr val="6B4430"/>
                </a:solidFill>
                <a:latin typeface="Consolas" pitchFamily="34" charset="0"/>
                <a:ea typeface="Consolas" pitchFamily="34" charset="-122"/>
                <a:cs typeface="Consolas" pitchFamily="34" charset="-120"/>
              </a:rPr>
              <a:t>UOnlineSessionsSubsystem</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UScreenFadeSubsystem</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Lobby*</a:t>
            </a:r>
            <a:endParaRPr lang="en-US" sz="800" dirty="0"/>
          </a:p>
        </p:txBody>
      </p:sp>
      <p:sp>
        <p:nvSpPr>
          <p:cNvPr id="24" name="Text 22"/>
          <p:cNvSpPr txBox="1"/>
          <p:nvPr/>
        </p:nvSpPr>
        <p:spPr>
          <a:xfrm>
            <a:off x="4846320" y="2926080"/>
            <a:ext cx="1600200" cy="164592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Steam 세션 생성·검색·참가·정리</a:t>
            </a:r>
            <a:endParaRPr lang="en-US" sz="1000" dirty="0"/>
          </a:p>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로비와 경기 사이 seamless travel</a:t>
            </a:r>
            <a:endParaRPr lang="en-US" sz="1000" dirty="0"/>
          </a:p>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화면 가림막과 준비 게이트</a:t>
            </a:r>
            <a:endParaRPr lang="en-US" sz="1000" dirty="0"/>
          </a:p>
        </p:txBody>
      </p:sp>
      <p:sp>
        <p:nvSpPr>
          <p:cNvPr id="25" name="Shape 23"/>
          <p:cNvSpPr/>
          <p:nvPr/>
        </p:nvSpPr>
        <p:spPr>
          <a:xfrm>
            <a:off x="6766560" y="1234440"/>
            <a:ext cx="1920240" cy="3429000"/>
          </a:xfrm>
          <a:prstGeom prst="roundRect">
            <a:avLst>
              <a:gd name="adj" fmla="val 3810"/>
            </a:avLst>
          </a:prstGeom>
          <a:solidFill>
            <a:srgbClr val="F3ECE6"/>
          </a:solidFill>
          <a:ln w="12700">
            <a:solidFill>
              <a:srgbClr val="F3ECE6"/>
            </a:solidFill>
            <a:prstDash val="solid"/>
          </a:ln>
        </p:spPr>
        <p:txBody>
          <a:bodyPr/>
          <a:lstStyle/>
          <a:p>
            <a:endParaRPr lang="ko-KR" altLang="en-US"/>
          </a:p>
        </p:txBody>
      </p:sp>
      <p:sp>
        <p:nvSpPr>
          <p:cNvPr id="26" name="Shape 24"/>
          <p:cNvSpPr/>
          <p:nvPr/>
        </p:nvSpPr>
        <p:spPr>
          <a:xfrm>
            <a:off x="6949440" y="1435608"/>
            <a:ext cx="502920" cy="502920"/>
          </a:xfrm>
          <a:prstGeom prst="ellipse">
            <a:avLst/>
          </a:prstGeom>
          <a:solidFill>
            <a:srgbClr val="6B4430"/>
          </a:solidFill>
          <a:ln w="12700">
            <a:solidFill>
              <a:srgbClr val="6B4430"/>
            </a:solidFill>
            <a:prstDash val="solid"/>
          </a:ln>
        </p:spPr>
        <p:txBody>
          <a:bodyPr/>
          <a:lstStyle/>
          <a:p>
            <a:endParaRPr lang="ko-KR" altLang="en-US"/>
          </a:p>
        </p:txBody>
      </p:sp>
      <p:sp>
        <p:nvSpPr>
          <p:cNvPr id="27" name="Text 25"/>
          <p:cNvSpPr txBox="1"/>
          <p:nvPr/>
        </p:nvSpPr>
        <p:spPr>
          <a:xfrm>
            <a:off x="6949440" y="1435608"/>
            <a:ext cx="502920" cy="502920"/>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Audio</a:t>
            </a:r>
            <a:endParaRPr lang="en-US" sz="900" dirty="0"/>
          </a:p>
        </p:txBody>
      </p:sp>
      <p:sp>
        <p:nvSpPr>
          <p:cNvPr id="28" name="Text 26"/>
          <p:cNvSpPr txBox="1"/>
          <p:nvPr/>
        </p:nvSpPr>
        <p:spPr>
          <a:xfrm>
            <a:off x="7543800" y="1435608"/>
            <a:ext cx="1051560" cy="502920"/>
          </a:xfrm>
          <a:prstGeom prst="rect">
            <a:avLst/>
          </a:prstGeom>
          <a:noFill/>
          <a:ln/>
        </p:spPr>
        <p:txBody>
          <a:bodyPr wrap="square" lIns="0" tIns="0" rIns="0" bIns="0" rtlCol="0" anchor="ctr"/>
          <a:lstStyle/>
          <a:p>
            <a:pPr marL="0" indent="0">
              <a:buNone/>
            </a:pPr>
            <a:r>
              <a:rPr lang="en-US" sz="1300" b="1" dirty="0">
                <a:solidFill>
                  <a:srgbClr val="2B1B12"/>
                </a:solidFill>
                <a:latin typeface="Malgun Gothic" pitchFamily="34" charset="0"/>
                <a:ea typeface="Malgun Gothic" pitchFamily="34" charset="-122"/>
                <a:cs typeface="Malgun Gothic" pitchFamily="34" charset="-120"/>
              </a:rPr>
              <a:t>사운드</a:t>
            </a:r>
            <a:endParaRPr lang="en-US" sz="1300" dirty="0"/>
          </a:p>
        </p:txBody>
      </p:sp>
      <p:sp>
        <p:nvSpPr>
          <p:cNvPr id="29" name="Text 27"/>
          <p:cNvSpPr txBox="1"/>
          <p:nvPr/>
        </p:nvSpPr>
        <p:spPr>
          <a:xfrm>
            <a:off x="6949440" y="2103120"/>
            <a:ext cx="1645920" cy="685800"/>
          </a:xfrm>
          <a:prstGeom prst="rect">
            <a:avLst/>
          </a:prstGeom>
          <a:noFill/>
          <a:ln/>
        </p:spPr>
        <p:txBody>
          <a:bodyPr wrap="square" lIns="0" tIns="0" rIns="0" bIns="0" rtlCol="0" anchor="t"/>
          <a:lstStyle/>
          <a:p>
            <a:pPr marL="0" indent="0">
              <a:buNone/>
            </a:pPr>
            <a:r>
              <a:rPr lang="en-US" sz="800" dirty="0">
                <a:solidFill>
                  <a:srgbClr val="6B4430"/>
                </a:solidFill>
                <a:latin typeface="Consolas" pitchFamily="34" charset="0"/>
                <a:ea typeface="Consolas" pitchFamily="34" charset="-122"/>
                <a:cs typeface="Consolas" pitchFamily="34" charset="-120"/>
              </a:rPr>
              <a:t>UGameAudioSubsystem</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USoundBank</a:t>
            </a:r>
            <a:endParaRPr lang="en-US" sz="800" dirty="0"/>
          </a:p>
          <a:p>
            <a:pPr marL="0" indent="0">
              <a:buNone/>
            </a:pPr>
            <a:r>
              <a:rPr lang="en-US" sz="800" dirty="0">
                <a:solidFill>
                  <a:srgbClr val="6B4430"/>
                </a:solidFill>
                <a:latin typeface="Consolas" pitchFamily="34" charset="0"/>
                <a:ea typeface="Consolas" pitchFamily="34" charset="-122"/>
                <a:cs typeface="Consolas" pitchFamily="34" charset="-120"/>
              </a:rPr>
              <a:t>AnimNotify_*Sound</a:t>
            </a:r>
            <a:endParaRPr lang="en-US" sz="800" dirty="0"/>
          </a:p>
        </p:txBody>
      </p:sp>
      <p:sp>
        <p:nvSpPr>
          <p:cNvPr id="30" name="Text 28"/>
          <p:cNvSpPr txBox="1"/>
          <p:nvPr/>
        </p:nvSpPr>
        <p:spPr>
          <a:xfrm>
            <a:off x="6949440" y="2926080"/>
            <a:ext cx="1600200" cy="164592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태그 → 뱅크 → 재생 세 층 구조</a:t>
            </a:r>
            <a:endParaRPr lang="en-US" sz="1000" dirty="0"/>
          </a:p>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바꿀 소리만 담는 오버라이드 뱅크</a:t>
            </a:r>
            <a:endParaRPr lang="en-US" sz="1000" dirty="0"/>
          </a:p>
          <a:p>
            <a:pPr marL="127000" indent="-127000">
              <a:spcAft>
                <a:spcPts val="500"/>
              </a:spcAft>
              <a:buSzPct val="100000"/>
              <a:buChar char="•"/>
            </a:pPr>
            <a:r>
              <a:rPr lang="en-US" sz="1000" dirty="0">
                <a:solidFill>
                  <a:srgbClr val="2A221D"/>
                </a:solidFill>
                <a:latin typeface="Malgun Gothic" pitchFamily="34" charset="0"/>
                <a:ea typeface="Malgun Gothic" pitchFamily="34" charset="-122"/>
                <a:cs typeface="Malgun Gothic" pitchFamily="34" charset="-120"/>
              </a:rPr>
              <a:t>맵을 넘어 이어지는 음악</a:t>
            </a:r>
            <a:endParaRPr lang="en-US" sz="1000" dirty="0"/>
          </a:p>
        </p:txBody>
      </p:sp>
    </p:spTree>
    <p:extLst>
      <p:ext uri="{BB962C8B-B14F-4D97-AF65-F5344CB8AC3E}">
        <p14:creationId xmlns:p14="http://schemas.microsoft.com/office/powerpoint/2010/main" val="1738601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PRINCIPLES</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ko-KR" altLang="en-US" sz="2400" b="1">
                <a:solidFill>
                  <a:srgbClr val="2B1B12"/>
                </a:solidFill>
                <a:latin typeface="Malgun Gothic" pitchFamily="34" charset="0"/>
                <a:ea typeface="Malgun Gothic" pitchFamily="34" charset="-122"/>
                <a:cs typeface="Malgun Gothic" pitchFamily="34" charset="-120"/>
              </a:rPr>
              <a:t>네 시스템</a:t>
            </a:r>
            <a:r>
              <a:rPr lang="en-US" sz="2400" b="1">
                <a:solidFill>
                  <a:srgbClr val="2B1B12"/>
                </a:solidFill>
                <a:latin typeface="Malgun Gothic" pitchFamily="34" charset="0"/>
                <a:ea typeface="Malgun Gothic" pitchFamily="34" charset="-122"/>
                <a:cs typeface="Malgun Gothic" pitchFamily="34" charset="-120"/>
              </a:rPr>
              <a:t>에 </a:t>
            </a:r>
            <a:r>
              <a:rPr lang="en-US" sz="2400" b="1" dirty="0">
                <a:solidFill>
                  <a:srgbClr val="2B1B12"/>
                </a:solidFill>
                <a:latin typeface="Malgun Gothic" pitchFamily="34" charset="0"/>
                <a:ea typeface="Malgun Gothic" pitchFamily="34" charset="-122"/>
                <a:cs typeface="Malgun Gothic" pitchFamily="34" charset="-120"/>
              </a:rPr>
              <a:t>공통으로 적용한 원칙</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4</a:t>
            </a:r>
            <a:endParaRPr lang="en-US" sz="900" dirty="0"/>
          </a:p>
        </p:txBody>
      </p:sp>
      <p:sp>
        <p:nvSpPr>
          <p:cNvPr id="7" name="Shape 5"/>
          <p:cNvSpPr/>
          <p:nvPr/>
        </p:nvSpPr>
        <p:spPr>
          <a:xfrm>
            <a:off x="457200" y="1280160"/>
            <a:ext cx="777240" cy="777240"/>
          </a:xfrm>
          <a:prstGeom prst="ellipse">
            <a:avLst/>
          </a:prstGeom>
          <a:solidFill>
            <a:srgbClr val="1FA88E"/>
          </a:solidFill>
          <a:ln w="12700">
            <a:solidFill>
              <a:srgbClr val="1FA88E"/>
            </a:solidFill>
            <a:prstDash val="solid"/>
          </a:ln>
        </p:spPr>
        <p:txBody>
          <a:bodyPr/>
          <a:lstStyle/>
          <a:p>
            <a:endParaRPr lang="ko-KR" altLang="en-US"/>
          </a:p>
        </p:txBody>
      </p:sp>
      <p:sp>
        <p:nvSpPr>
          <p:cNvPr id="8" name="Text 6"/>
          <p:cNvSpPr txBox="1"/>
          <p:nvPr/>
        </p:nvSpPr>
        <p:spPr>
          <a:xfrm>
            <a:off x="457200" y="1280160"/>
            <a:ext cx="77724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판정</a:t>
            </a:r>
            <a:endParaRPr lang="en-US" sz="1300" dirty="0"/>
          </a:p>
        </p:txBody>
      </p:sp>
      <p:sp>
        <p:nvSpPr>
          <p:cNvPr id="9" name="Text 7"/>
          <p:cNvSpPr txBox="1"/>
          <p:nvPr/>
        </p:nvSpPr>
        <p:spPr>
          <a:xfrm>
            <a:off x="1463040" y="1298448"/>
            <a:ext cx="7223760" cy="292608"/>
          </a:xfrm>
          <a:prstGeom prst="rect">
            <a:avLst/>
          </a:prstGeom>
          <a:noFill/>
          <a:ln/>
        </p:spPr>
        <p:txBody>
          <a:bodyPr wrap="square" lIns="0" tIns="0" rIns="0" bIns="0" rtlCol="0" anchor="t"/>
          <a:lstStyle/>
          <a:p>
            <a:pPr marL="0" indent="0">
              <a:buNone/>
            </a:pPr>
            <a:r>
              <a:rPr lang="en-US" sz="1500" b="1" dirty="0">
                <a:solidFill>
                  <a:srgbClr val="2B1B12"/>
                </a:solidFill>
                <a:latin typeface="Malgun Gothic" pitchFamily="34" charset="0"/>
                <a:ea typeface="Malgun Gothic" pitchFamily="34" charset="-122"/>
                <a:cs typeface="Malgun Gothic" pitchFamily="34" charset="-120"/>
              </a:rPr>
              <a:t>판정은 서버만 하고 연출은 각자 한다</a:t>
            </a:r>
            <a:endParaRPr lang="en-US" sz="1500" dirty="0"/>
          </a:p>
        </p:txBody>
      </p:sp>
      <p:sp>
        <p:nvSpPr>
          <p:cNvPr id="10" name="Text 8"/>
          <p:cNvSpPr txBox="1"/>
          <p:nvPr/>
        </p:nvSpPr>
        <p:spPr>
          <a:xfrm>
            <a:off x="1463040" y="1627632"/>
            <a:ext cx="7223760" cy="548640"/>
          </a:xfrm>
          <a:prstGeom prst="rect">
            <a:avLst/>
          </a:prstGeom>
          <a:noFill/>
          <a:ln/>
        </p:spPr>
        <p:txBody>
          <a:bodyPr wrap="square" lIns="0" tIns="0" rIns="0" bIns="0" rtlCol="0" anchor="t"/>
          <a:lstStyle/>
          <a:p>
            <a:pPr marL="0" indent="0">
              <a:buNone/>
            </a:pPr>
            <a:r>
              <a:rPr lang="en-US" sz="1150" dirty="0">
                <a:solidFill>
                  <a:srgbClr val="6E655F"/>
                </a:solidFill>
                <a:latin typeface="Malgun Gothic" pitchFamily="34" charset="0"/>
                <a:ea typeface="Malgun Gothic" pitchFamily="34" charset="-122"/>
                <a:cs typeface="Malgun Gothic" pitchFamily="34" charset="-120"/>
              </a:rPr>
              <a:t>서버의 탄만 칠하고 다른 머신의 탄은 연출이다. 아이템 연출과 소리는 RPC 없이 복제된 태그를 보고 각 머신이 로컬로 켠다.</a:t>
            </a:r>
            <a:endParaRPr lang="en-US" sz="1150" dirty="0"/>
          </a:p>
        </p:txBody>
      </p:sp>
      <p:sp>
        <p:nvSpPr>
          <p:cNvPr id="11" name="Shape 9"/>
          <p:cNvSpPr/>
          <p:nvPr/>
        </p:nvSpPr>
        <p:spPr>
          <a:xfrm>
            <a:off x="457200" y="2423160"/>
            <a:ext cx="777240" cy="777240"/>
          </a:xfrm>
          <a:prstGeom prst="ellipse">
            <a:avLst/>
          </a:prstGeom>
          <a:solidFill>
            <a:srgbClr val="6B4430"/>
          </a:solidFill>
          <a:ln w="12700">
            <a:solidFill>
              <a:srgbClr val="6B4430"/>
            </a:solidFill>
            <a:prstDash val="solid"/>
          </a:ln>
        </p:spPr>
        <p:txBody>
          <a:bodyPr/>
          <a:lstStyle/>
          <a:p>
            <a:endParaRPr lang="ko-KR" altLang="en-US"/>
          </a:p>
        </p:txBody>
      </p:sp>
      <p:sp>
        <p:nvSpPr>
          <p:cNvPr id="12" name="Text 10"/>
          <p:cNvSpPr txBox="1"/>
          <p:nvPr/>
        </p:nvSpPr>
        <p:spPr>
          <a:xfrm>
            <a:off x="457200" y="2423160"/>
            <a:ext cx="77724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의도</a:t>
            </a:r>
            <a:endParaRPr lang="en-US" sz="1300" dirty="0"/>
          </a:p>
        </p:txBody>
      </p:sp>
      <p:sp>
        <p:nvSpPr>
          <p:cNvPr id="13" name="Text 11"/>
          <p:cNvSpPr txBox="1"/>
          <p:nvPr/>
        </p:nvSpPr>
        <p:spPr>
          <a:xfrm>
            <a:off x="1463040" y="2441448"/>
            <a:ext cx="7223760" cy="292608"/>
          </a:xfrm>
          <a:prstGeom prst="rect">
            <a:avLst/>
          </a:prstGeom>
          <a:noFill/>
          <a:ln/>
        </p:spPr>
        <p:txBody>
          <a:bodyPr wrap="square" lIns="0" tIns="0" rIns="0" bIns="0" rtlCol="0" anchor="t"/>
          <a:lstStyle/>
          <a:p>
            <a:pPr marL="0" indent="0">
              <a:buNone/>
            </a:pPr>
            <a:r>
              <a:rPr lang="en-US" sz="1500" b="1" dirty="0">
                <a:solidFill>
                  <a:srgbClr val="2B1B12"/>
                </a:solidFill>
                <a:latin typeface="Malgun Gothic" pitchFamily="34" charset="0"/>
                <a:ea typeface="Malgun Gothic" pitchFamily="34" charset="-122"/>
                <a:cs typeface="Malgun Gothic" pitchFamily="34" charset="-120"/>
              </a:rPr>
              <a:t>값 대신 의도를 보내고 계산은 양쪽이 같은 식으로 한다</a:t>
            </a:r>
            <a:endParaRPr lang="en-US" sz="1500" dirty="0"/>
          </a:p>
        </p:txBody>
      </p:sp>
      <p:sp>
        <p:nvSpPr>
          <p:cNvPr id="14" name="Text 12"/>
          <p:cNvSpPr txBox="1"/>
          <p:nvPr/>
        </p:nvSpPr>
        <p:spPr>
          <a:xfrm>
            <a:off x="1463040" y="2770632"/>
            <a:ext cx="7223760" cy="548640"/>
          </a:xfrm>
          <a:prstGeom prst="rect">
            <a:avLst/>
          </a:prstGeom>
          <a:noFill/>
          <a:ln/>
        </p:spPr>
        <p:txBody>
          <a:bodyPr wrap="square" lIns="0" tIns="0" rIns="0" bIns="0" rtlCol="0" anchor="t"/>
          <a:lstStyle/>
          <a:p>
            <a:pPr marL="0" indent="0">
              <a:buNone/>
            </a:pPr>
            <a:r>
              <a:rPr lang="en-US" sz="1150" dirty="0">
                <a:solidFill>
                  <a:srgbClr val="6E655F"/>
                </a:solidFill>
                <a:latin typeface="Malgun Gothic" pitchFamily="34" charset="0"/>
                <a:ea typeface="Malgun Gothic" pitchFamily="34" charset="-122"/>
                <a:cs typeface="Malgun Gothic" pitchFamily="34" charset="-120"/>
              </a:rPr>
              <a:t>대시와 부스트는 MaxWalkSpeed를 바꾸지 않고 압축 플래그만 보낸다. 서버와 보정 재생이 같은 속도를 계산해 고무줄 현상이 없다.</a:t>
            </a:r>
            <a:endParaRPr lang="en-US" sz="1150" dirty="0"/>
          </a:p>
        </p:txBody>
      </p:sp>
      <p:sp>
        <p:nvSpPr>
          <p:cNvPr id="15" name="Shape 13"/>
          <p:cNvSpPr/>
          <p:nvPr/>
        </p:nvSpPr>
        <p:spPr>
          <a:xfrm>
            <a:off x="457200" y="3566160"/>
            <a:ext cx="777240" cy="777240"/>
          </a:xfrm>
          <a:prstGeom prst="ellipse">
            <a:avLst/>
          </a:prstGeom>
          <a:solidFill>
            <a:srgbClr val="1FA88E"/>
          </a:solidFill>
          <a:ln w="12700">
            <a:solidFill>
              <a:srgbClr val="1FA88E"/>
            </a:solidFill>
            <a:prstDash val="solid"/>
          </a:ln>
        </p:spPr>
        <p:txBody>
          <a:bodyPr/>
          <a:lstStyle/>
          <a:p>
            <a:endParaRPr lang="ko-KR" altLang="en-US"/>
          </a:p>
        </p:txBody>
      </p:sp>
      <p:sp>
        <p:nvSpPr>
          <p:cNvPr id="16" name="Text 14"/>
          <p:cNvSpPr txBox="1"/>
          <p:nvPr/>
        </p:nvSpPr>
        <p:spPr>
          <a:xfrm>
            <a:off x="457200" y="3566160"/>
            <a:ext cx="77724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데이터</a:t>
            </a:r>
            <a:endParaRPr lang="en-US" sz="1300" dirty="0"/>
          </a:p>
        </p:txBody>
      </p:sp>
      <p:sp>
        <p:nvSpPr>
          <p:cNvPr id="17" name="Text 15"/>
          <p:cNvSpPr txBox="1"/>
          <p:nvPr/>
        </p:nvSpPr>
        <p:spPr>
          <a:xfrm>
            <a:off x="1463040" y="3584448"/>
            <a:ext cx="7223760" cy="292608"/>
          </a:xfrm>
          <a:prstGeom prst="rect">
            <a:avLst/>
          </a:prstGeom>
          <a:noFill/>
          <a:ln/>
        </p:spPr>
        <p:txBody>
          <a:bodyPr wrap="square" lIns="0" tIns="0" rIns="0" bIns="0" rtlCol="0" anchor="t"/>
          <a:lstStyle/>
          <a:p>
            <a:pPr marL="0" indent="0">
              <a:buNone/>
            </a:pPr>
            <a:r>
              <a:rPr lang="en-US" sz="1500" b="1" dirty="0">
                <a:solidFill>
                  <a:srgbClr val="2B1B12"/>
                </a:solidFill>
                <a:latin typeface="Malgun Gothic" pitchFamily="34" charset="0"/>
                <a:ea typeface="Malgun Gothic" pitchFamily="34" charset="-122"/>
                <a:cs typeface="Malgun Gothic" pitchFamily="34" charset="-120"/>
              </a:rPr>
              <a:t>확장은 에셋으로 하고 코드에는 분기를 두지 않는다</a:t>
            </a:r>
            <a:endParaRPr lang="en-US" sz="1500" dirty="0"/>
          </a:p>
        </p:txBody>
      </p:sp>
      <p:sp>
        <p:nvSpPr>
          <p:cNvPr id="18" name="Text 16"/>
          <p:cNvSpPr txBox="1"/>
          <p:nvPr/>
        </p:nvSpPr>
        <p:spPr>
          <a:xfrm>
            <a:off x="1463040" y="3913632"/>
            <a:ext cx="7223760" cy="548640"/>
          </a:xfrm>
          <a:prstGeom prst="rect">
            <a:avLst/>
          </a:prstGeom>
          <a:noFill/>
          <a:ln/>
        </p:spPr>
        <p:txBody>
          <a:bodyPr wrap="square" lIns="0" tIns="0" rIns="0" bIns="0" rtlCol="0" anchor="t"/>
          <a:lstStyle/>
          <a:p>
            <a:pPr marL="0" indent="0">
              <a:buNone/>
            </a:pPr>
            <a:r>
              <a:rPr lang="en-US" sz="1150" dirty="0">
                <a:solidFill>
                  <a:srgbClr val="6E655F"/>
                </a:solidFill>
                <a:latin typeface="Malgun Gothic" pitchFamily="34" charset="0"/>
                <a:ea typeface="Malgun Gothic" pitchFamily="34" charset="-122"/>
                <a:cs typeface="Malgun Gothic" pitchFamily="34" charset="-120"/>
              </a:rPr>
              <a:t>캐릭터는 UUnitDataAsset 하나, 아이템은 Profile + Ability 한 쌍이다. AUnit 안에 "민트인가?"를 묻는 분기는 없다.</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ARCHITECTURE</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층은 수명으로 나눴다</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5</a:t>
            </a:r>
            <a:endParaRPr lang="en-US" sz="900" dirty="0"/>
          </a:p>
        </p:txBody>
      </p:sp>
      <p:sp>
        <p:nvSpPr>
          <p:cNvPr id="7" name="Shape 5"/>
          <p:cNvSpPr/>
          <p:nvPr/>
        </p:nvSpPr>
        <p:spPr>
          <a:xfrm>
            <a:off x="457200" y="1188720"/>
            <a:ext cx="8229600" cy="676656"/>
          </a:xfrm>
          <a:prstGeom prst="roundRect">
            <a:avLst>
              <a:gd name="adj" fmla="val 8108"/>
            </a:avLst>
          </a:prstGeom>
          <a:solidFill>
            <a:srgbClr val="EFEEEC"/>
          </a:solidFill>
          <a:ln w="12700">
            <a:solidFill>
              <a:srgbClr val="EFEEEC"/>
            </a:solidFill>
            <a:prstDash val="solid"/>
          </a:ln>
        </p:spPr>
      </p:sp>
      <p:sp>
        <p:nvSpPr>
          <p:cNvPr id="8" name="Text 6"/>
          <p:cNvSpPr txBox="1"/>
          <p:nvPr/>
        </p:nvSpPr>
        <p:spPr>
          <a:xfrm>
            <a:off x="566928" y="1325880"/>
            <a:ext cx="1051560" cy="219456"/>
          </a:xfrm>
          <a:prstGeom prst="rect">
            <a:avLst/>
          </a:prstGeom>
          <a:noFill/>
          <a:ln/>
        </p:spPr>
        <p:txBody>
          <a:bodyPr wrap="square" lIns="0" tIns="0" rIns="0" bIns="0" rtlCol="0" anchor="t"/>
          <a:lstStyle/>
          <a:p>
            <a:pPr marL="0" indent="0">
              <a:buNone/>
            </a:pPr>
            <a:r>
              <a:rPr lang="en-US" sz="1100" b="1" dirty="0">
                <a:solidFill>
                  <a:srgbClr val="2B1B12"/>
                </a:solidFill>
                <a:latin typeface="Malgun Gothic" pitchFamily="34" charset="0"/>
                <a:ea typeface="Malgun Gothic" pitchFamily="34" charset="-122"/>
                <a:cs typeface="Malgun Gothic" pitchFamily="34" charset="-120"/>
              </a:rPr>
              <a:t>GameInstance</a:t>
            </a:r>
            <a:endParaRPr lang="en-US" sz="1100" dirty="0"/>
          </a:p>
        </p:txBody>
      </p:sp>
      <p:sp>
        <p:nvSpPr>
          <p:cNvPr id="9" name="Text 7"/>
          <p:cNvSpPr txBox="1"/>
          <p:nvPr/>
        </p:nvSpPr>
        <p:spPr>
          <a:xfrm>
            <a:off x="566928" y="1545336"/>
            <a:ext cx="1051560" cy="201168"/>
          </a:xfrm>
          <a:prstGeom prst="rect">
            <a:avLst/>
          </a:prstGeom>
          <a:noFill/>
          <a:ln/>
        </p:spPr>
        <p:txBody>
          <a:bodyPr wrap="square" lIns="0" tIns="0" rIns="0" bIns="0" rtlCol="0" anchor="t"/>
          <a:lstStyle/>
          <a:p>
            <a:pPr marL="0" indent="0">
              <a:buNone/>
            </a:pPr>
            <a:r>
              <a:rPr lang="en-US" sz="850" dirty="0">
                <a:solidFill>
                  <a:srgbClr val="6E655F"/>
                </a:solidFill>
                <a:latin typeface="Malgun Gothic" pitchFamily="34" charset="0"/>
                <a:ea typeface="Malgun Gothic" pitchFamily="34" charset="-122"/>
                <a:cs typeface="Malgun Gothic" pitchFamily="34" charset="-120"/>
              </a:rPr>
              <a:t>맵을 넘어 산다</a:t>
            </a:r>
            <a:endParaRPr lang="en-US" sz="850" dirty="0"/>
          </a:p>
        </p:txBody>
      </p:sp>
      <p:sp>
        <p:nvSpPr>
          <p:cNvPr id="10" name="Shape 8"/>
          <p:cNvSpPr/>
          <p:nvPr/>
        </p:nvSpPr>
        <p:spPr>
          <a:xfrm>
            <a:off x="457200" y="1920240"/>
            <a:ext cx="8229600" cy="1097280"/>
          </a:xfrm>
          <a:prstGeom prst="roundRect">
            <a:avLst>
              <a:gd name="adj" fmla="val 5000"/>
            </a:avLst>
          </a:prstGeom>
          <a:solidFill>
            <a:srgbClr val="EFEEEC"/>
          </a:solidFill>
          <a:ln w="12700">
            <a:solidFill>
              <a:srgbClr val="EFEEEC"/>
            </a:solidFill>
            <a:prstDash val="solid"/>
          </a:ln>
        </p:spPr>
      </p:sp>
      <p:sp>
        <p:nvSpPr>
          <p:cNvPr id="11" name="Text 9"/>
          <p:cNvSpPr txBox="1"/>
          <p:nvPr/>
        </p:nvSpPr>
        <p:spPr>
          <a:xfrm>
            <a:off x="566928" y="2267712"/>
            <a:ext cx="1051560" cy="219456"/>
          </a:xfrm>
          <a:prstGeom prst="rect">
            <a:avLst/>
          </a:prstGeom>
          <a:noFill/>
          <a:ln/>
        </p:spPr>
        <p:txBody>
          <a:bodyPr wrap="square" lIns="0" tIns="0" rIns="0" bIns="0" rtlCol="0" anchor="t"/>
          <a:lstStyle/>
          <a:p>
            <a:pPr marL="0" indent="0">
              <a:buNone/>
            </a:pPr>
            <a:r>
              <a:rPr lang="en-US" sz="1100" b="1" dirty="0">
                <a:solidFill>
                  <a:srgbClr val="2B1B12"/>
                </a:solidFill>
                <a:latin typeface="Malgun Gothic" pitchFamily="34" charset="0"/>
                <a:ea typeface="Malgun Gothic" pitchFamily="34" charset="-122"/>
                <a:cs typeface="Malgun Gothic" pitchFamily="34" charset="-120"/>
              </a:rPr>
              <a:t>World</a:t>
            </a:r>
            <a:endParaRPr lang="en-US" sz="1100" dirty="0"/>
          </a:p>
        </p:txBody>
      </p:sp>
      <p:sp>
        <p:nvSpPr>
          <p:cNvPr id="12" name="Text 10"/>
          <p:cNvSpPr txBox="1"/>
          <p:nvPr/>
        </p:nvSpPr>
        <p:spPr>
          <a:xfrm>
            <a:off x="566928" y="2487168"/>
            <a:ext cx="1051560" cy="201168"/>
          </a:xfrm>
          <a:prstGeom prst="rect">
            <a:avLst/>
          </a:prstGeom>
          <a:noFill/>
          <a:ln/>
        </p:spPr>
        <p:txBody>
          <a:bodyPr wrap="square" lIns="0" tIns="0" rIns="0" bIns="0" rtlCol="0" anchor="t"/>
          <a:lstStyle/>
          <a:p>
            <a:pPr marL="0" indent="0">
              <a:buNone/>
            </a:pPr>
            <a:r>
              <a:rPr lang="en-US" sz="850" dirty="0">
                <a:solidFill>
                  <a:srgbClr val="6E655F"/>
                </a:solidFill>
                <a:latin typeface="Malgun Gothic" pitchFamily="34" charset="0"/>
                <a:ea typeface="Malgun Gothic" pitchFamily="34" charset="-122"/>
                <a:cs typeface="Malgun Gothic" pitchFamily="34" charset="-120"/>
              </a:rPr>
              <a:t>맵마다 새로</a:t>
            </a:r>
            <a:endParaRPr lang="en-US" sz="850" dirty="0"/>
          </a:p>
        </p:txBody>
      </p:sp>
      <p:sp>
        <p:nvSpPr>
          <p:cNvPr id="13" name="Shape 11"/>
          <p:cNvSpPr/>
          <p:nvPr/>
        </p:nvSpPr>
        <p:spPr>
          <a:xfrm>
            <a:off x="457200" y="3072384"/>
            <a:ext cx="8229600" cy="804672"/>
          </a:xfrm>
          <a:prstGeom prst="roundRect">
            <a:avLst>
              <a:gd name="adj" fmla="val 6818"/>
            </a:avLst>
          </a:prstGeom>
          <a:solidFill>
            <a:srgbClr val="EFEEEC"/>
          </a:solidFill>
          <a:ln w="12700">
            <a:solidFill>
              <a:srgbClr val="EFEEEC"/>
            </a:solidFill>
            <a:prstDash val="solid"/>
          </a:ln>
        </p:spPr>
      </p:sp>
      <p:sp>
        <p:nvSpPr>
          <p:cNvPr id="14" name="Text 12"/>
          <p:cNvSpPr txBox="1"/>
          <p:nvPr/>
        </p:nvSpPr>
        <p:spPr>
          <a:xfrm>
            <a:off x="566928" y="3273552"/>
            <a:ext cx="1051560" cy="219456"/>
          </a:xfrm>
          <a:prstGeom prst="rect">
            <a:avLst/>
          </a:prstGeom>
          <a:noFill/>
          <a:ln/>
        </p:spPr>
        <p:txBody>
          <a:bodyPr wrap="square" lIns="0" tIns="0" rIns="0" bIns="0" rtlCol="0" anchor="t"/>
          <a:lstStyle/>
          <a:p>
            <a:pPr marL="0" indent="0">
              <a:buNone/>
            </a:pPr>
            <a:r>
              <a:rPr lang="en-US" sz="1100" b="1" dirty="0">
                <a:solidFill>
                  <a:srgbClr val="2B1B12"/>
                </a:solidFill>
                <a:latin typeface="Malgun Gothic" pitchFamily="34" charset="0"/>
                <a:ea typeface="Malgun Gothic" pitchFamily="34" charset="-122"/>
                <a:cs typeface="Malgun Gothic" pitchFamily="34" charset="-120"/>
              </a:rPr>
              <a:t>Actor</a:t>
            </a:r>
            <a:endParaRPr lang="en-US" sz="1100" dirty="0"/>
          </a:p>
        </p:txBody>
      </p:sp>
      <p:sp>
        <p:nvSpPr>
          <p:cNvPr id="15" name="Text 13"/>
          <p:cNvSpPr txBox="1"/>
          <p:nvPr/>
        </p:nvSpPr>
        <p:spPr>
          <a:xfrm>
            <a:off x="566928" y="3493008"/>
            <a:ext cx="1051560" cy="201168"/>
          </a:xfrm>
          <a:prstGeom prst="rect">
            <a:avLst/>
          </a:prstGeom>
          <a:noFill/>
          <a:ln/>
        </p:spPr>
        <p:txBody>
          <a:bodyPr wrap="square" lIns="0" tIns="0" rIns="0" bIns="0" rtlCol="0" anchor="t"/>
          <a:lstStyle/>
          <a:p>
            <a:pPr marL="0" indent="0">
              <a:buNone/>
            </a:pPr>
            <a:r>
              <a:rPr lang="en-US" sz="850" dirty="0">
                <a:solidFill>
                  <a:srgbClr val="6E655F"/>
                </a:solidFill>
                <a:latin typeface="Malgun Gothic" pitchFamily="34" charset="0"/>
                <a:ea typeface="Malgun Gothic" pitchFamily="34" charset="-122"/>
                <a:cs typeface="Malgun Gothic" pitchFamily="34" charset="-120"/>
              </a:rPr>
              <a:t>컴포넌트 조합</a:t>
            </a:r>
            <a:endParaRPr lang="en-US" sz="850" dirty="0"/>
          </a:p>
        </p:txBody>
      </p:sp>
      <p:sp>
        <p:nvSpPr>
          <p:cNvPr id="16" name="Shape 14"/>
          <p:cNvSpPr/>
          <p:nvPr/>
        </p:nvSpPr>
        <p:spPr>
          <a:xfrm>
            <a:off x="457200" y="3931920"/>
            <a:ext cx="8229600" cy="603504"/>
          </a:xfrm>
          <a:prstGeom prst="roundRect">
            <a:avLst>
              <a:gd name="adj" fmla="val 9091"/>
            </a:avLst>
          </a:prstGeom>
          <a:solidFill>
            <a:srgbClr val="EFEEEC"/>
          </a:solidFill>
          <a:ln w="12700">
            <a:solidFill>
              <a:srgbClr val="EFEEEC"/>
            </a:solidFill>
            <a:prstDash val="solid"/>
          </a:ln>
        </p:spPr>
      </p:sp>
      <p:sp>
        <p:nvSpPr>
          <p:cNvPr id="17" name="Text 15"/>
          <p:cNvSpPr txBox="1"/>
          <p:nvPr/>
        </p:nvSpPr>
        <p:spPr>
          <a:xfrm>
            <a:off x="566928" y="4032504"/>
            <a:ext cx="1051560" cy="219456"/>
          </a:xfrm>
          <a:prstGeom prst="rect">
            <a:avLst/>
          </a:prstGeom>
          <a:noFill/>
          <a:ln/>
        </p:spPr>
        <p:txBody>
          <a:bodyPr wrap="square" lIns="0" tIns="0" rIns="0" bIns="0" rtlCol="0" anchor="t"/>
          <a:lstStyle/>
          <a:p>
            <a:pPr marL="0" indent="0">
              <a:buNone/>
            </a:pPr>
            <a:r>
              <a:rPr lang="en-US" sz="1100" b="1" dirty="0">
                <a:solidFill>
                  <a:srgbClr val="2B1B12"/>
                </a:solidFill>
                <a:latin typeface="Malgun Gothic" pitchFamily="34" charset="0"/>
                <a:ea typeface="Malgun Gothic" pitchFamily="34" charset="-122"/>
                <a:cs typeface="Malgun Gothic" pitchFamily="34" charset="-120"/>
              </a:rPr>
              <a:t>Data</a:t>
            </a:r>
            <a:endParaRPr lang="en-US" sz="1100" dirty="0"/>
          </a:p>
        </p:txBody>
      </p:sp>
      <p:sp>
        <p:nvSpPr>
          <p:cNvPr id="18" name="Text 16"/>
          <p:cNvSpPr txBox="1"/>
          <p:nvPr/>
        </p:nvSpPr>
        <p:spPr>
          <a:xfrm>
            <a:off x="566928" y="4251960"/>
            <a:ext cx="1051560" cy="201168"/>
          </a:xfrm>
          <a:prstGeom prst="rect">
            <a:avLst/>
          </a:prstGeom>
          <a:noFill/>
          <a:ln/>
        </p:spPr>
        <p:txBody>
          <a:bodyPr wrap="square" lIns="0" tIns="0" rIns="0" bIns="0" rtlCol="0" anchor="t"/>
          <a:lstStyle/>
          <a:p>
            <a:pPr marL="0" indent="0">
              <a:buNone/>
            </a:pPr>
            <a:r>
              <a:rPr lang="en-US" sz="850" dirty="0">
                <a:solidFill>
                  <a:srgbClr val="6E655F"/>
                </a:solidFill>
                <a:latin typeface="Malgun Gothic" pitchFamily="34" charset="0"/>
                <a:ea typeface="Malgun Gothic" pitchFamily="34" charset="-122"/>
                <a:cs typeface="Malgun Gothic" pitchFamily="34" charset="-120"/>
              </a:rPr>
              <a:t>에셋과 설정</a:t>
            </a:r>
            <a:endParaRPr lang="en-US" sz="850" dirty="0"/>
          </a:p>
        </p:txBody>
      </p:sp>
      <p:sp>
        <p:nvSpPr>
          <p:cNvPr id="19" name="Shape 17"/>
          <p:cNvSpPr/>
          <p:nvPr/>
        </p:nvSpPr>
        <p:spPr>
          <a:xfrm>
            <a:off x="1664208" y="1271016"/>
            <a:ext cx="1316736" cy="512064"/>
          </a:xfrm>
          <a:prstGeom prst="roundRect">
            <a:avLst>
              <a:gd name="adj" fmla="val 8929"/>
            </a:avLst>
          </a:prstGeom>
          <a:solidFill>
            <a:srgbClr val="E2F4EF"/>
          </a:solidFill>
          <a:ln w="9525">
            <a:solidFill>
              <a:srgbClr val="1FA88E"/>
            </a:solidFill>
            <a:prstDash val="solid"/>
          </a:ln>
        </p:spPr>
      </p:sp>
      <p:sp>
        <p:nvSpPr>
          <p:cNvPr id="20" name="Text 18"/>
          <p:cNvSpPr txBox="1"/>
          <p:nvPr/>
        </p:nvSpPr>
        <p:spPr>
          <a:xfrm>
            <a:off x="1664208" y="1316736"/>
            <a:ext cx="1316736" cy="237744"/>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OnlineSessions</a:t>
            </a:r>
            <a:endParaRPr lang="en-US" sz="900" dirty="0"/>
          </a:p>
        </p:txBody>
      </p:sp>
      <p:sp>
        <p:nvSpPr>
          <p:cNvPr id="21" name="Text 19"/>
          <p:cNvSpPr txBox="1"/>
          <p:nvPr/>
        </p:nvSpPr>
        <p:spPr>
          <a:xfrm>
            <a:off x="1664208" y="1527048"/>
            <a:ext cx="1316736" cy="210312"/>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Steam 세션</a:t>
            </a:r>
            <a:endParaRPr lang="en-US" sz="800" dirty="0"/>
          </a:p>
        </p:txBody>
      </p:sp>
      <p:sp>
        <p:nvSpPr>
          <p:cNvPr id="22" name="Shape 20"/>
          <p:cNvSpPr/>
          <p:nvPr/>
        </p:nvSpPr>
        <p:spPr>
          <a:xfrm>
            <a:off x="3054096" y="1271016"/>
            <a:ext cx="1316736" cy="512064"/>
          </a:xfrm>
          <a:prstGeom prst="roundRect">
            <a:avLst>
              <a:gd name="adj" fmla="val 8929"/>
            </a:avLst>
          </a:prstGeom>
          <a:solidFill>
            <a:srgbClr val="E2F4EF"/>
          </a:solidFill>
          <a:ln w="9525">
            <a:solidFill>
              <a:srgbClr val="1FA88E"/>
            </a:solidFill>
            <a:prstDash val="solid"/>
          </a:ln>
        </p:spPr>
      </p:sp>
      <p:sp>
        <p:nvSpPr>
          <p:cNvPr id="23" name="Text 21"/>
          <p:cNvSpPr txBox="1"/>
          <p:nvPr/>
        </p:nvSpPr>
        <p:spPr>
          <a:xfrm>
            <a:off x="3054096" y="1316736"/>
            <a:ext cx="1316736" cy="237744"/>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ScreenFade</a:t>
            </a:r>
            <a:endParaRPr lang="en-US" sz="900" dirty="0"/>
          </a:p>
        </p:txBody>
      </p:sp>
      <p:sp>
        <p:nvSpPr>
          <p:cNvPr id="24" name="Text 22"/>
          <p:cNvSpPr txBox="1"/>
          <p:nvPr/>
        </p:nvSpPr>
        <p:spPr>
          <a:xfrm>
            <a:off x="3054096" y="1527048"/>
            <a:ext cx="1316736" cy="210312"/>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가림막 · 홀드</a:t>
            </a:r>
            <a:endParaRPr lang="en-US" sz="800" dirty="0"/>
          </a:p>
        </p:txBody>
      </p:sp>
      <p:sp>
        <p:nvSpPr>
          <p:cNvPr id="25" name="Shape 23"/>
          <p:cNvSpPr/>
          <p:nvPr/>
        </p:nvSpPr>
        <p:spPr>
          <a:xfrm>
            <a:off x="4443984" y="1271016"/>
            <a:ext cx="1316736" cy="512064"/>
          </a:xfrm>
          <a:prstGeom prst="roundRect">
            <a:avLst>
              <a:gd name="adj" fmla="val 8929"/>
            </a:avLst>
          </a:prstGeom>
          <a:solidFill>
            <a:srgbClr val="E2F4EF"/>
          </a:solidFill>
          <a:ln w="9525">
            <a:solidFill>
              <a:srgbClr val="1FA88E"/>
            </a:solidFill>
            <a:prstDash val="solid"/>
          </a:ln>
        </p:spPr>
      </p:sp>
      <p:sp>
        <p:nvSpPr>
          <p:cNvPr id="26" name="Text 24"/>
          <p:cNvSpPr txBox="1"/>
          <p:nvPr/>
        </p:nvSpPr>
        <p:spPr>
          <a:xfrm>
            <a:off x="4443984" y="1316736"/>
            <a:ext cx="1316736" cy="237744"/>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GameAudio</a:t>
            </a:r>
            <a:endParaRPr lang="en-US" sz="900" dirty="0"/>
          </a:p>
        </p:txBody>
      </p:sp>
      <p:sp>
        <p:nvSpPr>
          <p:cNvPr id="27" name="Text 25"/>
          <p:cNvSpPr txBox="1"/>
          <p:nvPr/>
        </p:nvSpPr>
        <p:spPr>
          <a:xfrm>
            <a:off x="4443984" y="1527048"/>
            <a:ext cx="1316736" cy="210312"/>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소리 · 음악</a:t>
            </a:r>
            <a:endParaRPr lang="en-US" sz="800" dirty="0"/>
          </a:p>
        </p:txBody>
      </p:sp>
      <p:sp>
        <p:nvSpPr>
          <p:cNvPr id="28" name="Shape 26"/>
          <p:cNvSpPr/>
          <p:nvPr/>
        </p:nvSpPr>
        <p:spPr>
          <a:xfrm>
            <a:off x="5833872" y="1271016"/>
            <a:ext cx="1316736" cy="512064"/>
          </a:xfrm>
          <a:prstGeom prst="roundRect">
            <a:avLst>
              <a:gd name="adj" fmla="val 8929"/>
            </a:avLst>
          </a:prstGeom>
          <a:solidFill>
            <a:srgbClr val="E2F4EF"/>
          </a:solidFill>
          <a:ln w="9525">
            <a:solidFill>
              <a:srgbClr val="1FA88E"/>
            </a:solidFill>
            <a:prstDash val="solid"/>
          </a:ln>
        </p:spPr>
      </p:sp>
      <p:sp>
        <p:nvSpPr>
          <p:cNvPr id="29" name="Text 27"/>
          <p:cNvSpPr txBox="1"/>
          <p:nvPr/>
        </p:nvSpPr>
        <p:spPr>
          <a:xfrm>
            <a:off x="5833872" y="1316736"/>
            <a:ext cx="1316736" cy="237744"/>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Warmup</a:t>
            </a:r>
            <a:endParaRPr lang="en-US" sz="900" dirty="0"/>
          </a:p>
        </p:txBody>
      </p:sp>
      <p:sp>
        <p:nvSpPr>
          <p:cNvPr id="30" name="Text 28"/>
          <p:cNvSpPr txBox="1"/>
          <p:nvPr/>
        </p:nvSpPr>
        <p:spPr>
          <a:xfrm>
            <a:off x="5833872" y="1527048"/>
            <a:ext cx="1316736" cy="210312"/>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프리로드 · PSO</a:t>
            </a:r>
            <a:endParaRPr lang="en-US" sz="800" dirty="0"/>
          </a:p>
        </p:txBody>
      </p:sp>
      <p:sp>
        <p:nvSpPr>
          <p:cNvPr id="31" name="Shape 29"/>
          <p:cNvSpPr/>
          <p:nvPr/>
        </p:nvSpPr>
        <p:spPr>
          <a:xfrm>
            <a:off x="7223760" y="1271016"/>
            <a:ext cx="1316736" cy="512064"/>
          </a:xfrm>
          <a:prstGeom prst="roundRect">
            <a:avLst>
              <a:gd name="adj" fmla="val 8929"/>
            </a:avLst>
          </a:prstGeom>
          <a:solidFill>
            <a:srgbClr val="E2F4EF"/>
          </a:solidFill>
          <a:ln w="9525">
            <a:solidFill>
              <a:srgbClr val="1FA88E"/>
            </a:solidFill>
            <a:prstDash val="solid"/>
          </a:ln>
        </p:spPr>
      </p:sp>
      <p:sp>
        <p:nvSpPr>
          <p:cNvPr id="32" name="Text 30"/>
          <p:cNvSpPr txBox="1"/>
          <p:nvPr/>
        </p:nvSpPr>
        <p:spPr>
          <a:xfrm>
            <a:off x="7223760" y="1316736"/>
            <a:ext cx="1316736" cy="237744"/>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NetAssetRetainer</a:t>
            </a:r>
            <a:endParaRPr lang="en-US" sz="900" dirty="0"/>
          </a:p>
        </p:txBody>
      </p:sp>
      <p:sp>
        <p:nvSpPr>
          <p:cNvPr id="33" name="Text 31"/>
          <p:cNvSpPr txBox="1"/>
          <p:nvPr/>
        </p:nvSpPr>
        <p:spPr>
          <a:xfrm>
            <a:off x="7223760" y="1527048"/>
            <a:ext cx="1316736" cy="210312"/>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복제 에셋 보존</a:t>
            </a:r>
            <a:endParaRPr lang="en-US" sz="800" dirty="0"/>
          </a:p>
        </p:txBody>
      </p:sp>
      <p:sp>
        <p:nvSpPr>
          <p:cNvPr id="34" name="Shape 32"/>
          <p:cNvSpPr/>
          <p:nvPr/>
        </p:nvSpPr>
        <p:spPr>
          <a:xfrm>
            <a:off x="1664208" y="1993392"/>
            <a:ext cx="2240280" cy="420624"/>
          </a:xfrm>
          <a:prstGeom prst="roundRect">
            <a:avLst>
              <a:gd name="adj" fmla="val 10870"/>
            </a:avLst>
          </a:prstGeom>
          <a:solidFill>
            <a:srgbClr val="F3ECE6"/>
          </a:solidFill>
          <a:ln w="9525">
            <a:solidFill>
              <a:srgbClr val="6B4430"/>
            </a:solidFill>
            <a:prstDash val="solid"/>
          </a:ln>
        </p:spPr>
      </p:sp>
      <p:sp>
        <p:nvSpPr>
          <p:cNvPr id="35" name="Text 33"/>
          <p:cNvSpPr txBox="1"/>
          <p:nvPr/>
        </p:nvSpPr>
        <p:spPr>
          <a:xfrm>
            <a:off x="1664208" y="2039112"/>
            <a:ext cx="2240280" cy="192024"/>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GameMode</a:t>
            </a:r>
            <a:endParaRPr lang="en-US" sz="900" dirty="0"/>
          </a:p>
        </p:txBody>
      </p:sp>
      <p:sp>
        <p:nvSpPr>
          <p:cNvPr id="36" name="Text 34"/>
          <p:cNvSpPr txBox="1"/>
          <p:nvPr/>
        </p:nvSpPr>
        <p:spPr>
          <a:xfrm>
            <a:off x="1664208" y="2203704"/>
            <a:ext cx="2240280" cy="164592"/>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팀 배정 · 스폰 · 아이템 스폰</a:t>
            </a:r>
            <a:endParaRPr lang="en-US" sz="800" dirty="0"/>
          </a:p>
        </p:txBody>
      </p:sp>
      <p:sp>
        <p:nvSpPr>
          <p:cNvPr id="37" name="Shape 35"/>
          <p:cNvSpPr/>
          <p:nvPr/>
        </p:nvSpPr>
        <p:spPr>
          <a:xfrm>
            <a:off x="3977640" y="1993392"/>
            <a:ext cx="2240280" cy="420624"/>
          </a:xfrm>
          <a:prstGeom prst="roundRect">
            <a:avLst>
              <a:gd name="adj" fmla="val 10870"/>
            </a:avLst>
          </a:prstGeom>
          <a:solidFill>
            <a:srgbClr val="F3ECE6"/>
          </a:solidFill>
          <a:ln w="9525">
            <a:solidFill>
              <a:srgbClr val="6B4430"/>
            </a:solidFill>
            <a:prstDash val="solid"/>
          </a:ln>
        </p:spPr>
      </p:sp>
      <p:sp>
        <p:nvSpPr>
          <p:cNvPr id="38" name="Text 36"/>
          <p:cNvSpPr txBox="1"/>
          <p:nvPr/>
        </p:nvSpPr>
        <p:spPr>
          <a:xfrm>
            <a:off x="3977640" y="2039112"/>
            <a:ext cx="2240280" cy="192024"/>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GameState</a:t>
            </a:r>
            <a:endParaRPr lang="en-US" sz="900" dirty="0"/>
          </a:p>
        </p:txBody>
      </p:sp>
      <p:sp>
        <p:nvSpPr>
          <p:cNvPr id="39" name="Text 37"/>
          <p:cNvSpPr txBox="1"/>
          <p:nvPr/>
        </p:nvSpPr>
        <p:spPr>
          <a:xfrm>
            <a:off x="3977640" y="2203704"/>
            <a:ext cx="2240280" cy="164592"/>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경기 단계 · 결과 (복제)</a:t>
            </a:r>
            <a:endParaRPr lang="en-US" sz="800" dirty="0"/>
          </a:p>
        </p:txBody>
      </p:sp>
      <p:sp>
        <p:nvSpPr>
          <p:cNvPr id="40" name="Shape 38"/>
          <p:cNvSpPr/>
          <p:nvPr/>
        </p:nvSpPr>
        <p:spPr>
          <a:xfrm>
            <a:off x="6291072" y="1993392"/>
            <a:ext cx="2240280" cy="420624"/>
          </a:xfrm>
          <a:prstGeom prst="roundRect">
            <a:avLst>
              <a:gd name="adj" fmla="val 10870"/>
            </a:avLst>
          </a:prstGeom>
          <a:solidFill>
            <a:srgbClr val="F3ECE6"/>
          </a:solidFill>
          <a:ln w="9525">
            <a:solidFill>
              <a:srgbClr val="6B4430"/>
            </a:solidFill>
            <a:prstDash val="solid"/>
          </a:ln>
        </p:spPr>
      </p:sp>
      <p:sp>
        <p:nvSpPr>
          <p:cNvPr id="41" name="Text 39"/>
          <p:cNvSpPr txBox="1"/>
          <p:nvPr/>
        </p:nvSpPr>
        <p:spPr>
          <a:xfrm>
            <a:off x="6291072" y="2039112"/>
            <a:ext cx="2240280" cy="192024"/>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PlayerState</a:t>
            </a:r>
            <a:endParaRPr lang="en-US" sz="900" dirty="0"/>
          </a:p>
        </p:txBody>
      </p:sp>
      <p:sp>
        <p:nvSpPr>
          <p:cNvPr id="42" name="Text 40"/>
          <p:cNvSpPr txBox="1"/>
          <p:nvPr/>
        </p:nvSpPr>
        <p:spPr>
          <a:xfrm>
            <a:off x="6291072" y="2203704"/>
            <a:ext cx="2240280" cy="164592"/>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Team · Nickname · Ready</a:t>
            </a:r>
            <a:endParaRPr lang="en-US" sz="800" dirty="0"/>
          </a:p>
        </p:txBody>
      </p:sp>
      <p:sp>
        <p:nvSpPr>
          <p:cNvPr id="43" name="Shape 41"/>
          <p:cNvSpPr/>
          <p:nvPr/>
        </p:nvSpPr>
        <p:spPr>
          <a:xfrm>
            <a:off x="1664208" y="2487168"/>
            <a:ext cx="1316736" cy="457200"/>
          </a:xfrm>
          <a:prstGeom prst="roundRect">
            <a:avLst>
              <a:gd name="adj" fmla="val 10000"/>
            </a:avLst>
          </a:prstGeom>
          <a:solidFill>
            <a:srgbClr val="FFFFFF"/>
          </a:solidFill>
          <a:ln w="9525">
            <a:solidFill>
              <a:srgbClr val="8E8780"/>
            </a:solidFill>
            <a:prstDash val="solid"/>
          </a:ln>
        </p:spPr>
      </p:sp>
      <p:sp>
        <p:nvSpPr>
          <p:cNvPr id="44" name="Text 42"/>
          <p:cNvSpPr txBox="1"/>
          <p:nvPr/>
        </p:nvSpPr>
        <p:spPr>
          <a:xfrm>
            <a:off x="1664208" y="2532888"/>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Paint</a:t>
            </a:r>
            <a:endParaRPr lang="en-US" sz="900" dirty="0"/>
          </a:p>
        </p:txBody>
      </p:sp>
      <p:sp>
        <p:nvSpPr>
          <p:cNvPr id="45" name="Text 43"/>
          <p:cNvSpPr txBox="1"/>
          <p:nvPr/>
        </p:nvSpPr>
        <p:spPr>
          <a:xfrm>
            <a:off x="1664208" y="2715768"/>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표면 · 스플랫 기록</a:t>
            </a:r>
            <a:endParaRPr lang="en-US" sz="800" dirty="0"/>
          </a:p>
        </p:txBody>
      </p:sp>
      <p:sp>
        <p:nvSpPr>
          <p:cNvPr id="46" name="Shape 44"/>
          <p:cNvSpPr/>
          <p:nvPr/>
        </p:nvSpPr>
        <p:spPr>
          <a:xfrm>
            <a:off x="3054096" y="2487168"/>
            <a:ext cx="1316736" cy="457200"/>
          </a:xfrm>
          <a:prstGeom prst="roundRect">
            <a:avLst>
              <a:gd name="adj" fmla="val 10000"/>
            </a:avLst>
          </a:prstGeom>
          <a:solidFill>
            <a:srgbClr val="FFFFFF"/>
          </a:solidFill>
          <a:ln w="9525">
            <a:solidFill>
              <a:srgbClr val="8E8780"/>
            </a:solidFill>
            <a:prstDash val="solid"/>
          </a:ln>
        </p:spPr>
      </p:sp>
      <p:sp>
        <p:nvSpPr>
          <p:cNvPr id="47" name="Text 45"/>
          <p:cNvSpPr txBox="1"/>
          <p:nvPr/>
        </p:nvSpPr>
        <p:spPr>
          <a:xfrm>
            <a:off x="3054096" y="2532888"/>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PaintSplash</a:t>
            </a:r>
            <a:endParaRPr lang="en-US" sz="900" dirty="0"/>
          </a:p>
        </p:txBody>
      </p:sp>
      <p:sp>
        <p:nvSpPr>
          <p:cNvPr id="48" name="Text 46"/>
          <p:cNvSpPr txBox="1"/>
          <p:nvPr/>
        </p:nvSpPr>
        <p:spPr>
          <a:xfrm>
            <a:off x="3054096" y="2715768"/>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튀는 물방울 자국</a:t>
            </a:r>
            <a:endParaRPr lang="en-US" sz="800" dirty="0"/>
          </a:p>
        </p:txBody>
      </p:sp>
      <p:sp>
        <p:nvSpPr>
          <p:cNvPr id="49" name="Shape 47"/>
          <p:cNvSpPr/>
          <p:nvPr/>
        </p:nvSpPr>
        <p:spPr>
          <a:xfrm>
            <a:off x="4443984" y="2487168"/>
            <a:ext cx="1316736" cy="457200"/>
          </a:xfrm>
          <a:prstGeom prst="roundRect">
            <a:avLst>
              <a:gd name="adj" fmla="val 10000"/>
            </a:avLst>
          </a:prstGeom>
          <a:solidFill>
            <a:srgbClr val="FFFFFF"/>
          </a:solidFill>
          <a:ln w="9525">
            <a:solidFill>
              <a:srgbClr val="8E8780"/>
            </a:solidFill>
            <a:prstDash val="solid"/>
          </a:ln>
        </p:spPr>
      </p:sp>
      <p:sp>
        <p:nvSpPr>
          <p:cNvPr id="50" name="Text 48"/>
          <p:cNvSpPr txBox="1"/>
          <p:nvPr/>
        </p:nvSpPr>
        <p:spPr>
          <a:xfrm>
            <a:off x="4443984" y="2532888"/>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ProjectilePool</a:t>
            </a:r>
            <a:endParaRPr lang="en-US" sz="900" dirty="0"/>
          </a:p>
        </p:txBody>
      </p:sp>
      <p:sp>
        <p:nvSpPr>
          <p:cNvPr id="51" name="Text 49"/>
          <p:cNvSpPr txBox="1"/>
          <p:nvPr/>
        </p:nvSpPr>
        <p:spPr>
          <a:xfrm>
            <a:off x="4443984" y="2715768"/>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탄 재사용</a:t>
            </a:r>
            <a:endParaRPr lang="en-US" sz="800" dirty="0"/>
          </a:p>
        </p:txBody>
      </p:sp>
      <p:sp>
        <p:nvSpPr>
          <p:cNvPr id="52" name="Shape 50"/>
          <p:cNvSpPr/>
          <p:nvPr/>
        </p:nvSpPr>
        <p:spPr>
          <a:xfrm>
            <a:off x="5833872" y="2487168"/>
            <a:ext cx="1316736" cy="457200"/>
          </a:xfrm>
          <a:prstGeom prst="roundRect">
            <a:avLst>
              <a:gd name="adj" fmla="val 10000"/>
            </a:avLst>
          </a:prstGeom>
          <a:solidFill>
            <a:srgbClr val="FFFFFF"/>
          </a:solidFill>
          <a:ln w="9525">
            <a:solidFill>
              <a:srgbClr val="8E8780"/>
            </a:solidFill>
            <a:prstDash val="solid"/>
          </a:ln>
        </p:spPr>
      </p:sp>
      <p:sp>
        <p:nvSpPr>
          <p:cNvPr id="53" name="Text 51"/>
          <p:cNvSpPr txBox="1"/>
          <p:nvPr/>
        </p:nvSpPr>
        <p:spPr>
          <a:xfrm>
            <a:off x="5833872" y="2532888"/>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MatchResult</a:t>
            </a:r>
            <a:endParaRPr lang="en-US" sz="900" dirty="0"/>
          </a:p>
        </p:txBody>
      </p:sp>
      <p:sp>
        <p:nvSpPr>
          <p:cNvPr id="54" name="Text 52"/>
          <p:cNvSpPr txBox="1"/>
          <p:nvPr/>
        </p:nvSpPr>
        <p:spPr>
          <a:xfrm>
            <a:off x="5833872" y="2715768"/>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결과 연출</a:t>
            </a:r>
            <a:endParaRPr lang="en-US" sz="800" dirty="0"/>
          </a:p>
        </p:txBody>
      </p:sp>
      <p:sp>
        <p:nvSpPr>
          <p:cNvPr id="55" name="Shape 53"/>
          <p:cNvSpPr/>
          <p:nvPr/>
        </p:nvSpPr>
        <p:spPr>
          <a:xfrm>
            <a:off x="7223760" y="2487168"/>
            <a:ext cx="1316736" cy="457200"/>
          </a:xfrm>
          <a:prstGeom prst="roundRect">
            <a:avLst>
              <a:gd name="adj" fmla="val 10000"/>
            </a:avLst>
          </a:prstGeom>
          <a:solidFill>
            <a:srgbClr val="FFFFFF"/>
          </a:solidFill>
          <a:ln w="9525">
            <a:solidFill>
              <a:srgbClr val="8E8780"/>
            </a:solidFill>
            <a:prstDash val="solid"/>
          </a:ln>
        </p:spPr>
      </p:sp>
      <p:sp>
        <p:nvSpPr>
          <p:cNvPr id="56" name="Text 54"/>
          <p:cNvSpPr txBox="1"/>
          <p:nvPr/>
        </p:nvSpPr>
        <p:spPr>
          <a:xfrm>
            <a:off x="7223760" y="2532888"/>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Look</a:t>
            </a:r>
            <a:endParaRPr lang="en-US" sz="900" dirty="0"/>
          </a:p>
        </p:txBody>
      </p:sp>
      <p:sp>
        <p:nvSpPr>
          <p:cNvPr id="57" name="Text 55"/>
          <p:cNvSpPr txBox="1"/>
          <p:nvPr/>
        </p:nvSpPr>
        <p:spPr>
          <a:xfrm>
            <a:off x="7223760" y="2715768"/>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룩 비교 프리셋</a:t>
            </a:r>
            <a:endParaRPr lang="en-US" sz="800" dirty="0"/>
          </a:p>
        </p:txBody>
      </p:sp>
      <p:sp>
        <p:nvSpPr>
          <p:cNvPr id="58" name="Shape 56"/>
          <p:cNvSpPr/>
          <p:nvPr/>
        </p:nvSpPr>
        <p:spPr>
          <a:xfrm>
            <a:off x="1664208" y="3145536"/>
            <a:ext cx="4206240" cy="658368"/>
          </a:xfrm>
          <a:prstGeom prst="roundRect">
            <a:avLst>
              <a:gd name="adj" fmla="val 6944"/>
            </a:avLst>
          </a:prstGeom>
          <a:solidFill>
            <a:srgbClr val="E2F4EF"/>
          </a:solidFill>
          <a:ln w="9525">
            <a:solidFill>
              <a:srgbClr val="1FA88E"/>
            </a:solidFill>
            <a:prstDash val="solid"/>
          </a:ln>
        </p:spPr>
      </p:sp>
      <p:sp>
        <p:nvSpPr>
          <p:cNvPr id="59" name="Text 57"/>
          <p:cNvSpPr txBox="1"/>
          <p:nvPr/>
        </p:nvSpPr>
        <p:spPr>
          <a:xfrm>
            <a:off x="1755648" y="3172968"/>
            <a:ext cx="4023360" cy="182880"/>
          </a:xfrm>
          <a:prstGeom prst="rect">
            <a:avLst/>
          </a:prstGeom>
          <a:noFill/>
          <a:ln/>
        </p:spPr>
        <p:txBody>
          <a:bodyPr wrap="square" lIns="0" tIns="0" rIns="0" bIns="0" rtlCol="0" anchor="t"/>
          <a:lstStyle/>
          <a:p>
            <a:pPr marL="0" indent="0">
              <a:buNone/>
            </a:pPr>
            <a:r>
              <a:rPr lang="en-US" sz="900" b="1" dirty="0">
                <a:solidFill>
                  <a:srgbClr val="2B1B12"/>
                </a:solidFill>
                <a:latin typeface="Consolas" pitchFamily="34" charset="0"/>
                <a:ea typeface="Consolas" pitchFamily="34" charset="-122"/>
                <a:cs typeface="Consolas" pitchFamily="34" charset="-120"/>
              </a:rPr>
              <a:t>AUnit</a:t>
            </a:r>
            <a:r>
              <a:rPr lang="en-US" sz="800" dirty="0">
                <a:solidFill>
                  <a:srgbClr val="6E655F"/>
                </a:solidFill>
                <a:latin typeface="Malgun Gothic" pitchFamily="34" charset="0"/>
                <a:ea typeface="Malgun Gothic" pitchFamily="34" charset="-122"/>
                <a:cs typeface="Malgun Gothic" pitchFamily="34" charset="-120"/>
              </a:rPr>
              <a:t>   플레이어와 AI가 함께 쓰는 유일한 캐릭터</a:t>
            </a:r>
            <a:endParaRPr lang="en-US" sz="900" dirty="0"/>
          </a:p>
        </p:txBody>
      </p:sp>
      <p:sp>
        <p:nvSpPr>
          <p:cNvPr id="60" name="Shape 58"/>
          <p:cNvSpPr/>
          <p:nvPr/>
        </p:nvSpPr>
        <p:spPr>
          <a:xfrm>
            <a:off x="1755648" y="3383280"/>
            <a:ext cx="1298448" cy="182880"/>
          </a:xfrm>
          <a:prstGeom prst="roundRect">
            <a:avLst>
              <a:gd name="adj" fmla="val 20000"/>
            </a:avLst>
          </a:prstGeom>
          <a:solidFill>
            <a:srgbClr val="FFFFFF"/>
          </a:solidFill>
          <a:ln w="6350">
            <a:solidFill>
              <a:srgbClr val="8E8780"/>
            </a:solidFill>
            <a:prstDash val="solid"/>
          </a:ln>
        </p:spPr>
      </p:sp>
      <p:sp>
        <p:nvSpPr>
          <p:cNvPr id="61" name="Text 59"/>
          <p:cNvSpPr txBox="1"/>
          <p:nvPr/>
        </p:nvSpPr>
        <p:spPr>
          <a:xfrm>
            <a:off x="1755648" y="3383280"/>
            <a:ext cx="1298448" cy="182880"/>
          </a:xfrm>
          <a:prstGeom prst="rect">
            <a:avLst/>
          </a:prstGeom>
          <a:noFill/>
          <a:ln/>
        </p:spPr>
        <p:txBody>
          <a:bodyPr wrap="square" lIns="0" tIns="0" rIns="0" bIns="0" rtlCol="0" anchor="ctr"/>
          <a:lstStyle/>
          <a:p>
            <a:pPr marL="0" indent="0" algn="ctr">
              <a:buNone/>
            </a:pPr>
            <a:r>
              <a:rPr lang="en-US" sz="800" dirty="0">
                <a:solidFill>
                  <a:srgbClr val="2A221D"/>
                </a:solidFill>
                <a:latin typeface="Consolas" pitchFamily="34" charset="0"/>
                <a:ea typeface="Consolas" pitchFamily="34" charset="-122"/>
                <a:cs typeface="Consolas" pitchFamily="34" charset="-120"/>
              </a:rPr>
              <a:t>UnitMovement</a:t>
            </a:r>
            <a:endParaRPr lang="en-US" sz="800" dirty="0"/>
          </a:p>
        </p:txBody>
      </p:sp>
      <p:sp>
        <p:nvSpPr>
          <p:cNvPr id="62" name="Shape 60"/>
          <p:cNvSpPr/>
          <p:nvPr/>
        </p:nvSpPr>
        <p:spPr>
          <a:xfrm>
            <a:off x="3108960" y="3383280"/>
            <a:ext cx="1298448" cy="182880"/>
          </a:xfrm>
          <a:prstGeom prst="roundRect">
            <a:avLst>
              <a:gd name="adj" fmla="val 20000"/>
            </a:avLst>
          </a:prstGeom>
          <a:solidFill>
            <a:srgbClr val="FFFFFF"/>
          </a:solidFill>
          <a:ln w="6350">
            <a:solidFill>
              <a:srgbClr val="8E8780"/>
            </a:solidFill>
            <a:prstDash val="solid"/>
          </a:ln>
        </p:spPr>
      </p:sp>
      <p:sp>
        <p:nvSpPr>
          <p:cNvPr id="63" name="Text 61"/>
          <p:cNvSpPr txBox="1"/>
          <p:nvPr/>
        </p:nvSpPr>
        <p:spPr>
          <a:xfrm>
            <a:off x="3108960" y="3383280"/>
            <a:ext cx="1298448" cy="182880"/>
          </a:xfrm>
          <a:prstGeom prst="rect">
            <a:avLst/>
          </a:prstGeom>
          <a:noFill/>
          <a:ln/>
        </p:spPr>
        <p:txBody>
          <a:bodyPr wrap="square" lIns="0" tIns="0" rIns="0" bIns="0" rtlCol="0" anchor="ctr"/>
          <a:lstStyle/>
          <a:p>
            <a:pPr marL="0" indent="0" algn="ctr">
              <a:buNone/>
            </a:pPr>
            <a:r>
              <a:rPr lang="en-US" sz="800" dirty="0">
                <a:solidFill>
                  <a:srgbClr val="2A221D"/>
                </a:solidFill>
                <a:latin typeface="Consolas" pitchFamily="34" charset="0"/>
                <a:ea typeface="Consolas" pitchFamily="34" charset="-122"/>
                <a:cs typeface="Consolas" pitchFamily="34" charset="-120"/>
              </a:rPr>
              <a:t>PaintWeapon ×2</a:t>
            </a:r>
            <a:endParaRPr lang="en-US" sz="800" dirty="0"/>
          </a:p>
        </p:txBody>
      </p:sp>
      <p:sp>
        <p:nvSpPr>
          <p:cNvPr id="64" name="Shape 62"/>
          <p:cNvSpPr/>
          <p:nvPr/>
        </p:nvSpPr>
        <p:spPr>
          <a:xfrm>
            <a:off x="4462272" y="3383280"/>
            <a:ext cx="1298448" cy="182880"/>
          </a:xfrm>
          <a:prstGeom prst="roundRect">
            <a:avLst>
              <a:gd name="adj" fmla="val 20000"/>
            </a:avLst>
          </a:prstGeom>
          <a:solidFill>
            <a:srgbClr val="FFFFFF"/>
          </a:solidFill>
          <a:ln w="6350">
            <a:solidFill>
              <a:srgbClr val="8E8780"/>
            </a:solidFill>
            <a:prstDash val="solid"/>
          </a:ln>
        </p:spPr>
      </p:sp>
      <p:sp>
        <p:nvSpPr>
          <p:cNvPr id="65" name="Text 63"/>
          <p:cNvSpPr txBox="1"/>
          <p:nvPr/>
        </p:nvSpPr>
        <p:spPr>
          <a:xfrm>
            <a:off x="4462272" y="3383280"/>
            <a:ext cx="1298448" cy="182880"/>
          </a:xfrm>
          <a:prstGeom prst="rect">
            <a:avLst/>
          </a:prstGeom>
          <a:noFill/>
          <a:ln/>
        </p:spPr>
        <p:txBody>
          <a:bodyPr wrap="square" lIns="0" tIns="0" rIns="0" bIns="0" rtlCol="0" anchor="ctr"/>
          <a:lstStyle/>
          <a:p>
            <a:pPr marL="0" indent="0" algn="ctr">
              <a:buNone/>
            </a:pPr>
            <a:r>
              <a:rPr lang="en-US" sz="800" dirty="0">
                <a:solidFill>
                  <a:srgbClr val="2A221D"/>
                </a:solidFill>
                <a:latin typeface="Consolas" pitchFamily="34" charset="0"/>
                <a:ea typeface="Consolas" pitchFamily="34" charset="-122"/>
                <a:cs typeface="Consolas" pitchFamily="34" charset="-120"/>
              </a:rPr>
              <a:t>InkTank</a:t>
            </a:r>
            <a:endParaRPr lang="en-US" sz="800" dirty="0"/>
          </a:p>
        </p:txBody>
      </p:sp>
      <p:sp>
        <p:nvSpPr>
          <p:cNvPr id="66" name="Shape 64"/>
          <p:cNvSpPr/>
          <p:nvPr/>
        </p:nvSpPr>
        <p:spPr>
          <a:xfrm>
            <a:off x="1755648" y="3593592"/>
            <a:ext cx="1298448" cy="182880"/>
          </a:xfrm>
          <a:prstGeom prst="roundRect">
            <a:avLst>
              <a:gd name="adj" fmla="val 20000"/>
            </a:avLst>
          </a:prstGeom>
          <a:solidFill>
            <a:srgbClr val="FFFFFF"/>
          </a:solidFill>
          <a:ln w="6350">
            <a:solidFill>
              <a:srgbClr val="8E8780"/>
            </a:solidFill>
            <a:prstDash val="solid"/>
          </a:ln>
        </p:spPr>
      </p:sp>
      <p:sp>
        <p:nvSpPr>
          <p:cNvPr id="67" name="Text 65"/>
          <p:cNvSpPr txBox="1"/>
          <p:nvPr/>
        </p:nvSpPr>
        <p:spPr>
          <a:xfrm>
            <a:off x="1755648" y="3593592"/>
            <a:ext cx="1298448" cy="182880"/>
          </a:xfrm>
          <a:prstGeom prst="rect">
            <a:avLst/>
          </a:prstGeom>
          <a:noFill/>
          <a:ln/>
        </p:spPr>
        <p:txBody>
          <a:bodyPr wrap="square" lIns="0" tIns="0" rIns="0" bIns="0" rtlCol="0" anchor="ctr"/>
          <a:lstStyle/>
          <a:p>
            <a:pPr marL="0" indent="0" algn="ctr">
              <a:buNone/>
            </a:pPr>
            <a:r>
              <a:rPr lang="en-US" sz="800" dirty="0">
                <a:solidFill>
                  <a:srgbClr val="2A221D"/>
                </a:solidFill>
                <a:latin typeface="Consolas" pitchFamily="34" charset="0"/>
                <a:ea typeface="Consolas" pitchFamily="34" charset="-122"/>
                <a:cs typeface="Consolas" pitchFamily="34" charset="-120"/>
              </a:rPr>
              <a:t>ASC (Mixed)</a:t>
            </a:r>
            <a:endParaRPr lang="en-US" sz="800" dirty="0"/>
          </a:p>
        </p:txBody>
      </p:sp>
      <p:sp>
        <p:nvSpPr>
          <p:cNvPr id="68" name="Shape 66"/>
          <p:cNvSpPr/>
          <p:nvPr/>
        </p:nvSpPr>
        <p:spPr>
          <a:xfrm>
            <a:off x="3108960" y="3593592"/>
            <a:ext cx="1298448" cy="182880"/>
          </a:xfrm>
          <a:prstGeom prst="roundRect">
            <a:avLst>
              <a:gd name="adj" fmla="val 20000"/>
            </a:avLst>
          </a:prstGeom>
          <a:solidFill>
            <a:srgbClr val="FFFFFF"/>
          </a:solidFill>
          <a:ln w="6350">
            <a:solidFill>
              <a:srgbClr val="8E8780"/>
            </a:solidFill>
            <a:prstDash val="solid"/>
          </a:ln>
        </p:spPr>
      </p:sp>
      <p:sp>
        <p:nvSpPr>
          <p:cNvPr id="69" name="Text 67"/>
          <p:cNvSpPr txBox="1"/>
          <p:nvPr/>
        </p:nvSpPr>
        <p:spPr>
          <a:xfrm>
            <a:off x="3108960" y="3593592"/>
            <a:ext cx="1298448" cy="182880"/>
          </a:xfrm>
          <a:prstGeom prst="rect">
            <a:avLst/>
          </a:prstGeom>
          <a:noFill/>
          <a:ln/>
        </p:spPr>
        <p:txBody>
          <a:bodyPr wrap="square" lIns="0" tIns="0" rIns="0" bIns="0" rtlCol="0" anchor="ctr"/>
          <a:lstStyle/>
          <a:p>
            <a:pPr marL="0" indent="0" algn="ctr">
              <a:buNone/>
            </a:pPr>
            <a:r>
              <a:rPr lang="en-US" sz="800" dirty="0">
                <a:solidFill>
                  <a:srgbClr val="2A221D"/>
                </a:solidFill>
                <a:latin typeface="Consolas" pitchFamily="34" charset="0"/>
                <a:ea typeface="Consolas" pitchFamily="34" charset="-122"/>
                <a:cs typeface="Consolas" pitchFamily="34" charset="-120"/>
              </a:rPr>
              <a:t>ItemSlot</a:t>
            </a:r>
            <a:endParaRPr lang="en-US" sz="800" dirty="0"/>
          </a:p>
        </p:txBody>
      </p:sp>
      <p:sp>
        <p:nvSpPr>
          <p:cNvPr id="70" name="Shape 68"/>
          <p:cNvSpPr/>
          <p:nvPr/>
        </p:nvSpPr>
        <p:spPr>
          <a:xfrm>
            <a:off x="4462272" y="3593592"/>
            <a:ext cx="1298448" cy="182880"/>
          </a:xfrm>
          <a:prstGeom prst="roundRect">
            <a:avLst>
              <a:gd name="adj" fmla="val 20000"/>
            </a:avLst>
          </a:prstGeom>
          <a:solidFill>
            <a:srgbClr val="FFFFFF"/>
          </a:solidFill>
          <a:ln w="6350">
            <a:solidFill>
              <a:srgbClr val="8E8780"/>
            </a:solidFill>
            <a:prstDash val="solid"/>
          </a:ln>
        </p:spPr>
      </p:sp>
      <p:sp>
        <p:nvSpPr>
          <p:cNvPr id="71" name="Text 69"/>
          <p:cNvSpPr txBox="1"/>
          <p:nvPr/>
        </p:nvSpPr>
        <p:spPr>
          <a:xfrm>
            <a:off x="4462272" y="3593592"/>
            <a:ext cx="1298448" cy="182880"/>
          </a:xfrm>
          <a:prstGeom prst="rect">
            <a:avLst/>
          </a:prstGeom>
          <a:noFill/>
          <a:ln/>
        </p:spPr>
        <p:txBody>
          <a:bodyPr wrap="square" lIns="0" tIns="0" rIns="0" bIns="0" rtlCol="0" anchor="ctr"/>
          <a:lstStyle/>
          <a:p>
            <a:pPr marL="0" indent="0" algn="ctr">
              <a:buNone/>
            </a:pPr>
            <a:r>
              <a:rPr lang="en-US" sz="800" dirty="0">
                <a:solidFill>
                  <a:srgbClr val="2A221D"/>
                </a:solidFill>
                <a:latin typeface="Malgun Gothic" pitchFamily="34" charset="0"/>
                <a:ea typeface="Malgun Gothic" pitchFamily="34" charset="-122"/>
                <a:cs typeface="Malgun Gothic" pitchFamily="34" charset="-120"/>
              </a:rPr>
              <a:t>메시 · 셸 · 보드</a:t>
            </a:r>
            <a:endParaRPr lang="en-US" sz="800" dirty="0"/>
          </a:p>
        </p:txBody>
      </p:sp>
      <p:sp>
        <p:nvSpPr>
          <p:cNvPr id="72" name="Shape 70"/>
          <p:cNvSpPr/>
          <p:nvPr/>
        </p:nvSpPr>
        <p:spPr>
          <a:xfrm>
            <a:off x="5961888" y="3145536"/>
            <a:ext cx="2651760" cy="658368"/>
          </a:xfrm>
          <a:prstGeom prst="roundRect">
            <a:avLst>
              <a:gd name="adj" fmla="val 6944"/>
            </a:avLst>
          </a:prstGeom>
          <a:solidFill>
            <a:srgbClr val="FFFFFF"/>
          </a:solidFill>
          <a:ln w="9525">
            <a:solidFill>
              <a:srgbClr val="8E8780"/>
            </a:solidFill>
            <a:prstDash val="solid"/>
          </a:ln>
        </p:spPr>
      </p:sp>
      <p:sp>
        <p:nvSpPr>
          <p:cNvPr id="73" name="Text 71"/>
          <p:cNvSpPr txBox="1"/>
          <p:nvPr/>
        </p:nvSpPr>
        <p:spPr>
          <a:xfrm>
            <a:off x="6053328" y="3172968"/>
            <a:ext cx="2514600" cy="603504"/>
          </a:xfrm>
          <a:prstGeom prst="rect">
            <a:avLst/>
          </a:prstGeom>
          <a:noFill/>
          <a:ln/>
        </p:spPr>
        <p:txBody>
          <a:bodyPr wrap="square" lIns="0" tIns="0" rIns="0" bIns="0" rtlCol="0" anchor="t"/>
          <a:lstStyle/>
          <a:p>
            <a:pPr marL="0" indent="0">
              <a:buNone/>
            </a:pPr>
            <a:r>
              <a:rPr lang="en-US" sz="800" b="1" dirty="0">
                <a:solidFill>
                  <a:srgbClr val="2B1B12"/>
                </a:solidFill>
                <a:latin typeface="Malgun Gothic" pitchFamily="34" charset="0"/>
                <a:ea typeface="Malgun Gothic" pitchFamily="34" charset="-122"/>
                <a:cs typeface="Malgun Gothic" pitchFamily="34" charset="-120"/>
              </a:rPr>
              <a:t>그 밖의 액터</a:t>
            </a:r>
            <a:endParaRPr lang="en-US" sz="800" dirty="0"/>
          </a:p>
          <a:p>
            <a:pPr marL="0" indent="0">
              <a:buNone/>
            </a:pPr>
            <a:r>
              <a:rPr lang="en-US" sz="800" dirty="0">
                <a:solidFill>
                  <a:srgbClr val="2A221D"/>
                </a:solidFill>
                <a:latin typeface="Consolas" pitchFamily="34" charset="0"/>
                <a:ea typeface="Consolas" pitchFamily="34" charset="-122"/>
                <a:cs typeface="Consolas" pitchFamily="34" charset="-120"/>
              </a:rPr>
              <a:t>ItemPickup · PaintProjectile</a:t>
            </a:r>
            <a:endParaRPr lang="en-US" sz="800" dirty="0"/>
          </a:p>
          <a:p>
            <a:pPr marL="0" indent="0">
              <a:buNone/>
            </a:pPr>
            <a:r>
              <a:rPr lang="en-US" sz="800" dirty="0">
                <a:solidFill>
                  <a:srgbClr val="2A221D"/>
                </a:solidFill>
                <a:latin typeface="Consolas" pitchFamily="34" charset="0"/>
                <a:ea typeface="Consolas" pitchFamily="34" charset="-122"/>
                <a:cs typeface="Consolas" pitchFamily="34" charset="-120"/>
              </a:rPr>
              <a:t>PaintRain · Volley · Burst</a:t>
            </a:r>
            <a:endParaRPr lang="en-US" sz="800" dirty="0"/>
          </a:p>
          <a:p>
            <a:pPr marL="0" indent="0">
              <a:buNone/>
            </a:pPr>
            <a:r>
              <a:rPr lang="en-US" sz="800" dirty="0">
                <a:solidFill>
                  <a:srgbClr val="2A221D"/>
                </a:solidFill>
                <a:latin typeface="Consolas" pitchFamily="34" charset="0"/>
                <a:ea typeface="Consolas" pitchFamily="34" charset="-122"/>
                <a:cs typeface="Consolas" pitchFamily="34" charset="-120"/>
              </a:rPr>
              <a:t>ScreenFadeRelay · Balloon</a:t>
            </a:r>
            <a:endParaRPr lang="en-US" sz="800" dirty="0"/>
          </a:p>
        </p:txBody>
      </p:sp>
      <p:sp>
        <p:nvSpPr>
          <p:cNvPr id="74" name="Shape 72"/>
          <p:cNvSpPr/>
          <p:nvPr/>
        </p:nvSpPr>
        <p:spPr>
          <a:xfrm>
            <a:off x="1664208" y="4005072"/>
            <a:ext cx="1316736" cy="457200"/>
          </a:xfrm>
          <a:prstGeom prst="roundRect">
            <a:avLst>
              <a:gd name="adj" fmla="val 10000"/>
            </a:avLst>
          </a:prstGeom>
          <a:solidFill>
            <a:srgbClr val="F3ECE6"/>
          </a:solidFill>
          <a:ln w="9525">
            <a:solidFill>
              <a:srgbClr val="6B4430"/>
            </a:solidFill>
            <a:prstDash val="solid"/>
          </a:ln>
        </p:spPr>
      </p:sp>
      <p:sp>
        <p:nvSpPr>
          <p:cNvPr id="75" name="Text 73"/>
          <p:cNvSpPr txBox="1"/>
          <p:nvPr/>
        </p:nvSpPr>
        <p:spPr>
          <a:xfrm>
            <a:off x="1664208" y="4050792"/>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UnitDataAsset</a:t>
            </a:r>
            <a:endParaRPr lang="en-US" sz="900" dirty="0"/>
          </a:p>
        </p:txBody>
      </p:sp>
      <p:sp>
        <p:nvSpPr>
          <p:cNvPr id="76" name="Text 74"/>
          <p:cNvSpPr txBox="1"/>
          <p:nvPr/>
        </p:nvSpPr>
        <p:spPr>
          <a:xfrm>
            <a:off x="1664208" y="4233672"/>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캐릭터 모습</a:t>
            </a:r>
            <a:endParaRPr lang="en-US" sz="800" dirty="0"/>
          </a:p>
        </p:txBody>
      </p:sp>
      <p:sp>
        <p:nvSpPr>
          <p:cNvPr id="77" name="Shape 75"/>
          <p:cNvSpPr/>
          <p:nvPr/>
        </p:nvSpPr>
        <p:spPr>
          <a:xfrm>
            <a:off x="3054096" y="4005072"/>
            <a:ext cx="1316736" cy="457200"/>
          </a:xfrm>
          <a:prstGeom prst="roundRect">
            <a:avLst>
              <a:gd name="adj" fmla="val 10000"/>
            </a:avLst>
          </a:prstGeom>
          <a:solidFill>
            <a:srgbClr val="F3ECE6"/>
          </a:solidFill>
          <a:ln w="9525">
            <a:solidFill>
              <a:srgbClr val="6B4430"/>
            </a:solidFill>
            <a:prstDash val="solid"/>
          </a:ln>
        </p:spPr>
      </p:sp>
      <p:sp>
        <p:nvSpPr>
          <p:cNvPr id="78" name="Text 76"/>
          <p:cNvSpPr txBox="1"/>
          <p:nvPr/>
        </p:nvSpPr>
        <p:spPr>
          <a:xfrm>
            <a:off x="3054096" y="4050792"/>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ItemProfile</a:t>
            </a:r>
            <a:endParaRPr lang="en-US" sz="900" dirty="0"/>
          </a:p>
        </p:txBody>
      </p:sp>
      <p:sp>
        <p:nvSpPr>
          <p:cNvPr id="79" name="Text 77"/>
          <p:cNvSpPr txBox="1"/>
          <p:nvPr/>
        </p:nvSpPr>
        <p:spPr>
          <a:xfrm>
            <a:off x="3054096" y="4233672"/>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아이템 8종</a:t>
            </a:r>
            <a:endParaRPr lang="en-US" sz="800" dirty="0"/>
          </a:p>
        </p:txBody>
      </p:sp>
      <p:sp>
        <p:nvSpPr>
          <p:cNvPr id="80" name="Shape 78"/>
          <p:cNvSpPr/>
          <p:nvPr/>
        </p:nvSpPr>
        <p:spPr>
          <a:xfrm>
            <a:off x="4443984" y="4005072"/>
            <a:ext cx="1316736" cy="457200"/>
          </a:xfrm>
          <a:prstGeom prst="roundRect">
            <a:avLst>
              <a:gd name="adj" fmla="val 10000"/>
            </a:avLst>
          </a:prstGeom>
          <a:solidFill>
            <a:srgbClr val="F3ECE6"/>
          </a:solidFill>
          <a:ln w="9525">
            <a:solidFill>
              <a:srgbClr val="6B4430"/>
            </a:solidFill>
            <a:prstDash val="solid"/>
          </a:ln>
        </p:spPr>
      </p:sp>
      <p:sp>
        <p:nvSpPr>
          <p:cNvPr id="81" name="Text 79"/>
          <p:cNvSpPr txBox="1"/>
          <p:nvPr/>
        </p:nvSpPr>
        <p:spPr>
          <a:xfrm>
            <a:off x="4443984" y="4050792"/>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WeaponProfile</a:t>
            </a:r>
            <a:endParaRPr lang="en-US" sz="900" dirty="0"/>
          </a:p>
        </p:txBody>
      </p:sp>
      <p:sp>
        <p:nvSpPr>
          <p:cNvPr id="82" name="Text 80"/>
          <p:cNvSpPr txBox="1"/>
          <p:nvPr/>
        </p:nvSpPr>
        <p:spPr>
          <a:xfrm>
            <a:off x="4443984" y="4233672"/>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탄 + 퍼짐</a:t>
            </a:r>
            <a:endParaRPr lang="en-US" sz="800" dirty="0"/>
          </a:p>
        </p:txBody>
      </p:sp>
      <p:sp>
        <p:nvSpPr>
          <p:cNvPr id="83" name="Shape 81"/>
          <p:cNvSpPr/>
          <p:nvPr/>
        </p:nvSpPr>
        <p:spPr>
          <a:xfrm>
            <a:off x="5833872" y="4005072"/>
            <a:ext cx="1316736" cy="457200"/>
          </a:xfrm>
          <a:prstGeom prst="roundRect">
            <a:avLst>
              <a:gd name="adj" fmla="val 10000"/>
            </a:avLst>
          </a:prstGeom>
          <a:solidFill>
            <a:srgbClr val="F3ECE6"/>
          </a:solidFill>
          <a:ln w="9525">
            <a:solidFill>
              <a:srgbClr val="6B4430"/>
            </a:solidFill>
            <a:prstDash val="solid"/>
          </a:ln>
        </p:spPr>
      </p:sp>
      <p:sp>
        <p:nvSpPr>
          <p:cNvPr id="84" name="Text 82"/>
          <p:cNvSpPr txBox="1"/>
          <p:nvPr/>
        </p:nvSpPr>
        <p:spPr>
          <a:xfrm>
            <a:off x="5833872" y="4050792"/>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SoundBank</a:t>
            </a:r>
            <a:endParaRPr lang="en-US" sz="900" dirty="0"/>
          </a:p>
        </p:txBody>
      </p:sp>
      <p:sp>
        <p:nvSpPr>
          <p:cNvPr id="85" name="Text 83"/>
          <p:cNvSpPr txBox="1"/>
          <p:nvPr/>
        </p:nvSpPr>
        <p:spPr>
          <a:xfrm>
            <a:off x="5833872" y="4233672"/>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태그 → 소리</a:t>
            </a:r>
            <a:endParaRPr lang="en-US" sz="800" dirty="0"/>
          </a:p>
        </p:txBody>
      </p:sp>
      <p:sp>
        <p:nvSpPr>
          <p:cNvPr id="86" name="Shape 84"/>
          <p:cNvSpPr/>
          <p:nvPr/>
        </p:nvSpPr>
        <p:spPr>
          <a:xfrm>
            <a:off x="7223760" y="4005072"/>
            <a:ext cx="1316736" cy="457200"/>
          </a:xfrm>
          <a:prstGeom prst="roundRect">
            <a:avLst>
              <a:gd name="adj" fmla="val 10000"/>
            </a:avLst>
          </a:prstGeom>
          <a:solidFill>
            <a:srgbClr val="F3ECE6"/>
          </a:solidFill>
          <a:ln w="9525">
            <a:solidFill>
              <a:srgbClr val="6B4430"/>
            </a:solidFill>
            <a:prstDash val="solid"/>
          </a:ln>
        </p:spPr>
      </p:sp>
      <p:sp>
        <p:nvSpPr>
          <p:cNvPr id="87" name="Text 85"/>
          <p:cNvSpPr txBox="1"/>
          <p:nvPr/>
        </p:nvSpPr>
        <p:spPr>
          <a:xfrm>
            <a:off x="7223760" y="4050792"/>
            <a:ext cx="1316736" cy="210312"/>
          </a:xfrm>
          <a:prstGeom prst="rect">
            <a:avLst/>
          </a:prstGeom>
          <a:noFill/>
          <a:ln/>
        </p:spPr>
        <p:txBody>
          <a:bodyPr wrap="square" lIns="0" tIns="0" rIns="0" bIns="0" rtlCol="0" anchor="ctr"/>
          <a:lstStyle/>
          <a:p>
            <a:pPr marL="0" indent="0" algn="ctr">
              <a:buNone/>
            </a:pPr>
            <a:r>
              <a:rPr lang="en-US" sz="900" b="1" dirty="0">
                <a:solidFill>
                  <a:srgbClr val="2B1B12"/>
                </a:solidFill>
                <a:latin typeface="Consolas" pitchFamily="34" charset="0"/>
                <a:ea typeface="Consolas" pitchFamily="34" charset="-122"/>
                <a:cs typeface="Consolas" pitchFamily="34" charset="-120"/>
              </a:rPr>
              <a:t>Settings ×7</a:t>
            </a:r>
            <a:endParaRPr lang="en-US" sz="900" dirty="0"/>
          </a:p>
        </p:txBody>
      </p:sp>
      <p:sp>
        <p:nvSpPr>
          <p:cNvPr id="88" name="Text 86"/>
          <p:cNvSpPr txBox="1"/>
          <p:nvPr/>
        </p:nvSpPr>
        <p:spPr>
          <a:xfrm>
            <a:off x="7223760" y="4233672"/>
            <a:ext cx="1316736" cy="182880"/>
          </a:xfrm>
          <a:prstGeom prst="rect">
            <a:avLst/>
          </a:prstGeom>
          <a:noFill/>
          <a:ln/>
        </p:spPr>
        <p:txBody>
          <a:bodyPr wrap="square" lIns="0" tIns="0" rIns="0" bIns="0" rtlCol="0" anchor="ctr"/>
          <a:lstStyle/>
          <a:p>
            <a:pPr marL="0" indent="0" algn="ctr">
              <a:buNone/>
            </a:pPr>
            <a:r>
              <a:rPr lang="en-US" sz="800" dirty="0">
                <a:solidFill>
                  <a:srgbClr val="6E655F"/>
                </a:solidFill>
                <a:latin typeface="Malgun Gothic" pitchFamily="34" charset="0"/>
                <a:ea typeface="Malgun Gothic" pitchFamily="34" charset="-122"/>
                <a:cs typeface="Malgun Gothic" pitchFamily="34" charset="-120"/>
              </a:rPr>
              <a:t>DefaultGame.ini</a:t>
            </a:r>
            <a:endParaRPr lang="en-US" sz="800" dirty="0"/>
          </a:p>
        </p:txBody>
      </p:sp>
    </p:spTree>
    <p:extLst>
      <p:ext uri="{BB962C8B-B14F-4D97-AF65-F5344CB8AC3E}">
        <p14:creationId xmlns:p14="http://schemas.microsoft.com/office/powerpoint/2010/main" val="3116215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NETWORK</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누가 무엇을 정하는가</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6</a:t>
            </a:r>
            <a:endParaRPr lang="en-US" sz="900" dirty="0"/>
          </a:p>
        </p:txBody>
      </p:sp>
      <p:sp>
        <p:nvSpPr>
          <p:cNvPr id="7" name="Shape 5"/>
          <p:cNvSpPr/>
          <p:nvPr/>
        </p:nvSpPr>
        <p:spPr>
          <a:xfrm>
            <a:off x="457200" y="1234440"/>
            <a:ext cx="8229600" cy="694944"/>
          </a:xfrm>
          <a:prstGeom prst="roundRect">
            <a:avLst>
              <a:gd name="adj" fmla="val 7895"/>
            </a:avLst>
          </a:prstGeom>
          <a:solidFill>
            <a:srgbClr val="F3ECE6"/>
          </a:solidFill>
          <a:ln w="9525">
            <a:solidFill>
              <a:srgbClr val="F3ECE6"/>
            </a:solidFill>
            <a:prstDash val="solid"/>
          </a:ln>
        </p:spPr>
        <p:txBody>
          <a:bodyPr/>
          <a:lstStyle/>
          <a:p>
            <a:endParaRPr lang="ko-KR" altLang="en-US"/>
          </a:p>
        </p:txBody>
      </p:sp>
      <p:sp>
        <p:nvSpPr>
          <p:cNvPr id="8" name="Shape 6"/>
          <p:cNvSpPr/>
          <p:nvPr/>
        </p:nvSpPr>
        <p:spPr>
          <a:xfrm>
            <a:off x="621792" y="1435608"/>
            <a:ext cx="292608" cy="292608"/>
          </a:xfrm>
          <a:prstGeom prst="ellipse">
            <a:avLst/>
          </a:prstGeom>
          <a:solidFill>
            <a:srgbClr val="6B4430"/>
          </a:solidFill>
          <a:ln w="12700">
            <a:solidFill>
              <a:srgbClr val="6B4430"/>
            </a:solidFill>
            <a:prstDash val="solid"/>
          </a:ln>
        </p:spPr>
        <p:txBody>
          <a:bodyPr/>
          <a:lstStyle/>
          <a:p>
            <a:endParaRPr lang="ko-KR" altLang="en-US"/>
          </a:p>
        </p:txBody>
      </p:sp>
      <p:sp>
        <p:nvSpPr>
          <p:cNvPr id="9" name="Text 7"/>
          <p:cNvSpPr txBox="1"/>
          <p:nvPr/>
        </p:nvSpPr>
        <p:spPr>
          <a:xfrm>
            <a:off x="1051560" y="1344168"/>
            <a:ext cx="2377440" cy="274320"/>
          </a:xfrm>
          <a:prstGeom prst="rect">
            <a:avLst/>
          </a:prstGeom>
          <a:noFill/>
          <a:ln/>
        </p:spPr>
        <p:txBody>
          <a:bodyPr wrap="square" lIns="0" tIns="0" rIns="0" bIns="0" rtlCol="0" anchor="t"/>
          <a:lstStyle/>
          <a:p>
            <a:pPr marL="0" indent="0">
              <a:buNone/>
            </a:pPr>
            <a:r>
              <a:rPr lang="en-US" sz="1250" b="1" dirty="0">
                <a:solidFill>
                  <a:srgbClr val="2B1B12"/>
                </a:solidFill>
                <a:latin typeface="Malgun Gothic" pitchFamily="34" charset="0"/>
                <a:ea typeface="Malgun Gothic" pitchFamily="34" charset="-122"/>
                <a:cs typeface="Malgun Gothic" pitchFamily="34" charset="-120"/>
              </a:rPr>
              <a:t>서버만 정한다</a:t>
            </a:r>
            <a:endParaRPr lang="en-US" sz="1250" dirty="0"/>
          </a:p>
        </p:txBody>
      </p:sp>
      <p:sp>
        <p:nvSpPr>
          <p:cNvPr id="10" name="Text 8"/>
          <p:cNvSpPr txBox="1"/>
          <p:nvPr/>
        </p:nvSpPr>
        <p:spPr>
          <a:xfrm>
            <a:off x="1051560" y="1618488"/>
            <a:ext cx="2377440" cy="228600"/>
          </a:xfrm>
          <a:prstGeom prst="rect">
            <a:avLst/>
          </a:prstGeom>
          <a:noFill/>
          <a:ln/>
        </p:spPr>
        <p:txBody>
          <a:bodyPr wrap="square" lIns="0" tIns="0" rIns="0" bIns="0" rtlCol="0" anchor="t"/>
          <a:lstStyle/>
          <a:p>
            <a:pPr marL="0" indent="0">
              <a:buNone/>
            </a:pPr>
            <a:r>
              <a:rPr lang="en-US" sz="950" dirty="0">
                <a:solidFill>
                  <a:srgbClr val="6E655F"/>
                </a:solidFill>
                <a:latin typeface="Malgun Gothic" pitchFamily="34" charset="0"/>
                <a:ea typeface="Malgun Gothic" pitchFamily="34" charset="-122"/>
                <a:cs typeface="Malgun Gothic" pitchFamily="34" charset="-120"/>
              </a:rPr>
              <a:t>결과가 하나여야 하는 것</a:t>
            </a:r>
            <a:endParaRPr lang="en-US" sz="950" dirty="0"/>
          </a:p>
        </p:txBody>
      </p:sp>
      <p:sp>
        <p:nvSpPr>
          <p:cNvPr id="11" name="Text 9"/>
          <p:cNvSpPr txBox="1"/>
          <p:nvPr/>
        </p:nvSpPr>
        <p:spPr>
          <a:xfrm>
            <a:off x="3520440" y="1307592"/>
            <a:ext cx="5029200" cy="548640"/>
          </a:xfrm>
          <a:prstGeom prst="rect">
            <a:avLst/>
          </a:prstGeom>
          <a:noFill/>
          <a:ln/>
        </p:spPr>
        <p:txBody>
          <a:bodyPr wrap="square" lIns="0" tIns="0" rIns="0" bIns="0" rtlCol="0" anchor="ct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칠하기 · 픽업 · 스턴과 넉백 · 경기 단계와 승패 · 아이템 스폰</a:t>
            </a:r>
            <a:endParaRPr lang="en-US" sz="1050" dirty="0"/>
          </a:p>
        </p:txBody>
      </p:sp>
      <p:sp>
        <p:nvSpPr>
          <p:cNvPr id="12" name="Shape 10"/>
          <p:cNvSpPr/>
          <p:nvPr/>
        </p:nvSpPr>
        <p:spPr>
          <a:xfrm>
            <a:off x="457200" y="2057400"/>
            <a:ext cx="8229600" cy="694944"/>
          </a:xfrm>
          <a:prstGeom prst="roundRect">
            <a:avLst>
              <a:gd name="adj" fmla="val 7895"/>
            </a:avLst>
          </a:prstGeom>
          <a:solidFill>
            <a:srgbClr val="FFFFFF"/>
          </a:solidFill>
          <a:ln w="9525">
            <a:solidFill>
              <a:srgbClr val="DDD6D0"/>
            </a:solidFill>
            <a:prstDash val="solid"/>
          </a:ln>
        </p:spPr>
        <p:txBody>
          <a:bodyPr/>
          <a:lstStyle/>
          <a:p>
            <a:endParaRPr lang="ko-KR" altLang="en-US"/>
          </a:p>
        </p:txBody>
      </p:sp>
      <p:sp>
        <p:nvSpPr>
          <p:cNvPr id="13" name="Shape 11"/>
          <p:cNvSpPr/>
          <p:nvPr/>
        </p:nvSpPr>
        <p:spPr>
          <a:xfrm>
            <a:off x="621792" y="2258568"/>
            <a:ext cx="292608" cy="292608"/>
          </a:xfrm>
          <a:prstGeom prst="ellipse">
            <a:avLst/>
          </a:prstGeom>
          <a:solidFill>
            <a:srgbClr val="1FA88E"/>
          </a:solidFill>
          <a:ln w="12700">
            <a:solidFill>
              <a:srgbClr val="1FA88E"/>
            </a:solidFill>
            <a:prstDash val="solid"/>
          </a:ln>
        </p:spPr>
        <p:txBody>
          <a:bodyPr/>
          <a:lstStyle/>
          <a:p>
            <a:endParaRPr lang="ko-KR" altLang="en-US"/>
          </a:p>
        </p:txBody>
      </p:sp>
      <p:sp>
        <p:nvSpPr>
          <p:cNvPr id="14" name="Text 12"/>
          <p:cNvSpPr txBox="1"/>
          <p:nvPr/>
        </p:nvSpPr>
        <p:spPr>
          <a:xfrm>
            <a:off x="1051560" y="2167128"/>
            <a:ext cx="2377440" cy="274320"/>
          </a:xfrm>
          <a:prstGeom prst="rect">
            <a:avLst/>
          </a:prstGeom>
          <a:noFill/>
          <a:ln/>
        </p:spPr>
        <p:txBody>
          <a:bodyPr wrap="square" lIns="0" tIns="0" rIns="0" bIns="0" rtlCol="0" anchor="t"/>
          <a:lstStyle/>
          <a:p>
            <a:pPr marL="0" indent="0">
              <a:buNone/>
            </a:pPr>
            <a:r>
              <a:rPr lang="en-US" sz="1250" b="1" dirty="0">
                <a:solidFill>
                  <a:srgbClr val="2B1B12"/>
                </a:solidFill>
                <a:latin typeface="Malgun Gothic" pitchFamily="34" charset="0"/>
                <a:ea typeface="Malgun Gothic" pitchFamily="34" charset="-122"/>
                <a:cs typeface="Malgun Gothic" pitchFamily="34" charset="-120"/>
              </a:rPr>
              <a:t>소유자가 먼저, 서버가 확정</a:t>
            </a:r>
            <a:endParaRPr lang="en-US" sz="1250" dirty="0"/>
          </a:p>
        </p:txBody>
      </p:sp>
      <p:sp>
        <p:nvSpPr>
          <p:cNvPr id="15" name="Text 13"/>
          <p:cNvSpPr txBox="1"/>
          <p:nvPr/>
        </p:nvSpPr>
        <p:spPr>
          <a:xfrm>
            <a:off x="1051560" y="2441448"/>
            <a:ext cx="2377440" cy="228600"/>
          </a:xfrm>
          <a:prstGeom prst="rect">
            <a:avLst/>
          </a:prstGeom>
          <a:noFill/>
          <a:ln/>
        </p:spPr>
        <p:txBody>
          <a:bodyPr wrap="square" lIns="0" tIns="0" rIns="0" bIns="0" rtlCol="0" anchor="t"/>
          <a:lstStyle/>
          <a:p>
            <a:pPr marL="0" indent="0">
              <a:buNone/>
            </a:pPr>
            <a:r>
              <a:rPr lang="en-US" sz="950" dirty="0">
                <a:solidFill>
                  <a:srgbClr val="6E655F"/>
                </a:solidFill>
                <a:latin typeface="Malgun Gothic" pitchFamily="34" charset="0"/>
                <a:ea typeface="Malgun Gothic" pitchFamily="34" charset="-122"/>
                <a:cs typeface="Malgun Gothic" pitchFamily="34" charset="-120"/>
              </a:rPr>
              <a:t>반응 속도가 중요한 입력</a:t>
            </a:r>
            <a:endParaRPr lang="en-US" sz="950" dirty="0"/>
          </a:p>
        </p:txBody>
      </p:sp>
      <p:sp>
        <p:nvSpPr>
          <p:cNvPr id="16" name="Text 14"/>
          <p:cNvSpPr txBox="1"/>
          <p:nvPr/>
        </p:nvSpPr>
        <p:spPr>
          <a:xfrm>
            <a:off x="3520440" y="2130552"/>
            <a:ext cx="5029200" cy="548640"/>
          </a:xfrm>
          <a:prstGeom prst="rect">
            <a:avLst/>
          </a:prstGeom>
          <a:noFill/>
          <a:ln/>
        </p:spPr>
        <p:txBody>
          <a:bodyPr wrap="square" lIns="0" tIns="0" rIns="0" bIns="0" rtlCol="0" anchor="ct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이동(압축 플래그) · 아이템 발동 · 잉크 소비 · 사격 입력</a:t>
            </a:r>
            <a:endParaRPr lang="en-US" sz="1050" dirty="0"/>
          </a:p>
        </p:txBody>
      </p:sp>
      <p:sp>
        <p:nvSpPr>
          <p:cNvPr id="17" name="Shape 15"/>
          <p:cNvSpPr/>
          <p:nvPr/>
        </p:nvSpPr>
        <p:spPr>
          <a:xfrm>
            <a:off x="457200" y="2880360"/>
            <a:ext cx="8229600" cy="694944"/>
          </a:xfrm>
          <a:prstGeom prst="roundRect">
            <a:avLst>
              <a:gd name="adj" fmla="val 7895"/>
            </a:avLst>
          </a:prstGeom>
          <a:solidFill>
            <a:srgbClr val="F3ECE6"/>
          </a:solidFill>
          <a:ln w="9525">
            <a:solidFill>
              <a:srgbClr val="F3ECE6"/>
            </a:solidFill>
            <a:prstDash val="solid"/>
          </a:ln>
        </p:spPr>
        <p:txBody>
          <a:bodyPr/>
          <a:lstStyle/>
          <a:p>
            <a:endParaRPr lang="ko-KR" altLang="en-US"/>
          </a:p>
        </p:txBody>
      </p:sp>
      <p:sp>
        <p:nvSpPr>
          <p:cNvPr id="18" name="Shape 16"/>
          <p:cNvSpPr/>
          <p:nvPr/>
        </p:nvSpPr>
        <p:spPr>
          <a:xfrm>
            <a:off x="621792" y="3081528"/>
            <a:ext cx="292608" cy="292608"/>
          </a:xfrm>
          <a:prstGeom prst="ellipse">
            <a:avLst/>
          </a:prstGeom>
          <a:solidFill>
            <a:srgbClr val="137A67"/>
          </a:solidFill>
          <a:ln w="12700">
            <a:solidFill>
              <a:srgbClr val="137A67"/>
            </a:solidFill>
            <a:prstDash val="solid"/>
          </a:ln>
        </p:spPr>
        <p:txBody>
          <a:bodyPr/>
          <a:lstStyle/>
          <a:p>
            <a:endParaRPr lang="ko-KR" altLang="en-US"/>
          </a:p>
        </p:txBody>
      </p:sp>
      <p:sp>
        <p:nvSpPr>
          <p:cNvPr id="19" name="Text 17"/>
          <p:cNvSpPr txBox="1"/>
          <p:nvPr/>
        </p:nvSpPr>
        <p:spPr>
          <a:xfrm>
            <a:off x="1051560" y="2990088"/>
            <a:ext cx="2377440" cy="274320"/>
          </a:xfrm>
          <a:prstGeom prst="rect">
            <a:avLst/>
          </a:prstGeom>
          <a:noFill/>
          <a:ln/>
        </p:spPr>
        <p:txBody>
          <a:bodyPr wrap="square" lIns="0" tIns="0" rIns="0" bIns="0" rtlCol="0" anchor="t"/>
          <a:lstStyle/>
          <a:p>
            <a:pPr marL="0" indent="0">
              <a:buNone/>
            </a:pPr>
            <a:r>
              <a:rPr lang="en-US" sz="1250" b="1" dirty="0">
                <a:solidFill>
                  <a:srgbClr val="2B1B12"/>
                </a:solidFill>
                <a:latin typeface="Malgun Gothic" pitchFamily="34" charset="0"/>
                <a:ea typeface="Malgun Gothic" pitchFamily="34" charset="-122"/>
                <a:cs typeface="Malgun Gothic" pitchFamily="34" charset="-120"/>
              </a:rPr>
              <a:t>각 머신이 로컬로</a:t>
            </a:r>
            <a:endParaRPr lang="en-US" sz="1250" dirty="0"/>
          </a:p>
        </p:txBody>
      </p:sp>
      <p:sp>
        <p:nvSpPr>
          <p:cNvPr id="20" name="Text 18"/>
          <p:cNvSpPr txBox="1"/>
          <p:nvPr/>
        </p:nvSpPr>
        <p:spPr>
          <a:xfrm>
            <a:off x="1051560" y="3264408"/>
            <a:ext cx="2377440" cy="228600"/>
          </a:xfrm>
          <a:prstGeom prst="rect">
            <a:avLst/>
          </a:prstGeom>
          <a:noFill/>
          <a:ln/>
        </p:spPr>
        <p:txBody>
          <a:bodyPr wrap="square" lIns="0" tIns="0" rIns="0" bIns="0" rtlCol="0" anchor="t"/>
          <a:lstStyle/>
          <a:p>
            <a:pPr marL="0" indent="0">
              <a:buNone/>
            </a:pPr>
            <a:r>
              <a:rPr lang="en-US" sz="950" dirty="0">
                <a:solidFill>
                  <a:srgbClr val="6E655F"/>
                </a:solidFill>
                <a:latin typeface="Malgun Gothic" pitchFamily="34" charset="0"/>
                <a:ea typeface="Malgun Gothic" pitchFamily="34" charset="-122"/>
                <a:cs typeface="Malgun Gothic" pitchFamily="34" charset="-120"/>
              </a:rPr>
              <a:t>보이고 들리는 것</a:t>
            </a:r>
            <a:endParaRPr lang="en-US" sz="950" dirty="0"/>
          </a:p>
        </p:txBody>
      </p:sp>
      <p:sp>
        <p:nvSpPr>
          <p:cNvPr id="21" name="Text 19"/>
          <p:cNvSpPr txBox="1"/>
          <p:nvPr/>
        </p:nvSpPr>
        <p:spPr>
          <a:xfrm>
            <a:off x="3520440" y="2953512"/>
            <a:ext cx="5029200" cy="548640"/>
          </a:xfrm>
          <a:prstGeom prst="rect">
            <a:avLst/>
          </a:prstGeom>
          <a:noFill/>
          <a:ln/>
        </p:spPr>
        <p:txBody>
          <a:bodyPr wrap="square" lIns="0" tIns="0" rIns="0" bIns="0" rtlCol="0" anchor="ct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소리 · 몽타주 · FX · 오라 · 연출용 탄 · 보드와 기울기 · 결과 연출</a:t>
            </a:r>
            <a:endParaRPr lang="en-US" sz="1050" dirty="0"/>
          </a:p>
        </p:txBody>
      </p:sp>
      <p:sp>
        <p:nvSpPr>
          <p:cNvPr id="22" name="Shape 20"/>
          <p:cNvSpPr/>
          <p:nvPr/>
        </p:nvSpPr>
        <p:spPr>
          <a:xfrm>
            <a:off x="457200" y="3703320"/>
            <a:ext cx="8229600" cy="694944"/>
          </a:xfrm>
          <a:prstGeom prst="roundRect">
            <a:avLst>
              <a:gd name="adj" fmla="val 7895"/>
            </a:avLst>
          </a:prstGeom>
          <a:solidFill>
            <a:srgbClr val="FFFFFF"/>
          </a:solidFill>
          <a:ln w="9525">
            <a:solidFill>
              <a:srgbClr val="DDD6D0"/>
            </a:solidFill>
            <a:prstDash val="solid"/>
          </a:ln>
        </p:spPr>
        <p:txBody>
          <a:bodyPr/>
          <a:lstStyle/>
          <a:p>
            <a:endParaRPr lang="ko-KR" altLang="en-US"/>
          </a:p>
        </p:txBody>
      </p:sp>
      <p:sp>
        <p:nvSpPr>
          <p:cNvPr id="23" name="Shape 21"/>
          <p:cNvSpPr/>
          <p:nvPr/>
        </p:nvSpPr>
        <p:spPr>
          <a:xfrm>
            <a:off x="621792" y="3904488"/>
            <a:ext cx="292608" cy="292608"/>
          </a:xfrm>
          <a:prstGeom prst="ellipse">
            <a:avLst/>
          </a:prstGeom>
          <a:solidFill>
            <a:srgbClr val="2B1B12"/>
          </a:solidFill>
          <a:ln w="12700">
            <a:solidFill>
              <a:srgbClr val="2B1B12"/>
            </a:solidFill>
            <a:prstDash val="solid"/>
          </a:ln>
        </p:spPr>
        <p:txBody>
          <a:bodyPr/>
          <a:lstStyle/>
          <a:p>
            <a:endParaRPr lang="ko-KR" altLang="en-US"/>
          </a:p>
        </p:txBody>
      </p:sp>
      <p:sp>
        <p:nvSpPr>
          <p:cNvPr id="24" name="Text 22"/>
          <p:cNvSpPr txBox="1"/>
          <p:nvPr/>
        </p:nvSpPr>
        <p:spPr>
          <a:xfrm>
            <a:off x="1051560" y="3813048"/>
            <a:ext cx="2377440" cy="274320"/>
          </a:xfrm>
          <a:prstGeom prst="rect">
            <a:avLst/>
          </a:prstGeom>
          <a:noFill/>
          <a:ln/>
        </p:spPr>
        <p:txBody>
          <a:bodyPr wrap="square" lIns="0" tIns="0" rIns="0" bIns="0" rtlCol="0" anchor="t"/>
          <a:lstStyle/>
          <a:p>
            <a:pPr marL="0" indent="0">
              <a:buNone/>
            </a:pPr>
            <a:r>
              <a:rPr lang="en-US" sz="1250" b="1" dirty="0">
                <a:solidFill>
                  <a:srgbClr val="2B1B12"/>
                </a:solidFill>
                <a:latin typeface="Malgun Gothic" pitchFamily="34" charset="0"/>
                <a:ea typeface="Malgun Gothic" pitchFamily="34" charset="-122"/>
                <a:cs typeface="Malgun Gothic" pitchFamily="34" charset="-120"/>
              </a:rPr>
              <a:t>복제로 보내는 값</a:t>
            </a:r>
            <a:endParaRPr lang="en-US" sz="1250" dirty="0"/>
          </a:p>
        </p:txBody>
      </p:sp>
      <p:sp>
        <p:nvSpPr>
          <p:cNvPr id="25" name="Text 23"/>
          <p:cNvSpPr txBox="1"/>
          <p:nvPr/>
        </p:nvSpPr>
        <p:spPr>
          <a:xfrm>
            <a:off x="1051560" y="4087368"/>
            <a:ext cx="2377440" cy="228600"/>
          </a:xfrm>
          <a:prstGeom prst="rect">
            <a:avLst/>
          </a:prstGeom>
          <a:noFill/>
          <a:ln/>
        </p:spPr>
        <p:txBody>
          <a:bodyPr wrap="square" lIns="0" tIns="0" rIns="0" bIns="0" rtlCol="0" anchor="t"/>
          <a:lstStyle/>
          <a:p>
            <a:pPr marL="0" indent="0">
              <a:buNone/>
            </a:pPr>
            <a:r>
              <a:rPr lang="en-US" sz="950" dirty="0">
                <a:solidFill>
                  <a:srgbClr val="6E655F"/>
                </a:solidFill>
                <a:latin typeface="Malgun Gothic" pitchFamily="34" charset="0"/>
                <a:ea typeface="Malgun Gothic" pitchFamily="34" charset="-122"/>
                <a:cs typeface="Malgun Gothic" pitchFamily="34" charset="-120"/>
              </a:rPr>
              <a:t>셋을 잇는 최소한의 상태</a:t>
            </a:r>
            <a:endParaRPr lang="en-US" sz="950" dirty="0"/>
          </a:p>
        </p:txBody>
      </p:sp>
      <p:sp>
        <p:nvSpPr>
          <p:cNvPr id="26" name="Text 24"/>
          <p:cNvSpPr txBox="1"/>
          <p:nvPr/>
        </p:nvSpPr>
        <p:spPr>
          <a:xfrm>
            <a:off x="3520440" y="3776472"/>
            <a:ext cx="5029200" cy="548640"/>
          </a:xfrm>
          <a:prstGeom prst="rect">
            <a:avLst/>
          </a:prstGeom>
          <a:noFill/>
          <a:ln/>
        </p:spPr>
        <p:txBody>
          <a:bodyPr wrap="square" lIns="0" tIns="0" rIns="0" bIns="0" rtlCol="0" anchor="ctr"/>
          <a:lstStyle/>
          <a:p>
            <a:pPr marL="0" indent="0">
              <a:buNone/>
            </a:pPr>
            <a:r>
              <a:rPr lang="en-US" sz="950" dirty="0">
                <a:solidFill>
                  <a:srgbClr val="2A221D"/>
                </a:solidFill>
                <a:latin typeface="Malgun Gothic" pitchFamily="34" charset="0"/>
                <a:ea typeface="Malgun Gothic" pitchFamily="34" charset="-122"/>
                <a:cs typeface="Malgun Gothic" pitchFamily="34" charset="-120"/>
              </a:rPr>
              <a:t>UnitData 참조 · HeldItem · Team · 상태 태그 · 경기 단계와 끝나는 시각 · 스플랫 기록</a:t>
            </a:r>
            <a:endParaRPr lang="en-US" sz="950" dirty="0"/>
          </a:p>
        </p:txBody>
      </p:sp>
      <p:sp>
        <p:nvSpPr>
          <p:cNvPr id="27" name="Text 25"/>
          <p:cNvSpPr txBox="1"/>
          <p:nvPr/>
        </p:nvSpPr>
        <p:spPr>
          <a:xfrm>
            <a:off x="457200" y="4526280"/>
            <a:ext cx="7589520" cy="228600"/>
          </a:xfrm>
          <a:prstGeom prst="rect">
            <a:avLst/>
          </a:prstGeom>
          <a:noFill/>
          <a:ln/>
        </p:spPr>
        <p:txBody>
          <a:bodyPr wrap="square" lIns="0" tIns="0" rIns="0" bIns="0" rtlCol="0" anchor="t"/>
          <a:lstStyle/>
          <a:p>
            <a:pPr marL="0" indent="0">
              <a:buNone/>
            </a:pPr>
            <a:r>
              <a:rPr lang="en-US" sz="1000" dirty="0">
                <a:solidFill>
                  <a:srgbClr val="6E655F"/>
                </a:solidFill>
                <a:latin typeface="Malgun Gothic" pitchFamily="34" charset="0"/>
                <a:ea typeface="Malgun Gothic" pitchFamily="34" charset="-122"/>
                <a:cs typeface="Malgun Gothic" pitchFamily="34" charset="-120"/>
              </a:rPr>
              <a:t>타이머는 끝나는 시각만 복제하고 남은 시간은 각 머신이 계산한다. 소리와 결과 연출에는 RPC가 없다.</a:t>
            </a:r>
            <a:endParaRPr lang="en-US" sz="1000" dirty="0"/>
          </a:p>
        </p:txBody>
      </p:sp>
    </p:spTree>
    <p:extLst>
      <p:ext uri="{BB962C8B-B14F-4D97-AF65-F5344CB8AC3E}">
        <p14:creationId xmlns:p14="http://schemas.microsoft.com/office/powerpoint/2010/main" val="1806472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ITEM · GAS</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아이템 한 개가 거치는 길</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7</a:t>
            </a:r>
            <a:endParaRPr lang="en-US" sz="900" dirty="0"/>
          </a:p>
        </p:txBody>
      </p:sp>
      <p:sp>
        <p:nvSpPr>
          <p:cNvPr id="7" name="Shape 5"/>
          <p:cNvSpPr/>
          <p:nvPr/>
        </p:nvSpPr>
        <p:spPr>
          <a:xfrm>
            <a:off x="457200" y="1188720"/>
            <a:ext cx="2651760" cy="3429000"/>
          </a:xfrm>
          <a:prstGeom prst="roundRect">
            <a:avLst>
              <a:gd name="adj" fmla="val 2069"/>
            </a:avLst>
          </a:prstGeom>
          <a:solidFill>
            <a:srgbClr val="EFEEEC"/>
          </a:solidFill>
          <a:ln w="12700">
            <a:solidFill>
              <a:srgbClr val="EFEEEC"/>
            </a:solidFill>
            <a:prstDash val="solid"/>
          </a:ln>
        </p:spPr>
        <p:txBody>
          <a:bodyPr/>
          <a:lstStyle/>
          <a:p>
            <a:endParaRPr lang="ko-KR" altLang="en-US"/>
          </a:p>
        </p:txBody>
      </p:sp>
      <p:sp>
        <p:nvSpPr>
          <p:cNvPr id="8" name="Text 6"/>
          <p:cNvSpPr txBox="1"/>
          <p:nvPr/>
        </p:nvSpPr>
        <p:spPr>
          <a:xfrm>
            <a:off x="457200" y="1261872"/>
            <a:ext cx="2651760" cy="274320"/>
          </a:xfrm>
          <a:prstGeom prst="rect">
            <a:avLst/>
          </a:prstGeom>
          <a:noFill/>
          <a:ln/>
        </p:spPr>
        <p:txBody>
          <a:bodyPr wrap="square" lIns="0" tIns="0" rIns="0" bIns="0" rtlCol="0" anchor="t"/>
          <a:lstStyle/>
          <a:p>
            <a:pPr marL="0" indent="0" algn="ctr">
              <a:buNone/>
            </a:pPr>
            <a:r>
              <a:rPr lang="en-US" sz="1150" b="1" dirty="0">
                <a:solidFill>
                  <a:srgbClr val="2B1B12"/>
                </a:solidFill>
                <a:latin typeface="Malgun Gothic" pitchFamily="34" charset="0"/>
                <a:ea typeface="Malgun Gothic" pitchFamily="34" charset="-122"/>
                <a:cs typeface="Malgun Gothic" pitchFamily="34" charset="-120"/>
              </a:rPr>
              <a:t>소유 클라이언트</a:t>
            </a:r>
            <a:endParaRPr lang="en-US" sz="1150" dirty="0"/>
          </a:p>
        </p:txBody>
      </p:sp>
      <p:sp>
        <p:nvSpPr>
          <p:cNvPr id="9" name="Shape 7"/>
          <p:cNvSpPr/>
          <p:nvPr/>
        </p:nvSpPr>
        <p:spPr>
          <a:xfrm>
            <a:off x="3246120" y="1188720"/>
            <a:ext cx="2651760" cy="3429000"/>
          </a:xfrm>
          <a:prstGeom prst="roundRect">
            <a:avLst>
              <a:gd name="adj" fmla="val 2069"/>
            </a:avLst>
          </a:prstGeom>
          <a:solidFill>
            <a:srgbClr val="EFEEEC"/>
          </a:solidFill>
          <a:ln w="12700">
            <a:solidFill>
              <a:srgbClr val="EFEEEC"/>
            </a:solidFill>
            <a:prstDash val="solid"/>
          </a:ln>
        </p:spPr>
        <p:txBody>
          <a:bodyPr/>
          <a:lstStyle/>
          <a:p>
            <a:endParaRPr lang="ko-KR" altLang="en-US"/>
          </a:p>
        </p:txBody>
      </p:sp>
      <p:sp>
        <p:nvSpPr>
          <p:cNvPr id="10" name="Text 8"/>
          <p:cNvSpPr txBox="1"/>
          <p:nvPr/>
        </p:nvSpPr>
        <p:spPr>
          <a:xfrm>
            <a:off x="3246120" y="1261872"/>
            <a:ext cx="2651760" cy="274320"/>
          </a:xfrm>
          <a:prstGeom prst="rect">
            <a:avLst/>
          </a:prstGeom>
          <a:noFill/>
          <a:ln/>
        </p:spPr>
        <p:txBody>
          <a:bodyPr wrap="square" lIns="0" tIns="0" rIns="0" bIns="0" rtlCol="0" anchor="t"/>
          <a:lstStyle/>
          <a:p>
            <a:pPr marL="0" indent="0" algn="ctr">
              <a:buNone/>
            </a:pPr>
            <a:r>
              <a:rPr lang="en-US" sz="1150" b="1" dirty="0">
                <a:solidFill>
                  <a:srgbClr val="2B1B12"/>
                </a:solidFill>
                <a:latin typeface="Malgun Gothic" pitchFamily="34" charset="0"/>
                <a:ea typeface="Malgun Gothic" pitchFamily="34" charset="-122"/>
                <a:cs typeface="Malgun Gothic" pitchFamily="34" charset="-120"/>
              </a:rPr>
              <a:t>서버</a:t>
            </a:r>
            <a:endParaRPr lang="en-US" sz="1150" dirty="0"/>
          </a:p>
        </p:txBody>
      </p:sp>
      <p:sp>
        <p:nvSpPr>
          <p:cNvPr id="11" name="Shape 9"/>
          <p:cNvSpPr/>
          <p:nvPr/>
        </p:nvSpPr>
        <p:spPr>
          <a:xfrm>
            <a:off x="6035040" y="1188720"/>
            <a:ext cx="2651760" cy="3429000"/>
          </a:xfrm>
          <a:prstGeom prst="roundRect">
            <a:avLst>
              <a:gd name="adj" fmla="val 2069"/>
            </a:avLst>
          </a:prstGeom>
          <a:solidFill>
            <a:srgbClr val="EFEEEC"/>
          </a:solidFill>
          <a:ln w="12700">
            <a:solidFill>
              <a:srgbClr val="EFEEEC"/>
            </a:solidFill>
            <a:prstDash val="solid"/>
          </a:ln>
        </p:spPr>
        <p:txBody>
          <a:bodyPr/>
          <a:lstStyle/>
          <a:p>
            <a:endParaRPr lang="ko-KR" altLang="en-US"/>
          </a:p>
        </p:txBody>
      </p:sp>
      <p:sp>
        <p:nvSpPr>
          <p:cNvPr id="12" name="Text 10"/>
          <p:cNvSpPr txBox="1"/>
          <p:nvPr/>
        </p:nvSpPr>
        <p:spPr>
          <a:xfrm>
            <a:off x="6035040" y="1261872"/>
            <a:ext cx="2651760" cy="274320"/>
          </a:xfrm>
          <a:prstGeom prst="rect">
            <a:avLst/>
          </a:prstGeom>
          <a:noFill/>
          <a:ln/>
        </p:spPr>
        <p:txBody>
          <a:bodyPr wrap="square" lIns="0" tIns="0" rIns="0" bIns="0" rtlCol="0" anchor="t"/>
          <a:lstStyle/>
          <a:p>
            <a:pPr marL="0" indent="0" algn="ctr">
              <a:buNone/>
            </a:pPr>
            <a:r>
              <a:rPr lang="en-US" sz="1150" b="1" dirty="0">
                <a:solidFill>
                  <a:srgbClr val="2B1B12"/>
                </a:solidFill>
                <a:latin typeface="Malgun Gothic" pitchFamily="34" charset="0"/>
                <a:ea typeface="Malgun Gothic" pitchFamily="34" charset="-122"/>
                <a:cs typeface="Malgun Gothic" pitchFamily="34" charset="-120"/>
              </a:rPr>
              <a:t>다른 클라이언트</a:t>
            </a:r>
            <a:endParaRPr lang="en-US" sz="1150" dirty="0"/>
          </a:p>
        </p:txBody>
      </p:sp>
      <p:sp>
        <p:nvSpPr>
          <p:cNvPr id="13" name="Shape 11"/>
          <p:cNvSpPr/>
          <p:nvPr/>
        </p:nvSpPr>
        <p:spPr>
          <a:xfrm>
            <a:off x="640080" y="1645920"/>
            <a:ext cx="2286000" cy="365760"/>
          </a:xfrm>
          <a:prstGeom prst="roundRect">
            <a:avLst>
              <a:gd name="adj" fmla="val 12500"/>
            </a:avLst>
          </a:prstGeom>
          <a:solidFill>
            <a:srgbClr val="FFFFFF"/>
          </a:solidFill>
          <a:ln w="9525">
            <a:solidFill>
              <a:srgbClr val="8E8780"/>
            </a:solidFill>
            <a:prstDash val="solid"/>
          </a:ln>
        </p:spPr>
        <p:txBody>
          <a:bodyPr/>
          <a:lstStyle/>
          <a:p>
            <a:endParaRPr lang="ko-KR" altLang="en-US"/>
          </a:p>
        </p:txBody>
      </p:sp>
      <p:sp>
        <p:nvSpPr>
          <p:cNvPr id="14" name="Text 12"/>
          <p:cNvSpPr txBox="1"/>
          <p:nvPr/>
        </p:nvSpPr>
        <p:spPr>
          <a:xfrm>
            <a:off x="676656" y="164592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HeldItem 복제 → HUD</a:t>
            </a:r>
            <a:endParaRPr lang="en-US" sz="950" dirty="0"/>
          </a:p>
        </p:txBody>
      </p:sp>
      <p:sp>
        <p:nvSpPr>
          <p:cNvPr id="15" name="Shape 13"/>
          <p:cNvSpPr/>
          <p:nvPr/>
        </p:nvSpPr>
        <p:spPr>
          <a:xfrm>
            <a:off x="640080" y="2194560"/>
            <a:ext cx="2286000" cy="365760"/>
          </a:xfrm>
          <a:prstGeom prst="roundRect">
            <a:avLst>
              <a:gd name="adj" fmla="val 12500"/>
            </a:avLst>
          </a:prstGeom>
          <a:solidFill>
            <a:srgbClr val="FFFFFF"/>
          </a:solidFill>
          <a:ln w="9525">
            <a:solidFill>
              <a:srgbClr val="8E8780"/>
            </a:solidFill>
            <a:prstDash val="solid"/>
          </a:ln>
        </p:spPr>
        <p:txBody>
          <a:bodyPr/>
          <a:lstStyle/>
          <a:p>
            <a:endParaRPr lang="ko-KR" altLang="en-US"/>
          </a:p>
        </p:txBody>
      </p:sp>
      <p:sp>
        <p:nvSpPr>
          <p:cNvPr id="16" name="Text 14"/>
          <p:cNvSpPr txBox="1"/>
          <p:nvPr/>
        </p:nvSpPr>
        <p:spPr>
          <a:xfrm>
            <a:off x="676656" y="219456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ItemAction → 예측 발동</a:t>
            </a:r>
            <a:endParaRPr lang="en-US" sz="950" dirty="0"/>
          </a:p>
        </p:txBody>
      </p:sp>
      <p:sp>
        <p:nvSpPr>
          <p:cNvPr id="17" name="Shape 15"/>
          <p:cNvSpPr/>
          <p:nvPr/>
        </p:nvSpPr>
        <p:spPr>
          <a:xfrm>
            <a:off x="640080" y="2743200"/>
            <a:ext cx="2286000" cy="365760"/>
          </a:xfrm>
          <a:prstGeom prst="roundRect">
            <a:avLst>
              <a:gd name="adj" fmla="val 12500"/>
            </a:avLst>
          </a:prstGeom>
          <a:solidFill>
            <a:srgbClr val="FFFFFF"/>
          </a:solidFill>
          <a:ln w="9525">
            <a:solidFill>
              <a:srgbClr val="8E8780"/>
            </a:solidFill>
            <a:prstDash val="dash"/>
          </a:ln>
        </p:spPr>
        <p:txBody>
          <a:bodyPr/>
          <a:lstStyle/>
          <a:p>
            <a:endParaRPr lang="ko-KR" altLang="en-US"/>
          </a:p>
        </p:txBody>
      </p:sp>
      <p:sp>
        <p:nvSpPr>
          <p:cNvPr id="18" name="Text 16"/>
          <p:cNvSpPr txBox="1"/>
          <p:nvPr/>
        </p:nvSpPr>
        <p:spPr>
          <a:xfrm>
            <a:off x="676656" y="274320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조준형: 미리보기 → 확정</a:t>
            </a:r>
            <a:endParaRPr lang="en-US" sz="950" dirty="0"/>
          </a:p>
        </p:txBody>
      </p:sp>
      <p:sp>
        <p:nvSpPr>
          <p:cNvPr id="19" name="Shape 17"/>
          <p:cNvSpPr/>
          <p:nvPr/>
        </p:nvSpPr>
        <p:spPr>
          <a:xfrm>
            <a:off x="640080" y="3291840"/>
            <a:ext cx="2286000" cy="365760"/>
          </a:xfrm>
          <a:prstGeom prst="roundRect">
            <a:avLst>
              <a:gd name="adj" fmla="val 12500"/>
            </a:avLst>
          </a:prstGeom>
          <a:solidFill>
            <a:srgbClr val="E2F4EF"/>
          </a:solidFill>
          <a:ln w="9525">
            <a:solidFill>
              <a:srgbClr val="1FA88E"/>
            </a:solidFill>
            <a:prstDash val="solid"/>
          </a:ln>
        </p:spPr>
        <p:txBody>
          <a:bodyPr/>
          <a:lstStyle/>
          <a:p>
            <a:endParaRPr lang="ko-KR" altLang="en-US"/>
          </a:p>
        </p:txBody>
      </p:sp>
      <p:sp>
        <p:nvSpPr>
          <p:cNvPr id="20" name="Text 18"/>
          <p:cNvSpPr txBox="1"/>
          <p:nvPr/>
        </p:nvSpPr>
        <p:spPr>
          <a:xfrm>
            <a:off x="676656" y="329184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예측 GE → 태그 · WaitDelay</a:t>
            </a:r>
            <a:endParaRPr lang="en-US" sz="950" dirty="0"/>
          </a:p>
        </p:txBody>
      </p:sp>
      <p:sp>
        <p:nvSpPr>
          <p:cNvPr id="21" name="Shape 19"/>
          <p:cNvSpPr/>
          <p:nvPr/>
        </p:nvSpPr>
        <p:spPr>
          <a:xfrm>
            <a:off x="640080" y="3840480"/>
            <a:ext cx="2286000" cy="365760"/>
          </a:xfrm>
          <a:prstGeom prst="roundRect">
            <a:avLst>
              <a:gd name="adj" fmla="val 12500"/>
            </a:avLst>
          </a:prstGeom>
          <a:solidFill>
            <a:srgbClr val="FFFFFF"/>
          </a:solidFill>
          <a:ln w="9525">
            <a:solidFill>
              <a:srgbClr val="8E8780"/>
            </a:solidFill>
            <a:prstDash val="solid"/>
          </a:ln>
        </p:spPr>
        <p:txBody>
          <a:bodyPr/>
          <a:lstStyle/>
          <a:p>
            <a:endParaRPr lang="ko-KR" altLang="en-US"/>
          </a:p>
        </p:txBody>
      </p:sp>
      <p:sp>
        <p:nvSpPr>
          <p:cNvPr id="22" name="Text 20"/>
          <p:cNvSpPr txBox="1"/>
          <p:nvPr/>
        </p:nvSpPr>
        <p:spPr>
          <a:xfrm>
            <a:off x="676656" y="384048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어빌리티 종료</a:t>
            </a:r>
            <a:endParaRPr lang="en-US" sz="950" dirty="0"/>
          </a:p>
        </p:txBody>
      </p:sp>
      <p:sp>
        <p:nvSpPr>
          <p:cNvPr id="23" name="Shape 21"/>
          <p:cNvSpPr/>
          <p:nvPr/>
        </p:nvSpPr>
        <p:spPr>
          <a:xfrm>
            <a:off x="3429000" y="1645920"/>
            <a:ext cx="2286000" cy="365760"/>
          </a:xfrm>
          <a:prstGeom prst="roundRect">
            <a:avLst>
              <a:gd name="adj" fmla="val 12500"/>
            </a:avLst>
          </a:prstGeom>
          <a:solidFill>
            <a:srgbClr val="F3ECE6"/>
          </a:solidFill>
          <a:ln w="9525">
            <a:solidFill>
              <a:srgbClr val="6B4430"/>
            </a:solidFill>
            <a:prstDash val="solid"/>
          </a:ln>
        </p:spPr>
        <p:txBody>
          <a:bodyPr/>
          <a:lstStyle/>
          <a:p>
            <a:endParaRPr lang="ko-KR" altLang="en-US"/>
          </a:p>
        </p:txBody>
      </p:sp>
      <p:sp>
        <p:nvSpPr>
          <p:cNvPr id="24" name="Text 22"/>
          <p:cNvSpPr txBox="1"/>
          <p:nvPr/>
        </p:nvSpPr>
        <p:spPr>
          <a:xfrm>
            <a:off x="3465576" y="164592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픽업 판정 → GiveItem</a:t>
            </a:r>
            <a:endParaRPr lang="en-US" sz="950" dirty="0"/>
          </a:p>
        </p:txBody>
      </p:sp>
      <p:sp>
        <p:nvSpPr>
          <p:cNvPr id="25" name="Shape 23"/>
          <p:cNvSpPr/>
          <p:nvPr/>
        </p:nvSpPr>
        <p:spPr>
          <a:xfrm>
            <a:off x="3429000" y="2194560"/>
            <a:ext cx="2286000" cy="365760"/>
          </a:xfrm>
          <a:prstGeom prst="roundRect">
            <a:avLst>
              <a:gd name="adj" fmla="val 12500"/>
            </a:avLst>
          </a:prstGeom>
          <a:solidFill>
            <a:srgbClr val="F3ECE6"/>
          </a:solidFill>
          <a:ln w="9525">
            <a:solidFill>
              <a:srgbClr val="6B4430"/>
            </a:solidFill>
            <a:prstDash val="solid"/>
          </a:ln>
        </p:spPr>
        <p:txBody>
          <a:bodyPr/>
          <a:lstStyle/>
          <a:p>
            <a:endParaRPr lang="ko-KR" altLang="en-US"/>
          </a:p>
        </p:txBody>
      </p:sp>
      <p:sp>
        <p:nvSpPr>
          <p:cNvPr id="26" name="Text 24"/>
          <p:cNvSpPr txBox="1"/>
          <p:nvPr/>
        </p:nvSpPr>
        <p:spPr>
          <a:xfrm>
            <a:off x="3465576" y="219456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ActivateAbility (확정)</a:t>
            </a:r>
            <a:endParaRPr lang="en-US" sz="950" dirty="0"/>
          </a:p>
        </p:txBody>
      </p:sp>
      <p:sp>
        <p:nvSpPr>
          <p:cNvPr id="27" name="Shape 25"/>
          <p:cNvSpPr/>
          <p:nvPr/>
        </p:nvSpPr>
        <p:spPr>
          <a:xfrm>
            <a:off x="3429000" y="2743200"/>
            <a:ext cx="2286000" cy="365760"/>
          </a:xfrm>
          <a:prstGeom prst="roundRect">
            <a:avLst>
              <a:gd name="adj" fmla="val 12500"/>
            </a:avLst>
          </a:prstGeom>
          <a:solidFill>
            <a:srgbClr val="F3ECE6"/>
          </a:solidFill>
          <a:ln w="9525">
            <a:solidFill>
              <a:srgbClr val="6B4430"/>
            </a:solidFill>
            <a:prstDash val="dash"/>
          </a:ln>
        </p:spPr>
        <p:txBody>
          <a:bodyPr/>
          <a:lstStyle/>
          <a:p>
            <a:endParaRPr lang="ko-KR" altLang="en-US"/>
          </a:p>
        </p:txBody>
      </p:sp>
      <p:sp>
        <p:nvSpPr>
          <p:cNvPr id="28" name="Text 26"/>
          <p:cNvSpPr txBox="1"/>
          <p:nvPr/>
        </p:nvSpPr>
        <p:spPr>
          <a:xfrm>
            <a:off x="3465576" y="274320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ConfirmAim</a:t>
            </a:r>
            <a:endParaRPr lang="en-US" sz="950" dirty="0"/>
          </a:p>
        </p:txBody>
      </p:sp>
      <p:sp>
        <p:nvSpPr>
          <p:cNvPr id="29" name="Shape 27"/>
          <p:cNvSpPr/>
          <p:nvPr/>
        </p:nvSpPr>
        <p:spPr>
          <a:xfrm>
            <a:off x="3429000" y="3291840"/>
            <a:ext cx="2286000" cy="365760"/>
          </a:xfrm>
          <a:prstGeom prst="roundRect">
            <a:avLst>
              <a:gd name="adj" fmla="val 12500"/>
            </a:avLst>
          </a:prstGeom>
          <a:solidFill>
            <a:srgbClr val="E2F4EF"/>
          </a:solidFill>
          <a:ln w="9525">
            <a:solidFill>
              <a:srgbClr val="1FA88E"/>
            </a:solidFill>
            <a:prstDash val="solid"/>
          </a:ln>
        </p:spPr>
        <p:txBody>
          <a:bodyPr/>
          <a:lstStyle/>
          <a:p>
            <a:endParaRPr lang="ko-KR" altLang="en-US"/>
          </a:p>
        </p:txBody>
      </p:sp>
      <p:sp>
        <p:nvSpPr>
          <p:cNvPr id="30" name="Text 28"/>
          <p:cNvSpPr txBox="1"/>
          <p:nvPr/>
        </p:nvSpPr>
        <p:spPr>
          <a:xfrm>
            <a:off x="3465576" y="329184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StartItem · 소모 · 실제 GE</a:t>
            </a:r>
            <a:endParaRPr lang="en-US" sz="950" dirty="0"/>
          </a:p>
        </p:txBody>
      </p:sp>
      <p:sp>
        <p:nvSpPr>
          <p:cNvPr id="31" name="Shape 29"/>
          <p:cNvSpPr/>
          <p:nvPr/>
        </p:nvSpPr>
        <p:spPr>
          <a:xfrm>
            <a:off x="3429000" y="3840480"/>
            <a:ext cx="2286000" cy="365760"/>
          </a:xfrm>
          <a:prstGeom prst="roundRect">
            <a:avLst>
              <a:gd name="adj" fmla="val 12500"/>
            </a:avLst>
          </a:prstGeom>
          <a:solidFill>
            <a:srgbClr val="F3ECE6"/>
          </a:solidFill>
          <a:ln w="9525">
            <a:solidFill>
              <a:srgbClr val="6B4430"/>
            </a:solidFill>
            <a:prstDash val="solid"/>
          </a:ln>
        </p:spPr>
        <p:txBody>
          <a:bodyPr/>
          <a:lstStyle/>
          <a:p>
            <a:endParaRPr lang="ko-KR" altLang="en-US"/>
          </a:p>
        </p:txBody>
      </p:sp>
      <p:sp>
        <p:nvSpPr>
          <p:cNvPr id="32" name="Text 30"/>
          <p:cNvSpPr txBox="1"/>
          <p:nvPr/>
        </p:nvSpPr>
        <p:spPr>
          <a:xfrm>
            <a:off x="3465576" y="384048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GE 만료 → 끝 동작 → End</a:t>
            </a:r>
            <a:endParaRPr lang="en-US" sz="950" dirty="0"/>
          </a:p>
        </p:txBody>
      </p:sp>
      <p:sp>
        <p:nvSpPr>
          <p:cNvPr id="33" name="Shape 31"/>
          <p:cNvSpPr/>
          <p:nvPr/>
        </p:nvSpPr>
        <p:spPr>
          <a:xfrm>
            <a:off x="6217920" y="1645920"/>
            <a:ext cx="2286000" cy="365760"/>
          </a:xfrm>
          <a:prstGeom prst="roundRect">
            <a:avLst>
              <a:gd name="adj" fmla="val 12500"/>
            </a:avLst>
          </a:prstGeom>
          <a:solidFill>
            <a:srgbClr val="FFFFFF"/>
          </a:solidFill>
          <a:ln w="9525">
            <a:solidFill>
              <a:srgbClr val="8E8780"/>
            </a:solidFill>
            <a:prstDash val="solid"/>
          </a:ln>
        </p:spPr>
        <p:txBody>
          <a:bodyPr/>
          <a:lstStyle/>
          <a:p>
            <a:endParaRPr lang="ko-KR" altLang="en-US"/>
          </a:p>
        </p:txBody>
      </p:sp>
      <p:sp>
        <p:nvSpPr>
          <p:cNvPr id="34" name="Text 32"/>
          <p:cNvSpPr txBox="1"/>
          <p:nvPr/>
        </p:nvSpPr>
        <p:spPr>
          <a:xfrm>
            <a:off x="6254496" y="164592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HeldItem 복제</a:t>
            </a:r>
            <a:endParaRPr lang="en-US" sz="950" dirty="0"/>
          </a:p>
        </p:txBody>
      </p:sp>
      <p:sp>
        <p:nvSpPr>
          <p:cNvPr id="35" name="Shape 33"/>
          <p:cNvSpPr/>
          <p:nvPr/>
        </p:nvSpPr>
        <p:spPr>
          <a:xfrm>
            <a:off x="6217920" y="3291840"/>
            <a:ext cx="2286000" cy="365760"/>
          </a:xfrm>
          <a:prstGeom prst="roundRect">
            <a:avLst>
              <a:gd name="adj" fmla="val 12500"/>
            </a:avLst>
          </a:prstGeom>
          <a:solidFill>
            <a:srgbClr val="E2F4EF"/>
          </a:solidFill>
          <a:ln w="9525">
            <a:solidFill>
              <a:srgbClr val="1FA88E"/>
            </a:solidFill>
            <a:prstDash val="solid"/>
          </a:ln>
        </p:spPr>
        <p:txBody>
          <a:bodyPr/>
          <a:lstStyle/>
          <a:p>
            <a:endParaRPr lang="ko-KR" altLang="en-US"/>
          </a:p>
        </p:txBody>
      </p:sp>
      <p:sp>
        <p:nvSpPr>
          <p:cNvPr id="36" name="Text 34"/>
          <p:cNvSpPr txBox="1"/>
          <p:nvPr/>
        </p:nvSpPr>
        <p:spPr>
          <a:xfrm>
            <a:off x="6254496" y="329184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태그 복제 → 오라 · 소리</a:t>
            </a:r>
            <a:endParaRPr lang="en-US" sz="950" dirty="0"/>
          </a:p>
        </p:txBody>
      </p:sp>
      <p:sp>
        <p:nvSpPr>
          <p:cNvPr id="37" name="Shape 35"/>
          <p:cNvSpPr/>
          <p:nvPr/>
        </p:nvSpPr>
        <p:spPr>
          <a:xfrm flipH="1">
            <a:off x="2926080" y="1828800"/>
            <a:ext cx="502920" cy="0"/>
          </a:xfrm>
          <a:prstGeom prst="line">
            <a:avLst/>
          </a:prstGeom>
          <a:noFill/>
          <a:ln w="12700">
            <a:solidFill>
              <a:srgbClr val="8E8780"/>
            </a:solidFill>
            <a:prstDash val="solid"/>
            <a:tailEnd type="triangle"/>
          </a:ln>
        </p:spPr>
        <p:txBody>
          <a:bodyPr/>
          <a:lstStyle/>
          <a:p>
            <a:endParaRPr lang="ko-KR" altLang="en-US"/>
          </a:p>
        </p:txBody>
      </p:sp>
      <p:sp>
        <p:nvSpPr>
          <p:cNvPr id="38" name="Text 36"/>
          <p:cNvSpPr txBox="1"/>
          <p:nvPr/>
        </p:nvSpPr>
        <p:spPr>
          <a:xfrm>
            <a:off x="2926080" y="1627632"/>
            <a:ext cx="502920" cy="164592"/>
          </a:xfrm>
          <a:prstGeom prst="rect">
            <a:avLst/>
          </a:prstGeom>
          <a:noFill/>
          <a:ln/>
        </p:spPr>
        <p:txBody>
          <a:bodyPr wrap="square" lIns="0" tIns="0" rIns="0" bIns="0" rtlCol="0" anchor="t"/>
          <a:lstStyle/>
          <a:p>
            <a:pPr marL="0" indent="0" algn="ctr">
              <a:buNone/>
            </a:pPr>
            <a:r>
              <a:rPr lang="en-US" sz="700" dirty="0">
                <a:solidFill>
                  <a:srgbClr val="6E655F"/>
                </a:solidFill>
                <a:latin typeface="Consolas" pitchFamily="34" charset="0"/>
                <a:ea typeface="Consolas" pitchFamily="34" charset="-122"/>
                <a:cs typeface="Consolas" pitchFamily="34" charset="-120"/>
              </a:rPr>
              <a:t>복제</a:t>
            </a:r>
            <a:endParaRPr lang="en-US" sz="700" dirty="0"/>
          </a:p>
        </p:txBody>
      </p:sp>
      <p:sp>
        <p:nvSpPr>
          <p:cNvPr id="39" name="Shape 37"/>
          <p:cNvSpPr/>
          <p:nvPr/>
        </p:nvSpPr>
        <p:spPr>
          <a:xfrm>
            <a:off x="5715000" y="1828800"/>
            <a:ext cx="502920" cy="0"/>
          </a:xfrm>
          <a:prstGeom prst="line">
            <a:avLst/>
          </a:prstGeom>
          <a:noFill/>
          <a:ln w="12700">
            <a:solidFill>
              <a:srgbClr val="8E8780"/>
            </a:solidFill>
            <a:prstDash val="solid"/>
            <a:tailEnd type="triangle"/>
          </a:ln>
        </p:spPr>
        <p:txBody>
          <a:bodyPr/>
          <a:lstStyle/>
          <a:p>
            <a:endParaRPr lang="ko-KR" altLang="en-US"/>
          </a:p>
        </p:txBody>
      </p:sp>
      <p:sp>
        <p:nvSpPr>
          <p:cNvPr id="40" name="Text 38"/>
          <p:cNvSpPr txBox="1"/>
          <p:nvPr/>
        </p:nvSpPr>
        <p:spPr>
          <a:xfrm>
            <a:off x="5715000" y="1627632"/>
            <a:ext cx="502920" cy="164592"/>
          </a:xfrm>
          <a:prstGeom prst="rect">
            <a:avLst/>
          </a:prstGeom>
          <a:noFill/>
          <a:ln/>
        </p:spPr>
        <p:txBody>
          <a:bodyPr wrap="square" lIns="0" tIns="0" rIns="0" bIns="0" rtlCol="0" anchor="t"/>
          <a:lstStyle/>
          <a:p>
            <a:pPr marL="0" indent="0" algn="ctr">
              <a:buNone/>
            </a:pPr>
            <a:r>
              <a:rPr lang="en-US" sz="700" dirty="0">
                <a:solidFill>
                  <a:srgbClr val="6E655F"/>
                </a:solidFill>
                <a:latin typeface="Consolas" pitchFamily="34" charset="0"/>
                <a:ea typeface="Consolas" pitchFamily="34" charset="-122"/>
                <a:cs typeface="Consolas" pitchFamily="34" charset="-120"/>
              </a:rPr>
              <a:t>복제</a:t>
            </a:r>
            <a:endParaRPr lang="en-US" sz="700" dirty="0"/>
          </a:p>
        </p:txBody>
      </p:sp>
      <p:sp>
        <p:nvSpPr>
          <p:cNvPr id="41" name="Shape 39"/>
          <p:cNvSpPr/>
          <p:nvPr/>
        </p:nvSpPr>
        <p:spPr>
          <a:xfrm>
            <a:off x="1783080" y="2011680"/>
            <a:ext cx="0" cy="182880"/>
          </a:xfrm>
          <a:prstGeom prst="line">
            <a:avLst/>
          </a:prstGeom>
          <a:noFill/>
          <a:ln w="12700">
            <a:solidFill>
              <a:srgbClr val="8E8780"/>
            </a:solidFill>
            <a:prstDash val="solid"/>
            <a:tailEnd type="triangle"/>
          </a:ln>
        </p:spPr>
        <p:txBody>
          <a:bodyPr/>
          <a:lstStyle/>
          <a:p>
            <a:endParaRPr lang="ko-KR" altLang="en-US"/>
          </a:p>
        </p:txBody>
      </p:sp>
      <p:sp>
        <p:nvSpPr>
          <p:cNvPr id="42" name="Shape 40"/>
          <p:cNvSpPr/>
          <p:nvPr/>
        </p:nvSpPr>
        <p:spPr>
          <a:xfrm>
            <a:off x="2926080" y="2377440"/>
            <a:ext cx="502920" cy="0"/>
          </a:xfrm>
          <a:prstGeom prst="line">
            <a:avLst/>
          </a:prstGeom>
          <a:noFill/>
          <a:ln w="12700">
            <a:solidFill>
              <a:srgbClr val="8E8780"/>
            </a:solidFill>
            <a:prstDash val="solid"/>
            <a:tailEnd type="triangle"/>
          </a:ln>
        </p:spPr>
        <p:txBody>
          <a:bodyPr/>
          <a:lstStyle/>
          <a:p>
            <a:endParaRPr lang="ko-KR" altLang="en-US"/>
          </a:p>
        </p:txBody>
      </p:sp>
      <p:sp>
        <p:nvSpPr>
          <p:cNvPr id="43" name="Text 41"/>
          <p:cNvSpPr txBox="1"/>
          <p:nvPr/>
        </p:nvSpPr>
        <p:spPr>
          <a:xfrm>
            <a:off x="2834640" y="2002536"/>
            <a:ext cx="685800" cy="164592"/>
          </a:xfrm>
          <a:prstGeom prst="rect">
            <a:avLst/>
          </a:prstGeom>
          <a:noFill/>
          <a:ln/>
        </p:spPr>
        <p:txBody>
          <a:bodyPr wrap="none" lIns="0" tIns="0" rIns="0" bIns="0" rtlCol="0" anchor="t"/>
          <a:lstStyle/>
          <a:p>
            <a:pPr marL="0" indent="0" algn="ctr">
              <a:buNone/>
            </a:pPr>
            <a:r>
              <a:rPr lang="en-US" sz="700" dirty="0">
                <a:solidFill>
                  <a:srgbClr val="6E655F"/>
                </a:solidFill>
                <a:latin typeface="Consolas" pitchFamily="34" charset="0"/>
                <a:ea typeface="Consolas" pitchFamily="34" charset="-122"/>
                <a:cs typeface="Consolas" pitchFamily="34" charset="-120"/>
              </a:rPr>
              <a:t>TryActivate</a:t>
            </a:r>
            <a:endParaRPr lang="en-US" sz="700" dirty="0"/>
          </a:p>
        </p:txBody>
      </p:sp>
      <p:sp>
        <p:nvSpPr>
          <p:cNvPr id="44" name="Shape 42"/>
          <p:cNvSpPr/>
          <p:nvPr/>
        </p:nvSpPr>
        <p:spPr>
          <a:xfrm>
            <a:off x="1783080" y="2560320"/>
            <a:ext cx="0" cy="182880"/>
          </a:xfrm>
          <a:prstGeom prst="line">
            <a:avLst/>
          </a:prstGeom>
          <a:noFill/>
          <a:ln w="12700">
            <a:solidFill>
              <a:srgbClr val="8E8780"/>
            </a:solidFill>
            <a:prstDash val="dash"/>
            <a:tailEnd type="triangle"/>
          </a:ln>
        </p:spPr>
        <p:txBody>
          <a:bodyPr/>
          <a:lstStyle/>
          <a:p>
            <a:endParaRPr lang="ko-KR" altLang="en-US"/>
          </a:p>
        </p:txBody>
      </p:sp>
      <p:sp>
        <p:nvSpPr>
          <p:cNvPr id="45" name="Shape 43"/>
          <p:cNvSpPr/>
          <p:nvPr/>
        </p:nvSpPr>
        <p:spPr>
          <a:xfrm>
            <a:off x="2926080" y="2926080"/>
            <a:ext cx="502920" cy="0"/>
          </a:xfrm>
          <a:prstGeom prst="line">
            <a:avLst/>
          </a:prstGeom>
          <a:noFill/>
          <a:ln w="12700">
            <a:solidFill>
              <a:srgbClr val="8E8780"/>
            </a:solidFill>
            <a:prstDash val="dash"/>
            <a:tailEnd type="triangle"/>
          </a:ln>
        </p:spPr>
        <p:txBody>
          <a:bodyPr/>
          <a:lstStyle/>
          <a:p>
            <a:endParaRPr lang="ko-KR" altLang="en-US"/>
          </a:p>
        </p:txBody>
      </p:sp>
      <p:sp>
        <p:nvSpPr>
          <p:cNvPr id="46" name="Text 44"/>
          <p:cNvSpPr txBox="1"/>
          <p:nvPr/>
        </p:nvSpPr>
        <p:spPr>
          <a:xfrm>
            <a:off x="2926080" y="2724912"/>
            <a:ext cx="502920" cy="164592"/>
          </a:xfrm>
          <a:prstGeom prst="rect">
            <a:avLst/>
          </a:prstGeom>
          <a:noFill/>
          <a:ln/>
        </p:spPr>
        <p:txBody>
          <a:bodyPr wrap="square" lIns="0" tIns="0" rIns="0" bIns="0" rtlCol="0" anchor="t"/>
          <a:lstStyle/>
          <a:p>
            <a:pPr marL="0" indent="0" algn="ctr">
              <a:buNone/>
            </a:pPr>
            <a:r>
              <a:rPr lang="en-US" sz="700" dirty="0">
                <a:solidFill>
                  <a:srgbClr val="6E655F"/>
                </a:solidFill>
                <a:latin typeface="Consolas" pitchFamily="34" charset="0"/>
                <a:ea typeface="Consolas" pitchFamily="34" charset="-122"/>
                <a:cs typeface="Consolas" pitchFamily="34" charset="-120"/>
              </a:rPr>
              <a:t>ItemInput</a:t>
            </a:r>
            <a:endParaRPr lang="en-US" sz="700" dirty="0"/>
          </a:p>
        </p:txBody>
      </p:sp>
      <p:sp>
        <p:nvSpPr>
          <p:cNvPr id="47" name="Shape 45"/>
          <p:cNvSpPr/>
          <p:nvPr/>
        </p:nvSpPr>
        <p:spPr>
          <a:xfrm>
            <a:off x="1783080" y="3108960"/>
            <a:ext cx="0" cy="182880"/>
          </a:xfrm>
          <a:prstGeom prst="line">
            <a:avLst/>
          </a:prstGeom>
          <a:noFill/>
          <a:ln w="12700">
            <a:solidFill>
              <a:srgbClr val="8E8780"/>
            </a:solidFill>
            <a:prstDash val="solid"/>
            <a:tailEnd type="triangle"/>
          </a:ln>
        </p:spPr>
        <p:txBody>
          <a:bodyPr/>
          <a:lstStyle/>
          <a:p>
            <a:endParaRPr lang="ko-KR" altLang="en-US"/>
          </a:p>
        </p:txBody>
      </p:sp>
      <p:sp>
        <p:nvSpPr>
          <p:cNvPr id="48" name="Shape 46"/>
          <p:cNvSpPr/>
          <p:nvPr/>
        </p:nvSpPr>
        <p:spPr>
          <a:xfrm>
            <a:off x="1783080" y="3657600"/>
            <a:ext cx="0" cy="182880"/>
          </a:xfrm>
          <a:prstGeom prst="line">
            <a:avLst/>
          </a:prstGeom>
          <a:noFill/>
          <a:ln w="12700">
            <a:solidFill>
              <a:srgbClr val="8E8780"/>
            </a:solidFill>
            <a:prstDash val="solid"/>
            <a:tailEnd type="triangle"/>
          </a:ln>
        </p:spPr>
        <p:txBody>
          <a:bodyPr/>
          <a:lstStyle/>
          <a:p>
            <a:endParaRPr lang="ko-KR" altLang="en-US"/>
          </a:p>
        </p:txBody>
      </p:sp>
      <p:sp>
        <p:nvSpPr>
          <p:cNvPr id="49" name="Shape 47"/>
          <p:cNvSpPr/>
          <p:nvPr/>
        </p:nvSpPr>
        <p:spPr>
          <a:xfrm>
            <a:off x="4572000" y="2560320"/>
            <a:ext cx="0" cy="182880"/>
          </a:xfrm>
          <a:prstGeom prst="line">
            <a:avLst/>
          </a:prstGeom>
          <a:noFill/>
          <a:ln w="12700">
            <a:solidFill>
              <a:srgbClr val="8E8780"/>
            </a:solidFill>
            <a:prstDash val="solid"/>
            <a:tailEnd type="triangle"/>
          </a:ln>
        </p:spPr>
        <p:txBody>
          <a:bodyPr/>
          <a:lstStyle/>
          <a:p>
            <a:endParaRPr lang="ko-KR" altLang="en-US"/>
          </a:p>
        </p:txBody>
      </p:sp>
      <p:sp>
        <p:nvSpPr>
          <p:cNvPr id="50" name="Shape 48"/>
          <p:cNvSpPr/>
          <p:nvPr/>
        </p:nvSpPr>
        <p:spPr>
          <a:xfrm>
            <a:off x="4572000" y="3108960"/>
            <a:ext cx="0" cy="182880"/>
          </a:xfrm>
          <a:prstGeom prst="line">
            <a:avLst/>
          </a:prstGeom>
          <a:noFill/>
          <a:ln w="12700">
            <a:solidFill>
              <a:srgbClr val="8E8780"/>
            </a:solidFill>
            <a:prstDash val="solid"/>
            <a:tailEnd type="triangle"/>
          </a:ln>
        </p:spPr>
        <p:txBody>
          <a:bodyPr/>
          <a:lstStyle/>
          <a:p>
            <a:endParaRPr lang="ko-KR" altLang="en-US"/>
          </a:p>
        </p:txBody>
      </p:sp>
      <p:sp>
        <p:nvSpPr>
          <p:cNvPr id="51" name="Shape 49"/>
          <p:cNvSpPr/>
          <p:nvPr/>
        </p:nvSpPr>
        <p:spPr>
          <a:xfrm>
            <a:off x="4572000" y="3657600"/>
            <a:ext cx="0" cy="182880"/>
          </a:xfrm>
          <a:prstGeom prst="line">
            <a:avLst/>
          </a:prstGeom>
          <a:noFill/>
          <a:ln w="12700">
            <a:solidFill>
              <a:srgbClr val="8E8780"/>
            </a:solidFill>
            <a:prstDash val="solid"/>
            <a:tailEnd type="triangle"/>
          </a:ln>
        </p:spPr>
        <p:txBody>
          <a:bodyPr/>
          <a:lstStyle/>
          <a:p>
            <a:endParaRPr lang="ko-KR" altLang="en-US"/>
          </a:p>
        </p:txBody>
      </p:sp>
      <p:sp>
        <p:nvSpPr>
          <p:cNvPr id="52" name="Shape 50"/>
          <p:cNvSpPr/>
          <p:nvPr/>
        </p:nvSpPr>
        <p:spPr>
          <a:xfrm>
            <a:off x="5715000" y="3474720"/>
            <a:ext cx="502920" cy="0"/>
          </a:xfrm>
          <a:prstGeom prst="line">
            <a:avLst/>
          </a:prstGeom>
          <a:noFill/>
          <a:ln w="22225">
            <a:solidFill>
              <a:srgbClr val="1FA88E"/>
            </a:solidFill>
            <a:prstDash val="solid"/>
            <a:tailEnd type="triangle"/>
          </a:ln>
        </p:spPr>
        <p:txBody>
          <a:bodyPr/>
          <a:lstStyle/>
          <a:p>
            <a:endParaRPr lang="ko-KR" altLang="en-US"/>
          </a:p>
        </p:txBody>
      </p:sp>
      <p:sp>
        <p:nvSpPr>
          <p:cNvPr id="53" name="Text 51"/>
          <p:cNvSpPr txBox="1"/>
          <p:nvPr/>
        </p:nvSpPr>
        <p:spPr>
          <a:xfrm>
            <a:off x="5715000" y="3273552"/>
            <a:ext cx="502920" cy="164592"/>
          </a:xfrm>
          <a:prstGeom prst="rect">
            <a:avLst/>
          </a:prstGeom>
          <a:noFill/>
          <a:ln/>
        </p:spPr>
        <p:txBody>
          <a:bodyPr wrap="square" lIns="0" tIns="0" rIns="0" bIns="0" rtlCol="0" anchor="t"/>
          <a:lstStyle/>
          <a:p>
            <a:pPr marL="0" indent="0" algn="ctr">
              <a:buNone/>
            </a:pPr>
            <a:r>
              <a:rPr lang="en-US" sz="700" dirty="0">
                <a:solidFill>
                  <a:srgbClr val="137A67"/>
                </a:solidFill>
                <a:latin typeface="Consolas" pitchFamily="34" charset="0"/>
                <a:ea typeface="Consolas" pitchFamily="34" charset="-122"/>
                <a:cs typeface="Consolas" pitchFamily="34" charset="-120"/>
              </a:rPr>
              <a:t>태그</a:t>
            </a:r>
            <a:endParaRPr lang="en-US" sz="700" dirty="0"/>
          </a:p>
        </p:txBody>
      </p:sp>
      <p:sp>
        <p:nvSpPr>
          <p:cNvPr id="54" name="Shape 52"/>
          <p:cNvSpPr/>
          <p:nvPr/>
        </p:nvSpPr>
        <p:spPr>
          <a:xfrm flipH="1">
            <a:off x="2926080" y="4023360"/>
            <a:ext cx="502920" cy="0"/>
          </a:xfrm>
          <a:prstGeom prst="line">
            <a:avLst/>
          </a:prstGeom>
          <a:noFill/>
          <a:ln w="12700">
            <a:solidFill>
              <a:srgbClr val="8E8780"/>
            </a:solidFill>
            <a:prstDash val="solid"/>
            <a:tailEnd type="triangle"/>
          </a:ln>
        </p:spPr>
        <p:txBody>
          <a:bodyPr/>
          <a:lstStyle/>
          <a:p>
            <a:endParaRPr lang="ko-KR" altLang="en-US"/>
          </a:p>
        </p:txBody>
      </p:sp>
      <p:sp>
        <p:nvSpPr>
          <p:cNvPr id="55" name="Text 53"/>
          <p:cNvSpPr txBox="1"/>
          <p:nvPr/>
        </p:nvSpPr>
        <p:spPr>
          <a:xfrm>
            <a:off x="2926080" y="3822192"/>
            <a:ext cx="502920" cy="164592"/>
          </a:xfrm>
          <a:prstGeom prst="rect">
            <a:avLst/>
          </a:prstGeom>
          <a:noFill/>
          <a:ln/>
        </p:spPr>
        <p:txBody>
          <a:bodyPr wrap="square" lIns="0" tIns="0" rIns="0" bIns="0" rtlCol="0" anchor="t"/>
          <a:lstStyle/>
          <a:p>
            <a:pPr marL="0" indent="0" algn="ctr">
              <a:buNone/>
            </a:pPr>
            <a:r>
              <a:rPr lang="en-US" sz="700" dirty="0">
                <a:solidFill>
                  <a:srgbClr val="6E655F"/>
                </a:solidFill>
                <a:latin typeface="Consolas" pitchFamily="34" charset="0"/>
                <a:ea typeface="Consolas" pitchFamily="34" charset="-122"/>
                <a:cs typeface="Consolas" pitchFamily="34" charset="-120"/>
              </a:rPr>
              <a:t>End</a:t>
            </a:r>
            <a:endParaRPr lang="en-US" sz="700" dirty="0"/>
          </a:p>
        </p:txBody>
      </p:sp>
      <p:sp>
        <p:nvSpPr>
          <p:cNvPr id="56" name="Text 54"/>
          <p:cNvSpPr txBox="1"/>
          <p:nvPr/>
        </p:nvSpPr>
        <p:spPr>
          <a:xfrm>
            <a:off x="6217920" y="3840480"/>
            <a:ext cx="2286000" cy="36576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점선은 조준형 아이템에만 있는 단계</a:t>
            </a:r>
            <a:endParaRPr lang="en-US" sz="850" dirty="0"/>
          </a:p>
        </p:txBody>
      </p:sp>
    </p:spTree>
    <p:extLst>
      <p:ext uri="{BB962C8B-B14F-4D97-AF65-F5344CB8AC3E}">
        <p14:creationId xmlns:p14="http://schemas.microsoft.com/office/powerpoint/2010/main" val="3552283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ITEM · DECISIONS</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아이템에서 내린 판단</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8</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266188"/>
        </p:xfrm>
        <a:graphic>
          <a:graphicData uri="http://schemas.openxmlformats.org/drawingml/2006/table">
            <a:tbl>
              <a:tblPr/>
              <a:tblGrid>
                <a:gridCol w="19202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상황</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처리</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효과</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지속 효과의 종료 시점</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서버는 GE 제거를, 클라이언트는 WaitDelay(Duration)를 기다린다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예측 핸들은 RTT 한 번 만에 사라지므로 클라이언트가 일찍 끝나지 않는다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조준 중 취소</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소모를 발동이 아니라 StartItem으로 미룬다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취소해도 아이템이 슬롯에 남고 환불 코드가 없다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효과 중 같은 아이템 재사용</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기존 스펙 재사용 + GE 스택 1 + Refresh</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타이머만 다시 시작되고 효과가 겹치지 않는다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이동을 바꾸는 상태 (SpeedStar)</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GAS 속성 대신 압축 이동 플래그로 보내고 서버가 태그로 허가한다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속도 보정으로 끌려가는 현상이 없다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상대가 거는 스턴</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AUnit::TryApplyStun 한 곳으로 모으고 끝나면 슈퍼아머를 건다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스턴이 겹치거나 연쇄로 갇히지 않는다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ITEM · CATALOG</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태그 하나로 판정과 연출을 함께 움직이는 8종</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9</a:t>
            </a:r>
            <a:endParaRPr lang="en-US" sz="900" dirty="0"/>
          </a:p>
        </p:txBody>
      </p:sp>
      <p:sp>
        <p:nvSpPr>
          <p:cNvPr id="7" name="Text 5"/>
          <p:cNvSpPr txBox="1"/>
          <p:nvPr/>
        </p:nvSpPr>
        <p:spPr>
          <a:xfrm>
            <a:off x="457200" y="1188720"/>
            <a:ext cx="8229600" cy="502920"/>
          </a:xfrm>
          <a:prstGeom prst="rect">
            <a:avLst/>
          </a:prstGeom>
          <a:noFill/>
          <a:ln/>
        </p:spPr>
        <p:txBody>
          <a:bodyPr wrap="square" lIns="0" tIns="0" rIns="0" bIns="0" rtlCol="0" anchor="t"/>
          <a:lstStyle/>
          <a:p>
            <a:pPr marL="0" indent="0">
              <a:buNone/>
            </a:pPr>
            <a:r>
              <a:rPr lang="en-US" sz="1150" dirty="0">
                <a:solidFill>
                  <a:srgbClr val="6E655F"/>
                </a:solidFill>
                <a:latin typeface="Malgun Gothic" pitchFamily="34" charset="0"/>
                <a:ea typeface="Malgun Gothic" pitchFamily="34" charset="-122"/>
                <a:cs typeface="Malgun Gothic" pitchFamily="34" charset="-120"/>
              </a:rPr>
              <a:t>지속형 아이템은 GE의 DynamicGrantedTags에 상태 태그를 싣는다.</a:t>
            </a:r>
            <a:endParaRPr lang="en-US" sz="1150" dirty="0"/>
          </a:p>
          <a:p>
            <a:pPr marL="0" indent="0">
              <a:buNone/>
            </a:pPr>
            <a:r>
              <a:rPr lang="en-US" sz="1150" dirty="0">
                <a:solidFill>
                  <a:srgbClr val="6E655F"/>
                </a:solidFill>
                <a:latin typeface="Malgun Gothic" pitchFamily="34" charset="0"/>
                <a:ea typeface="Malgun Gothic" pitchFamily="34" charset="-122"/>
                <a:cs typeface="Malgun Gothic" pitchFamily="34" charset="-120"/>
              </a:rPr>
              <a:t>총·이동 잠금과 연출이 모두 그 태그를 본다. 연출은 각 머신이 태그 변화를 보고 로컬로 켠다.</a:t>
            </a:r>
            <a:endParaRPr lang="en-US" sz="1150" dirty="0"/>
          </a:p>
        </p:txBody>
      </p:sp>
      <p:sp>
        <p:nvSpPr>
          <p:cNvPr id="8" name="Shape 6"/>
          <p:cNvSpPr/>
          <p:nvPr/>
        </p:nvSpPr>
        <p:spPr>
          <a:xfrm>
            <a:off x="457200" y="1874520"/>
            <a:ext cx="1920240" cy="1188720"/>
          </a:xfrm>
          <a:prstGeom prst="roundRect">
            <a:avLst>
              <a:gd name="adj" fmla="val 6154"/>
            </a:avLst>
          </a:prstGeom>
          <a:solidFill>
            <a:srgbClr val="E2F4EF"/>
          </a:solidFill>
          <a:ln w="12700">
            <a:solidFill>
              <a:srgbClr val="E2F4EF"/>
            </a:solidFill>
            <a:prstDash val="solid"/>
          </a:ln>
        </p:spPr>
        <p:txBody>
          <a:bodyPr/>
          <a:lstStyle/>
          <a:p>
            <a:endParaRPr lang="ko-KR" altLang="en-US"/>
          </a:p>
        </p:txBody>
      </p:sp>
      <p:sp>
        <p:nvSpPr>
          <p:cNvPr id="9" name="Text 7"/>
          <p:cNvSpPr txBox="1"/>
          <p:nvPr/>
        </p:nvSpPr>
        <p:spPr>
          <a:xfrm>
            <a:off x="594360" y="2011680"/>
            <a:ext cx="1645920" cy="274320"/>
          </a:xfrm>
          <a:prstGeom prst="rect">
            <a:avLst/>
          </a:prstGeom>
          <a:noFill/>
          <a:ln/>
        </p:spPr>
        <p:txBody>
          <a:bodyPr wrap="square" lIns="0" tIns="0" rIns="0" bIns="0" rtlCol="0" anchor="t"/>
          <a:lstStyle/>
          <a:p>
            <a:pPr marL="0" indent="0">
              <a:buNone/>
            </a:pPr>
            <a:r>
              <a:rPr lang="en-US" sz="1050" b="1" dirty="0">
                <a:solidFill>
                  <a:srgbClr val="2B1B12"/>
                </a:solidFill>
                <a:latin typeface="Consolas" pitchFamily="34" charset="0"/>
                <a:ea typeface="Consolas" pitchFamily="34" charset="-122"/>
                <a:cs typeface="Consolas" pitchFamily="34" charset="-120"/>
              </a:rPr>
              <a:t>SweetSpinner</a:t>
            </a:r>
            <a:endParaRPr lang="en-US" sz="1050" dirty="0"/>
          </a:p>
        </p:txBody>
      </p:sp>
      <p:sp>
        <p:nvSpPr>
          <p:cNvPr id="10" name="Shape 8"/>
          <p:cNvSpPr/>
          <p:nvPr/>
        </p:nvSpPr>
        <p:spPr>
          <a:xfrm>
            <a:off x="594360" y="2331720"/>
            <a:ext cx="402336" cy="219456"/>
          </a:xfrm>
          <a:prstGeom prst="roundRect">
            <a:avLst>
              <a:gd name="adj" fmla="val 50000"/>
            </a:avLst>
          </a:prstGeom>
          <a:solidFill>
            <a:srgbClr val="1FA88E"/>
          </a:solidFill>
          <a:ln w="12700">
            <a:solidFill>
              <a:srgbClr val="1FA88E"/>
            </a:solidFill>
            <a:prstDash val="solid"/>
          </a:ln>
        </p:spPr>
        <p:txBody>
          <a:bodyPr/>
          <a:lstStyle/>
          <a:p>
            <a:endParaRPr lang="ko-KR" altLang="en-US"/>
          </a:p>
        </p:txBody>
      </p:sp>
      <p:sp>
        <p:nvSpPr>
          <p:cNvPr id="11" name="Text 9"/>
          <p:cNvSpPr txBox="1"/>
          <p:nvPr/>
        </p:nvSpPr>
        <p:spPr>
          <a:xfrm>
            <a:off x="594360" y="2331720"/>
            <a:ext cx="40233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지속</a:t>
            </a:r>
            <a:endParaRPr lang="en-US" sz="900" dirty="0"/>
          </a:p>
        </p:txBody>
      </p:sp>
      <p:sp>
        <p:nvSpPr>
          <p:cNvPr id="12" name="Text 10"/>
          <p:cNvSpPr txBox="1"/>
          <p:nvPr/>
        </p:nvSpPr>
        <p:spPr>
          <a:xfrm>
            <a:off x="594360" y="2624328"/>
            <a:ext cx="1645920" cy="384048"/>
          </a:xfrm>
          <a:prstGeom prst="rect">
            <a:avLst/>
          </a:prstGeom>
          <a:noFill/>
          <a:ln/>
        </p:spPr>
        <p:txBody>
          <a:bodyPr wrap="square" lIns="0" tIns="0" rIns="0" bIns="0" rtlCol="0" anchor="t"/>
          <a:lstStyle/>
          <a:p>
            <a:pPr marL="0" indent="0">
              <a:buNone/>
            </a:pPr>
            <a:r>
              <a:rPr lang="en-US" sz="950" dirty="0">
                <a:solidFill>
                  <a:srgbClr val="2A221D"/>
                </a:solidFill>
                <a:latin typeface="Malgun Gothic" pitchFamily="34" charset="0"/>
                <a:ea typeface="Malgun Gothic" pitchFamily="34" charset="-122"/>
                <a:cs typeface="Malgun Gothic" pitchFamily="34" charset="-120"/>
              </a:rPr>
              <a:t>돌며 볼리 사격, 그동안 총 잠금</a:t>
            </a:r>
            <a:endParaRPr lang="en-US" sz="950" dirty="0"/>
          </a:p>
        </p:txBody>
      </p:sp>
      <p:sp>
        <p:nvSpPr>
          <p:cNvPr id="13" name="Shape 11"/>
          <p:cNvSpPr/>
          <p:nvPr/>
        </p:nvSpPr>
        <p:spPr>
          <a:xfrm>
            <a:off x="2532888" y="1874520"/>
            <a:ext cx="1920240" cy="1188720"/>
          </a:xfrm>
          <a:prstGeom prst="roundRect">
            <a:avLst>
              <a:gd name="adj" fmla="val 6154"/>
            </a:avLst>
          </a:prstGeom>
          <a:solidFill>
            <a:srgbClr val="E2F4EF"/>
          </a:solidFill>
          <a:ln w="12700">
            <a:solidFill>
              <a:srgbClr val="E2F4EF"/>
            </a:solidFill>
            <a:prstDash val="solid"/>
          </a:ln>
        </p:spPr>
        <p:txBody>
          <a:bodyPr/>
          <a:lstStyle/>
          <a:p>
            <a:endParaRPr lang="ko-KR" altLang="en-US"/>
          </a:p>
        </p:txBody>
      </p:sp>
      <p:sp>
        <p:nvSpPr>
          <p:cNvPr id="14" name="Text 12"/>
          <p:cNvSpPr txBox="1"/>
          <p:nvPr/>
        </p:nvSpPr>
        <p:spPr>
          <a:xfrm>
            <a:off x="2670048" y="2011680"/>
            <a:ext cx="1645920" cy="274320"/>
          </a:xfrm>
          <a:prstGeom prst="rect">
            <a:avLst/>
          </a:prstGeom>
          <a:noFill/>
          <a:ln/>
        </p:spPr>
        <p:txBody>
          <a:bodyPr wrap="square" lIns="0" tIns="0" rIns="0" bIns="0" rtlCol="0" anchor="t"/>
          <a:lstStyle/>
          <a:p>
            <a:pPr marL="0" indent="0">
              <a:buNone/>
            </a:pPr>
            <a:r>
              <a:rPr lang="en-US" sz="1050" b="1" dirty="0">
                <a:solidFill>
                  <a:srgbClr val="2B1B12"/>
                </a:solidFill>
                <a:latin typeface="Consolas" pitchFamily="34" charset="0"/>
                <a:ea typeface="Consolas" pitchFamily="34" charset="-122"/>
                <a:cs typeface="Consolas" pitchFamily="34" charset="-120"/>
              </a:rPr>
              <a:t>SpeedStar</a:t>
            </a:r>
            <a:endParaRPr lang="en-US" sz="1050" dirty="0"/>
          </a:p>
        </p:txBody>
      </p:sp>
      <p:sp>
        <p:nvSpPr>
          <p:cNvPr id="15" name="Shape 13"/>
          <p:cNvSpPr/>
          <p:nvPr/>
        </p:nvSpPr>
        <p:spPr>
          <a:xfrm>
            <a:off x="2670048" y="2331720"/>
            <a:ext cx="402336" cy="219456"/>
          </a:xfrm>
          <a:prstGeom prst="roundRect">
            <a:avLst>
              <a:gd name="adj" fmla="val 50000"/>
            </a:avLst>
          </a:prstGeom>
          <a:solidFill>
            <a:srgbClr val="1FA88E"/>
          </a:solidFill>
          <a:ln w="12700">
            <a:solidFill>
              <a:srgbClr val="1FA88E"/>
            </a:solidFill>
            <a:prstDash val="solid"/>
          </a:ln>
        </p:spPr>
        <p:txBody>
          <a:bodyPr/>
          <a:lstStyle/>
          <a:p>
            <a:endParaRPr lang="ko-KR" altLang="en-US"/>
          </a:p>
        </p:txBody>
      </p:sp>
      <p:sp>
        <p:nvSpPr>
          <p:cNvPr id="16" name="Text 14"/>
          <p:cNvSpPr txBox="1"/>
          <p:nvPr/>
        </p:nvSpPr>
        <p:spPr>
          <a:xfrm>
            <a:off x="2670048" y="2331720"/>
            <a:ext cx="40233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지속</a:t>
            </a:r>
            <a:endParaRPr lang="en-US" sz="900" dirty="0"/>
          </a:p>
        </p:txBody>
      </p:sp>
      <p:sp>
        <p:nvSpPr>
          <p:cNvPr id="17" name="Text 15"/>
          <p:cNvSpPr txBox="1"/>
          <p:nvPr/>
        </p:nvSpPr>
        <p:spPr>
          <a:xfrm>
            <a:off x="2670048" y="2624328"/>
            <a:ext cx="1645920" cy="384048"/>
          </a:xfrm>
          <a:prstGeom prst="rect">
            <a:avLst/>
          </a:prstGeom>
          <a:noFill/>
          <a:ln/>
        </p:spPr>
        <p:txBody>
          <a:bodyPr wrap="square" lIns="0" tIns="0" rIns="0" bIns="0" rtlCol="0" anchor="t"/>
          <a:lstStyle/>
          <a:p>
            <a:pPr marL="0" indent="0">
              <a:buNone/>
            </a:pPr>
            <a:r>
              <a:rPr lang="en-US" sz="950" dirty="0">
                <a:solidFill>
                  <a:srgbClr val="2A221D"/>
                </a:solidFill>
                <a:latin typeface="Malgun Gothic" pitchFamily="34" charset="0"/>
                <a:ea typeface="Malgun Gothic" pitchFamily="34" charset="-122"/>
                <a:cs typeface="Malgun Gothic" pitchFamily="34" charset="-120"/>
              </a:rPr>
              <a:t>속도 1.5배, 무지개 자국, 슈퍼아머</a:t>
            </a:r>
            <a:endParaRPr lang="en-US" sz="950" dirty="0"/>
          </a:p>
        </p:txBody>
      </p:sp>
      <p:sp>
        <p:nvSpPr>
          <p:cNvPr id="18" name="Shape 16"/>
          <p:cNvSpPr/>
          <p:nvPr/>
        </p:nvSpPr>
        <p:spPr>
          <a:xfrm>
            <a:off x="4608576" y="1874520"/>
            <a:ext cx="1920240" cy="1188720"/>
          </a:xfrm>
          <a:prstGeom prst="roundRect">
            <a:avLst>
              <a:gd name="adj" fmla="val 6154"/>
            </a:avLst>
          </a:prstGeom>
          <a:solidFill>
            <a:srgbClr val="E2F4EF"/>
          </a:solidFill>
          <a:ln w="12700">
            <a:solidFill>
              <a:srgbClr val="E2F4EF"/>
            </a:solidFill>
            <a:prstDash val="solid"/>
          </a:ln>
        </p:spPr>
        <p:txBody>
          <a:bodyPr/>
          <a:lstStyle/>
          <a:p>
            <a:endParaRPr lang="ko-KR" altLang="en-US"/>
          </a:p>
        </p:txBody>
      </p:sp>
      <p:sp>
        <p:nvSpPr>
          <p:cNvPr id="19" name="Text 17"/>
          <p:cNvSpPr txBox="1"/>
          <p:nvPr/>
        </p:nvSpPr>
        <p:spPr>
          <a:xfrm>
            <a:off x="4745736" y="2011680"/>
            <a:ext cx="1645920" cy="274320"/>
          </a:xfrm>
          <a:prstGeom prst="rect">
            <a:avLst/>
          </a:prstGeom>
          <a:noFill/>
          <a:ln/>
        </p:spPr>
        <p:txBody>
          <a:bodyPr wrap="square" lIns="0" tIns="0" rIns="0" bIns="0" rtlCol="0" anchor="t"/>
          <a:lstStyle/>
          <a:p>
            <a:pPr marL="0" indent="0">
              <a:buNone/>
            </a:pPr>
            <a:r>
              <a:rPr lang="en-US" sz="1050" b="1" dirty="0">
                <a:solidFill>
                  <a:srgbClr val="2B1B12"/>
                </a:solidFill>
                <a:latin typeface="Consolas" pitchFamily="34" charset="0"/>
                <a:ea typeface="Consolas" pitchFamily="34" charset="-122"/>
                <a:cs typeface="Consolas" pitchFamily="34" charset="-120"/>
              </a:rPr>
              <a:t>InfiniteAmmo</a:t>
            </a:r>
            <a:endParaRPr lang="en-US" sz="1050" dirty="0"/>
          </a:p>
        </p:txBody>
      </p:sp>
      <p:sp>
        <p:nvSpPr>
          <p:cNvPr id="20" name="Shape 18"/>
          <p:cNvSpPr/>
          <p:nvPr/>
        </p:nvSpPr>
        <p:spPr>
          <a:xfrm>
            <a:off x="4745736" y="2331720"/>
            <a:ext cx="402336" cy="219456"/>
          </a:xfrm>
          <a:prstGeom prst="roundRect">
            <a:avLst>
              <a:gd name="adj" fmla="val 50000"/>
            </a:avLst>
          </a:prstGeom>
          <a:solidFill>
            <a:srgbClr val="1FA88E"/>
          </a:solidFill>
          <a:ln w="12700">
            <a:solidFill>
              <a:srgbClr val="1FA88E"/>
            </a:solidFill>
            <a:prstDash val="solid"/>
          </a:ln>
        </p:spPr>
        <p:txBody>
          <a:bodyPr/>
          <a:lstStyle/>
          <a:p>
            <a:endParaRPr lang="ko-KR" altLang="en-US"/>
          </a:p>
        </p:txBody>
      </p:sp>
      <p:sp>
        <p:nvSpPr>
          <p:cNvPr id="21" name="Text 19"/>
          <p:cNvSpPr txBox="1"/>
          <p:nvPr/>
        </p:nvSpPr>
        <p:spPr>
          <a:xfrm>
            <a:off x="4745736" y="2331720"/>
            <a:ext cx="40233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지속</a:t>
            </a:r>
            <a:endParaRPr lang="en-US" sz="900" dirty="0"/>
          </a:p>
        </p:txBody>
      </p:sp>
      <p:sp>
        <p:nvSpPr>
          <p:cNvPr id="22" name="Text 20"/>
          <p:cNvSpPr txBox="1"/>
          <p:nvPr/>
        </p:nvSpPr>
        <p:spPr>
          <a:xfrm>
            <a:off x="4745736" y="2624328"/>
            <a:ext cx="1645920" cy="384048"/>
          </a:xfrm>
          <a:prstGeom prst="rect">
            <a:avLst/>
          </a:prstGeom>
          <a:noFill/>
          <a:ln/>
        </p:spPr>
        <p:txBody>
          <a:bodyPr wrap="square" lIns="0" tIns="0" rIns="0" bIns="0" rtlCol="0" anchor="t"/>
          <a:lstStyle/>
          <a:p>
            <a:pPr marL="0" indent="0">
              <a:buNone/>
            </a:pPr>
            <a:r>
              <a:rPr lang="en-US" sz="950" dirty="0">
                <a:solidFill>
                  <a:srgbClr val="2A221D"/>
                </a:solidFill>
                <a:latin typeface="Malgun Gothic" pitchFamily="34" charset="0"/>
                <a:ea typeface="Malgun Gothic" pitchFamily="34" charset="-122"/>
                <a:cs typeface="Malgun Gothic" pitchFamily="34" charset="-120"/>
              </a:rPr>
              <a:t>잉크 비용 0, 연사 간격 단축</a:t>
            </a:r>
            <a:endParaRPr lang="en-US" sz="950" dirty="0"/>
          </a:p>
        </p:txBody>
      </p:sp>
      <p:sp>
        <p:nvSpPr>
          <p:cNvPr id="23" name="Shape 21"/>
          <p:cNvSpPr/>
          <p:nvPr/>
        </p:nvSpPr>
        <p:spPr>
          <a:xfrm>
            <a:off x="6684264" y="1874520"/>
            <a:ext cx="1920240" cy="1188720"/>
          </a:xfrm>
          <a:prstGeom prst="roundRect">
            <a:avLst>
              <a:gd name="adj" fmla="val 6154"/>
            </a:avLst>
          </a:prstGeom>
          <a:solidFill>
            <a:srgbClr val="E2F4EF"/>
          </a:solidFill>
          <a:ln w="12700">
            <a:solidFill>
              <a:srgbClr val="E2F4EF"/>
            </a:solidFill>
            <a:prstDash val="solid"/>
          </a:ln>
        </p:spPr>
        <p:txBody>
          <a:bodyPr/>
          <a:lstStyle/>
          <a:p>
            <a:endParaRPr lang="ko-KR" altLang="en-US"/>
          </a:p>
        </p:txBody>
      </p:sp>
      <p:sp>
        <p:nvSpPr>
          <p:cNvPr id="24" name="Text 22"/>
          <p:cNvSpPr txBox="1"/>
          <p:nvPr/>
        </p:nvSpPr>
        <p:spPr>
          <a:xfrm>
            <a:off x="6821424" y="2011680"/>
            <a:ext cx="1645920" cy="274320"/>
          </a:xfrm>
          <a:prstGeom prst="rect">
            <a:avLst/>
          </a:prstGeom>
          <a:noFill/>
          <a:ln/>
        </p:spPr>
        <p:txBody>
          <a:bodyPr wrap="square" lIns="0" tIns="0" rIns="0" bIns="0" rtlCol="0" anchor="t"/>
          <a:lstStyle/>
          <a:p>
            <a:pPr marL="0" indent="0">
              <a:buNone/>
            </a:pPr>
            <a:r>
              <a:rPr lang="en-US" sz="1050" b="1" dirty="0">
                <a:solidFill>
                  <a:srgbClr val="2B1B12"/>
                </a:solidFill>
                <a:latin typeface="Consolas" pitchFamily="34" charset="0"/>
                <a:ea typeface="Consolas" pitchFamily="34" charset="-122"/>
                <a:cs typeface="Consolas" pitchFamily="34" charset="-120"/>
              </a:rPr>
              <a:t>HeroLanding</a:t>
            </a:r>
            <a:endParaRPr lang="en-US" sz="1050" dirty="0"/>
          </a:p>
        </p:txBody>
      </p:sp>
      <p:sp>
        <p:nvSpPr>
          <p:cNvPr id="25" name="Shape 23"/>
          <p:cNvSpPr/>
          <p:nvPr/>
        </p:nvSpPr>
        <p:spPr>
          <a:xfrm>
            <a:off x="6821424" y="2331720"/>
            <a:ext cx="402336" cy="219456"/>
          </a:xfrm>
          <a:prstGeom prst="roundRect">
            <a:avLst>
              <a:gd name="adj" fmla="val 50000"/>
            </a:avLst>
          </a:prstGeom>
          <a:solidFill>
            <a:srgbClr val="1FA88E"/>
          </a:solidFill>
          <a:ln w="12700">
            <a:solidFill>
              <a:srgbClr val="1FA88E"/>
            </a:solidFill>
            <a:prstDash val="solid"/>
          </a:ln>
        </p:spPr>
        <p:txBody>
          <a:bodyPr/>
          <a:lstStyle/>
          <a:p>
            <a:endParaRPr lang="ko-KR" altLang="en-US"/>
          </a:p>
        </p:txBody>
      </p:sp>
      <p:sp>
        <p:nvSpPr>
          <p:cNvPr id="26" name="Text 24"/>
          <p:cNvSpPr txBox="1"/>
          <p:nvPr/>
        </p:nvSpPr>
        <p:spPr>
          <a:xfrm>
            <a:off x="6821424" y="2331720"/>
            <a:ext cx="40233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지속</a:t>
            </a:r>
            <a:endParaRPr lang="en-US" sz="900" dirty="0"/>
          </a:p>
        </p:txBody>
      </p:sp>
      <p:sp>
        <p:nvSpPr>
          <p:cNvPr id="27" name="Text 25"/>
          <p:cNvSpPr txBox="1"/>
          <p:nvPr/>
        </p:nvSpPr>
        <p:spPr>
          <a:xfrm>
            <a:off x="6821424" y="2624328"/>
            <a:ext cx="1645920" cy="384048"/>
          </a:xfrm>
          <a:prstGeom prst="rect">
            <a:avLst/>
          </a:prstGeom>
          <a:noFill/>
          <a:ln/>
        </p:spPr>
        <p:txBody>
          <a:bodyPr wrap="square" lIns="0" tIns="0" rIns="0" bIns="0" rtlCol="0" anchor="t"/>
          <a:lstStyle/>
          <a:p>
            <a:pPr marL="0" indent="0">
              <a:buNone/>
            </a:pPr>
            <a:r>
              <a:rPr lang="en-US" sz="950" dirty="0">
                <a:solidFill>
                  <a:srgbClr val="2A221D"/>
                </a:solidFill>
                <a:latin typeface="Malgun Gothic" pitchFamily="34" charset="0"/>
                <a:ea typeface="Malgun Gothic" pitchFamily="34" charset="-122"/>
                <a:cs typeface="Malgun Gothic" pitchFamily="34" charset="-120"/>
              </a:rPr>
              <a:t>상승 → 조준 → 다이브, 착지 스턴</a:t>
            </a:r>
            <a:endParaRPr lang="en-US" sz="950" dirty="0"/>
          </a:p>
        </p:txBody>
      </p:sp>
      <p:sp>
        <p:nvSpPr>
          <p:cNvPr id="28" name="Shape 26"/>
          <p:cNvSpPr/>
          <p:nvPr/>
        </p:nvSpPr>
        <p:spPr>
          <a:xfrm>
            <a:off x="457200" y="3246120"/>
            <a:ext cx="1920240" cy="1188720"/>
          </a:xfrm>
          <a:prstGeom prst="roundRect">
            <a:avLst>
              <a:gd name="adj" fmla="val 6154"/>
            </a:avLst>
          </a:prstGeom>
          <a:solidFill>
            <a:srgbClr val="F3ECE6"/>
          </a:solidFill>
          <a:ln w="12700">
            <a:solidFill>
              <a:srgbClr val="F3ECE6"/>
            </a:solidFill>
            <a:prstDash val="solid"/>
          </a:ln>
        </p:spPr>
        <p:txBody>
          <a:bodyPr/>
          <a:lstStyle/>
          <a:p>
            <a:endParaRPr lang="ko-KR" altLang="en-US"/>
          </a:p>
        </p:txBody>
      </p:sp>
      <p:sp>
        <p:nvSpPr>
          <p:cNvPr id="29" name="Text 27"/>
          <p:cNvSpPr txBox="1"/>
          <p:nvPr/>
        </p:nvSpPr>
        <p:spPr>
          <a:xfrm>
            <a:off x="594360" y="3383280"/>
            <a:ext cx="1645920" cy="274320"/>
          </a:xfrm>
          <a:prstGeom prst="rect">
            <a:avLst/>
          </a:prstGeom>
          <a:noFill/>
          <a:ln/>
        </p:spPr>
        <p:txBody>
          <a:bodyPr wrap="square" lIns="0" tIns="0" rIns="0" bIns="0" rtlCol="0" anchor="t"/>
          <a:lstStyle/>
          <a:p>
            <a:pPr marL="0" indent="0">
              <a:buNone/>
            </a:pPr>
            <a:r>
              <a:rPr lang="en-US" sz="1050" b="1" dirty="0">
                <a:solidFill>
                  <a:srgbClr val="2B1B12"/>
                </a:solidFill>
                <a:latin typeface="Consolas" pitchFamily="34" charset="0"/>
                <a:ea typeface="Consolas" pitchFamily="34" charset="-122"/>
                <a:cs typeface="Consolas" pitchFamily="34" charset="-120"/>
              </a:rPr>
              <a:t>HoneyBalloon</a:t>
            </a:r>
            <a:endParaRPr lang="en-US" sz="1050" dirty="0"/>
          </a:p>
        </p:txBody>
      </p:sp>
      <p:sp>
        <p:nvSpPr>
          <p:cNvPr id="30" name="Shape 28"/>
          <p:cNvSpPr/>
          <p:nvPr/>
        </p:nvSpPr>
        <p:spPr>
          <a:xfrm>
            <a:off x="594360" y="3703320"/>
            <a:ext cx="683971" cy="219456"/>
          </a:xfrm>
          <a:prstGeom prst="roundRect">
            <a:avLst>
              <a:gd name="adj" fmla="val 50000"/>
            </a:avLst>
          </a:prstGeom>
          <a:solidFill>
            <a:srgbClr val="6B4430"/>
          </a:solidFill>
          <a:ln w="12700">
            <a:solidFill>
              <a:srgbClr val="6B4430"/>
            </a:solidFill>
            <a:prstDash val="solid"/>
          </a:ln>
        </p:spPr>
        <p:txBody>
          <a:bodyPr/>
          <a:lstStyle/>
          <a:p>
            <a:endParaRPr lang="ko-KR" altLang="en-US"/>
          </a:p>
        </p:txBody>
      </p:sp>
      <p:sp>
        <p:nvSpPr>
          <p:cNvPr id="31" name="Text 29"/>
          <p:cNvSpPr txBox="1"/>
          <p:nvPr/>
        </p:nvSpPr>
        <p:spPr>
          <a:xfrm>
            <a:off x="594360" y="3703320"/>
            <a:ext cx="683971"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즉발·조준</a:t>
            </a:r>
            <a:endParaRPr lang="en-US" sz="900" dirty="0"/>
          </a:p>
        </p:txBody>
      </p:sp>
      <p:sp>
        <p:nvSpPr>
          <p:cNvPr id="32" name="Text 30"/>
          <p:cNvSpPr txBox="1"/>
          <p:nvPr/>
        </p:nvSpPr>
        <p:spPr>
          <a:xfrm>
            <a:off x="594360" y="3995928"/>
            <a:ext cx="1645920" cy="384048"/>
          </a:xfrm>
          <a:prstGeom prst="rect">
            <a:avLst/>
          </a:prstGeom>
          <a:noFill/>
          <a:ln/>
        </p:spPr>
        <p:txBody>
          <a:bodyPr wrap="square" lIns="0" tIns="0" rIns="0" bIns="0" rtlCol="0" anchor="t"/>
          <a:lstStyle/>
          <a:p>
            <a:pPr marL="0" indent="0">
              <a:buNone/>
            </a:pPr>
            <a:r>
              <a:rPr lang="en-US" sz="950" dirty="0">
                <a:solidFill>
                  <a:srgbClr val="2A221D"/>
                </a:solidFill>
                <a:latin typeface="Malgun Gothic" pitchFamily="34" charset="0"/>
                <a:ea typeface="Malgun Gothic" pitchFamily="34" charset="-122"/>
                <a:cs typeface="Malgun Gothic" pitchFamily="34" charset="-120"/>
              </a:rPr>
              <a:t>포물선 미리보기, 터지면 범위 스턴</a:t>
            </a:r>
            <a:endParaRPr lang="en-US" sz="950" dirty="0"/>
          </a:p>
        </p:txBody>
      </p:sp>
      <p:sp>
        <p:nvSpPr>
          <p:cNvPr id="33" name="Shape 31"/>
          <p:cNvSpPr/>
          <p:nvPr/>
        </p:nvSpPr>
        <p:spPr>
          <a:xfrm>
            <a:off x="2532888" y="3246120"/>
            <a:ext cx="1920240" cy="1188720"/>
          </a:xfrm>
          <a:prstGeom prst="roundRect">
            <a:avLst>
              <a:gd name="adj" fmla="val 6154"/>
            </a:avLst>
          </a:prstGeom>
          <a:solidFill>
            <a:srgbClr val="F3ECE6"/>
          </a:solidFill>
          <a:ln w="12700">
            <a:solidFill>
              <a:srgbClr val="F3ECE6"/>
            </a:solidFill>
            <a:prstDash val="solid"/>
          </a:ln>
        </p:spPr>
        <p:txBody>
          <a:bodyPr/>
          <a:lstStyle/>
          <a:p>
            <a:endParaRPr lang="ko-KR" altLang="en-US"/>
          </a:p>
        </p:txBody>
      </p:sp>
      <p:sp>
        <p:nvSpPr>
          <p:cNvPr id="34" name="Text 32"/>
          <p:cNvSpPr txBox="1"/>
          <p:nvPr/>
        </p:nvSpPr>
        <p:spPr>
          <a:xfrm>
            <a:off x="2670048" y="3383280"/>
            <a:ext cx="1645920" cy="274320"/>
          </a:xfrm>
          <a:prstGeom prst="rect">
            <a:avLst/>
          </a:prstGeom>
          <a:noFill/>
          <a:ln/>
        </p:spPr>
        <p:txBody>
          <a:bodyPr wrap="square" lIns="0" tIns="0" rIns="0" bIns="0" rtlCol="0" anchor="t"/>
          <a:lstStyle/>
          <a:p>
            <a:pPr marL="0" indent="0">
              <a:buNone/>
            </a:pPr>
            <a:r>
              <a:rPr lang="en-US" sz="1050" b="1" dirty="0">
                <a:solidFill>
                  <a:srgbClr val="2B1B12"/>
                </a:solidFill>
                <a:latin typeface="Consolas" pitchFamily="34" charset="0"/>
                <a:ea typeface="Consolas" pitchFamily="34" charset="-122"/>
                <a:cs typeface="Consolas" pitchFamily="34" charset="-120"/>
              </a:rPr>
              <a:t>Bee</a:t>
            </a:r>
            <a:endParaRPr lang="en-US" sz="1050" dirty="0"/>
          </a:p>
        </p:txBody>
      </p:sp>
      <p:sp>
        <p:nvSpPr>
          <p:cNvPr id="35" name="Shape 33"/>
          <p:cNvSpPr/>
          <p:nvPr/>
        </p:nvSpPr>
        <p:spPr>
          <a:xfrm>
            <a:off x="2670048" y="3703320"/>
            <a:ext cx="402336" cy="219456"/>
          </a:xfrm>
          <a:prstGeom prst="roundRect">
            <a:avLst>
              <a:gd name="adj" fmla="val 50000"/>
            </a:avLst>
          </a:prstGeom>
          <a:solidFill>
            <a:srgbClr val="6B4430"/>
          </a:solidFill>
          <a:ln w="12700">
            <a:solidFill>
              <a:srgbClr val="6B4430"/>
            </a:solidFill>
            <a:prstDash val="solid"/>
          </a:ln>
        </p:spPr>
        <p:txBody>
          <a:bodyPr/>
          <a:lstStyle/>
          <a:p>
            <a:endParaRPr lang="ko-KR" altLang="en-US"/>
          </a:p>
        </p:txBody>
      </p:sp>
      <p:sp>
        <p:nvSpPr>
          <p:cNvPr id="36" name="Text 34"/>
          <p:cNvSpPr txBox="1"/>
          <p:nvPr/>
        </p:nvSpPr>
        <p:spPr>
          <a:xfrm>
            <a:off x="2670048" y="3703320"/>
            <a:ext cx="40233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즉발</a:t>
            </a:r>
            <a:endParaRPr lang="en-US" sz="900" dirty="0"/>
          </a:p>
        </p:txBody>
      </p:sp>
      <p:sp>
        <p:nvSpPr>
          <p:cNvPr id="37" name="Text 35"/>
          <p:cNvSpPr txBox="1"/>
          <p:nvPr/>
        </p:nvSpPr>
        <p:spPr>
          <a:xfrm>
            <a:off x="2670048" y="3995928"/>
            <a:ext cx="1645920" cy="384048"/>
          </a:xfrm>
          <a:prstGeom prst="rect">
            <a:avLst/>
          </a:prstGeom>
          <a:noFill/>
          <a:ln/>
        </p:spPr>
        <p:txBody>
          <a:bodyPr wrap="square" lIns="0" tIns="0" rIns="0" bIns="0" rtlCol="0" anchor="t"/>
          <a:lstStyle/>
          <a:p>
            <a:pPr marL="0" indent="0">
              <a:buNone/>
            </a:pPr>
            <a:r>
              <a:rPr lang="en-US" sz="950" dirty="0">
                <a:solidFill>
                  <a:srgbClr val="2A221D"/>
                </a:solidFill>
                <a:latin typeface="Malgun Gothic" pitchFamily="34" charset="0"/>
                <a:ea typeface="Malgun Gothic" pitchFamily="34" charset="-122"/>
                <a:cs typeface="Malgun Gothic" pitchFamily="34" charset="-120"/>
              </a:rPr>
              <a:t>가장 가까운 적 추적, 적중 시 스턴</a:t>
            </a:r>
            <a:endParaRPr lang="en-US" sz="950" dirty="0"/>
          </a:p>
        </p:txBody>
      </p:sp>
      <p:sp>
        <p:nvSpPr>
          <p:cNvPr id="38" name="Shape 36"/>
          <p:cNvSpPr/>
          <p:nvPr/>
        </p:nvSpPr>
        <p:spPr>
          <a:xfrm>
            <a:off x="4608576" y="3246120"/>
            <a:ext cx="1920240" cy="1188720"/>
          </a:xfrm>
          <a:prstGeom prst="roundRect">
            <a:avLst>
              <a:gd name="adj" fmla="val 6154"/>
            </a:avLst>
          </a:prstGeom>
          <a:solidFill>
            <a:srgbClr val="F3ECE6"/>
          </a:solidFill>
          <a:ln w="12700">
            <a:solidFill>
              <a:srgbClr val="F3ECE6"/>
            </a:solidFill>
            <a:prstDash val="solid"/>
          </a:ln>
        </p:spPr>
        <p:txBody>
          <a:bodyPr/>
          <a:lstStyle/>
          <a:p>
            <a:endParaRPr lang="ko-KR" altLang="en-US"/>
          </a:p>
        </p:txBody>
      </p:sp>
      <p:sp>
        <p:nvSpPr>
          <p:cNvPr id="39" name="Text 37"/>
          <p:cNvSpPr txBox="1"/>
          <p:nvPr/>
        </p:nvSpPr>
        <p:spPr>
          <a:xfrm>
            <a:off x="4745736" y="3383280"/>
            <a:ext cx="1645920" cy="274320"/>
          </a:xfrm>
          <a:prstGeom prst="rect">
            <a:avLst/>
          </a:prstGeom>
          <a:noFill/>
          <a:ln/>
        </p:spPr>
        <p:txBody>
          <a:bodyPr wrap="square" lIns="0" tIns="0" rIns="0" bIns="0" rtlCol="0" anchor="t"/>
          <a:lstStyle/>
          <a:p>
            <a:pPr marL="0" indent="0">
              <a:buNone/>
            </a:pPr>
            <a:r>
              <a:rPr lang="en-US" sz="1050" b="1" dirty="0">
                <a:solidFill>
                  <a:srgbClr val="2B1B12"/>
                </a:solidFill>
                <a:latin typeface="Consolas" pitchFamily="34" charset="0"/>
                <a:ea typeface="Consolas" pitchFamily="34" charset="-122"/>
                <a:cs typeface="Consolas" pitchFamily="34" charset="-120"/>
              </a:rPr>
              <a:t>DessertBombardment</a:t>
            </a:r>
            <a:endParaRPr lang="en-US" sz="1050" dirty="0"/>
          </a:p>
        </p:txBody>
      </p:sp>
      <p:sp>
        <p:nvSpPr>
          <p:cNvPr id="40" name="Shape 38"/>
          <p:cNvSpPr/>
          <p:nvPr/>
        </p:nvSpPr>
        <p:spPr>
          <a:xfrm>
            <a:off x="4745736" y="3703320"/>
            <a:ext cx="683971" cy="219456"/>
          </a:xfrm>
          <a:prstGeom prst="roundRect">
            <a:avLst>
              <a:gd name="adj" fmla="val 50000"/>
            </a:avLst>
          </a:prstGeom>
          <a:solidFill>
            <a:srgbClr val="6B4430"/>
          </a:solidFill>
          <a:ln w="12700">
            <a:solidFill>
              <a:srgbClr val="6B4430"/>
            </a:solidFill>
            <a:prstDash val="solid"/>
          </a:ln>
        </p:spPr>
        <p:txBody>
          <a:bodyPr/>
          <a:lstStyle/>
          <a:p>
            <a:endParaRPr lang="ko-KR" altLang="en-US"/>
          </a:p>
        </p:txBody>
      </p:sp>
      <p:sp>
        <p:nvSpPr>
          <p:cNvPr id="41" name="Text 39"/>
          <p:cNvSpPr txBox="1"/>
          <p:nvPr/>
        </p:nvSpPr>
        <p:spPr>
          <a:xfrm>
            <a:off x="4745736" y="3703320"/>
            <a:ext cx="683971"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즉발·조준</a:t>
            </a:r>
            <a:endParaRPr lang="en-US" sz="900" dirty="0"/>
          </a:p>
        </p:txBody>
      </p:sp>
      <p:sp>
        <p:nvSpPr>
          <p:cNvPr id="42" name="Text 40"/>
          <p:cNvSpPr txBox="1"/>
          <p:nvPr/>
        </p:nvSpPr>
        <p:spPr>
          <a:xfrm>
            <a:off x="4745736" y="3995928"/>
            <a:ext cx="1645920" cy="384048"/>
          </a:xfrm>
          <a:prstGeom prst="rect">
            <a:avLst/>
          </a:prstGeom>
          <a:noFill/>
          <a:ln/>
        </p:spPr>
        <p:txBody>
          <a:bodyPr wrap="square" lIns="0" tIns="0" rIns="0" bIns="0" rtlCol="0" anchor="t"/>
          <a:lstStyle/>
          <a:p>
            <a:pPr marL="0" indent="0">
              <a:buNone/>
            </a:pPr>
            <a:r>
              <a:rPr lang="en-US" sz="950" dirty="0">
                <a:solidFill>
                  <a:srgbClr val="2A221D"/>
                </a:solidFill>
                <a:latin typeface="Malgun Gothic" pitchFamily="34" charset="0"/>
                <a:ea typeface="Malgun Gothic" pitchFamily="34" charset="-122"/>
                <a:cs typeface="Malgun Gothic" pitchFamily="34" charset="-120"/>
              </a:rPr>
              <a:t>바라보는 방향으로 맵 끝까지 페인트 비</a:t>
            </a:r>
            <a:endParaRPr lang="en-US" sz="950" dirty="0"/>
          </a:p>
        </p:txBody>
      </p:sp>
      <p:sp>
        <p:nvSpPr>
          <p:cNvPr id="43" name="Shape 41"/>
          <p:cNvSpPr/>
          <p:nvPr/>
        </p:nvSpPr>
        <p:spPr>
          <a:xfrm>
            <a:off x="6684264" y="3246120"/>
            <a:ext cx="1920240" cy="1188720"/>
          </a:xfrm>
          <a:prstGeom prst="roundRect">
            <a:avLst>
              <a:gd name="adj" fmla="val 6154"/>
            </a:avLst>
          </a:prstGeom>
          <a:solidFill>
            <a:srgbClr val="F3ECE6"/>
          </a:solidFill>
          <a:ln w="12700">
            <a:solidFill>
              <a:srgbClr val="F3ECE6"/>
            </a:solidFill>
            <a:prstDash val="solid"/>
          </a:ln>
        </p:spPr>
        <p:txBody>
          <a:bodyPr/>
          <a:lstStyle/>
          <a:p>
            <a:endParaRPr lang="ko-KR" altLang="en-US"/>
          </a:p>
        </p:txBody>
      </p:sp>
      <p:sp>
        <p:nvSpPr>
          <p:cNvPr id="44" name="Text 42"/>
          <p:cNvSpPr txBox="1"/>
          <p:nvPr/>
        </p:nvSpPr>
        <p:spPr>
          <a:xfrm>
            <a:off x="6821424" y="3383280"/>
            <a:ext cx="1645920" cy="274320"/>
          </a:xfrm>
          <a:prstGeom prst="rect">
            <a:avLst/>
          </a:prstGeom>
          <a:noFill/>
          <a:ln/>
        </p:spPr>
        <p:txBody>
          <a:bodyPr wrap="square" lIns="0" tIns="0" rIns="0" bIns="0" rtlCol="0" anchor="t"/>
          <a:lstStyle/>
          <a:p>
            <a:pPr marL="0" indent="0">
              <a:buNone/>
            </a:pPr>
            <a:r>
              <a:rPr lang="en-US" sz="1050" b="1" dirty="0">
                <a:solidFill>
                  <a:srgbClr val="2B1B12"/>
                </a:solidFill>
                <a:latin typeface="Consolas" pitchFamily="34" charset="0"/>
                <a:ea typeface="Consolas" pitchFamily="34" charset="-122"/>
                <a:cs typeface="Consolas" pitchFamily="34" charset="-120"/>
              </a:rPr>
              <a:t>ChocolateFountain</a:t>
            </a:r>
            <a:endParaRPr lang="en-US" sz="1050" dirty="0"/>
          </a:p>
        </p:txBody>
      </p:sp>
      <p:sp>
        <p:nvSpPr>
          <p:cNvPr id="45" name="Shape 43"/>
          <p:cNvSpPr/>
          <p:nvPr/>
        </p:nvSpPr>
        <p:spPr>
          <a:xfrm>
            <a:off x="6821424" y="3703320"/>
            <a:ext cx="402336" cy="219456"/>
          </a:xfrm>
          <a:prstGeom prst="roundRect">
            <a:avLst>
              <a:gd name="adj" fmla="val 50000"/>
            </a:avLst>
          </a:prstGeom>
          <a:solidFill>
            <a:srgbClr val="6B4430"/>
          </a:solidFill>
          <a:ln w="12700">
            <a:solidFill>
              <a:srgbClr val="6B4430"/>
            </a:solidFill>
            <a:prstDash val="solid"/>
          </a:ln>
        </p:spPr>
        <p:txBody>
          <a:bodyPr/>
          <a:lstStyle/>
          <a:p>
            <a:endParaRPr lang="ko-KR" altLang="en-US"/>
          </a:p>
        </p:txBody>
      </p:sp>
      <p:sp>
        <p:nvSpPr>
          <p:cNvPr id="46" name="Text 44"/>
          <p:cNvSpPr txBox="1"/>
          <p:nvPr/>
        </p:nvSpPr>
        <p:spPr>
          <a:xfrm>
            <a:off x="6821424" y="3703320"/>
            <a:ext cx="40233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즉발</a:t>
            </a:r>
            <a:endParaRPr lang="en-US" sz="900" dirty="0"/>
          </a:p>
        </p:txBody>
      </p:sp>
      <p:sp>
        <p:nvSpPr>
          <p:cNvPr id="47" name="Text 45"/>
          <p:cNvSpPr txBox="1"/>
          <p:nvPr/>
        </p:nvSpPr>
        <p:spPr>
          <a:xfrm>
            <a:off x="6821424" y="3995928"/>
            <a:ext cx="1645920" cy="384048"/>
          </a:xfrm>
          <a:prstGeom prst="rect">
            <a:avLst/>
          </a:prstGeom>
          <a:noFill/>
          <a:ln/>
        </p:spPr>
        <p:txBody>
          <a:bodyPr wrap="square" lIns="0" tIns="0" rIns="0" bIns="0" rtlCol="0" anchor="t"/>
          <a:lstStyle/>
          <a:p>
            <a:pPr marL="0" indent="0">
              <a:buNone/>
            </a:pPr>
            <a:r>
              <a:rPr lang="en-US" sz="950" dirty="0">
                <a:solidFill>
                  <a:srgbClr val="2A221D"/>
                </a:solidFill>
                <a:latin typeface="Malgun Gothic" pitchFamily="34" charset="0"/>
                <a:ea typeface="Malgun Gothic" pitchFamily="34" charset="-122"/>
                <a:cs typeface="Malgun Gothic" pitchFamily="34" charset="-120"/>
              </a:rPr>
              <a:t>아군만 통과하는 돔, 적 탄 차단</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CHARACTER</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캐릭터 클래스는 하나, 차이는 데이터에만</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10</a:t>
            </a:r>
            <a:endParaRPr lang="en-US" sz="900" dirty="0"/>
          </a:p>
        </p:txBody>
      </p:sp>
      <p:sp>
        <p:nvSpPr>
          <p:cNvPr id="7" name="Shape 5"/>
          <p:cNvSpPr/>
          <p:nvPr/>
        </p:nvSpPr>
        <p:spPr>
          <a:xfrm>
            <a:off x="640080" y="1463040"/>
            <a:ext cx="3108960" cy="777240"/>
          </a:xfrm>
          <a:prstGeom prst="roundRect">
            <a:avLst>
              <a:gd name="adj" fmla="val 9412"/>
            </a:avLst>
          </a:prstGeom>
          <a:solidFill>
            <a:srgbClr val="2B1B12"/>
          </a:solidFill>
          <a:ln w="12700">
            <a:solidFill>
              <a:srgbClr val="2B1B12"/>
            </a:solidFill>
            <a:prstDash val="solid"/>
          </a:ln>
        </p:spPr>
        <p:txBody>
          <a:bodyPr/>
          <a:lstStyle/>
          <a:p>
            <a:endParaRPr lang="ko-KR" altLang="en-US"/>
          </a:p>
        </p:txBody>
      </p:sp>
      <p:sp>
        <p:nvSpPr>
          <p:cNvPr id="8" name="Text 6"/>
          <p:cNvSpPr txBox="1"/>
          <p:nvPr/>
        </p:nvSpPr>
        <p:spPr>
          <a:xfrm>
            <a:off x="640080" y="1463040"/>
            <a:ext cx="310896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onsolas" pitchFamily="34" charset="0"/>
                <a:ea typeface="Consolas" pitchFamily="34" charset="-122"/>
                <a:cs typeface="Consolas" pitchFamily="34" charset="-120"/>
              </a:rPr>
              <a:t>AUnit</a:t>
            </a:r>
            <a:endParaRPr lang="en-US" sz="1800" dirty="0"/>
          </a:p>
        </p:txBody>
      </p:sp>
      <p:sp>
        <p:nvSpPr>
          <p:cNvPr id="9" name="Text 7"/>
          <p:cNvSpPr txBox="1"/>
          <p:nvPr/>
        </p:nvSpPr>
        <p:spPr>
          <a:xfrm>
            <a:off x="640080" y="1874520"/>
            <a:ext cx="3108960" cy="274320"/>
          </a:xfrm>
          <a:prstGeom prst="rect">
            <a:avLst/>
          </a:prstGeom>
          <a:noFill/>
          <a:ln/>
        </p:spPr>
        <p:txBody>
          <a:bodyPr wrap="square" lIns="0" tIns="0" rIns="0" bIns="0" rtlCol="0" anchor="t"/>
          <a:lstStyle/>
          <a:p>
            <a:pPr marL="0" indent="0" algn="ctr">
              <a:buNone/>
            </a:pPr>
            <a:r>
              <a:rPr lang="en-US" sz="950" dirty="0">
                <a:solidFill>
                  <a:srgbClr val="9FE3D3"/>
                </a:solidFill>
                <a:latin typeface="Malgun Gothic" pitchFamily="34" charset="0"/>
                <a:ea typeface="Malgun Gothic" pitchFamily="34" charset="-122"/>
                <a:cs typeface="Malgun Gothic" pitchFamily="34" charset="-120"/>
              </a:rPr>
              <a:t>이동 · 대시 · 페인트 총 · ASC · 아이템 슬롯</a:t>
            </a:r>
            <a:endParaRPr lang="en-US" sz="950" dirty="0"/>
          </a:p>
        </p:txBody>
      </p:sp>
      <p:sp>
        <p:nvSpPr>
          <p:cNvPr id="10" name="Shape 8"/>
          <p:cNvSpPr/>
          <p:nvPr/>
        </p:nvSpPr>
        <p:spPr>
          <a:xfrm>
            <a:off x="1417320" y="2240280"/>
            <a:ext cx="0" cy="502920"/>
          </a:xfrm>
          <a:prstGeom prst="line">
            <a:avLst/>
          </a:prstGeom>
          <a:noFill/>
          <a:ln w="15875">
            <a:solidFill>
              <a:srgbClr val="6E655F"/>
            </a:solidFill>
            <a:prstDash val="solid"/>
          </a:ln>
        </p:spPr>
        <p:txBody>
          <a:bodyPr/>
          <a:lstStyle/>
          <a:p>
            <a:endParaRPr lang="ko-KR" altLang="en-US"/>
          </a:p>
        </p:txBody>
      </p:sp>
      <p:sp>
        <p:nvSpPr>
          <p:cNvPr id="11" name="Shape 9"/>
          <p:cNvSpPr/>
          <p:nvPr/>
        </p:nvSpPr>
        <p:spPr>
          <a:xfrm>
            <a:off x="2971800" y="2240280"/>
            <a:ext cx="0" cy="502920"/>
          </a:xfrm>
          <a:prstGeom prst="line">
            <a:avLst/>
          </a:prstGeom>
          <a:noFill/>
          <a:ln w="15875">
            <a:solidFill>
              <a:srgbClr val="6E655F"/>
            </a:solidFill>
            <a:prstDash val="solid"/>
          </a:ln>
        </p:spPr>
        <p:txBody>
          <a:bodyPr/>
          <a:lstStyle/>
          <a:p>
            <a:endParaRPr lang="ko-KR" altLang="en-US"/>
          </a:p>
        </p:txBody>
      </p:sp>
      <p:sp>
        <p:nvSpPr>
          <p:cNvPr id="12" name="Shape 10"/>
          <p:cNvSpPr/>
          <p:nvPr/>
        </p:nvSpPr>
        <p:spPr>
          <a:xfrm>
            <a:off x="640080" y="2743200"/>
            <a:ext cx="1508760" cy="1234440"/>
          </a:xfrm>
          <a:prstGeom prst="roundRect">
            <a:avLst>
              <a:gd name="adj" fmla="val 5926"/>
            </a:avLst>
          </a:prstGeom>
          <a:solidFill>
            <a:srgbClr val="1FA88E"/>
          </a:solidFill>
          <a:ln w="12700">
            <a:solidFill>
              <a:srgbClr val="1FA88E"/>
            </a:solidFill>
            <a:prstDash val="solid"/>
          </a:ln>
        </p:spPr>
        <p:txBody>
          <a:bodyPr/>
          <a:lstStyle/>
          <a:p>
            <a:endParaRPr lang="ko-KR" altLang="en-US"/>
          </a:p>
        </p:txBody>
      </p:sp>
      <p:sp>
        <p:nvSpPr>
          <p:cNvPr id="13" name="Text 11"/>
          <p:cNvSpPr txBox="1"/>
          <p:nvPr/>
        </p:nvSpPr>
        <p:spPr>
          <a:xfrm>
            <a:off x="640080" y="2834640"/>
            <a:ext cx="1508760" cy="320040"/>
          </a:xfrm>
          <a:prstGeom prst="rect">
            <a:avLst/>
          </a:prstGeom>
          <a:noFill/>
          <a:ln/>
        </p:spPr>
        <p:txBody>
          <a:bodyPr wrap="square" lIns="0" tIns="0" rIns="0" bIns="0" rtlCol="0" anchor="t"/>
          <a:lstStyle/>
          <a:p>
            <a:pPr marL="0" indent="0" algn="ctr">
              <a:buNone/>
            </a:pPr>
            <a:r>
              <a:rPr lang="en-US" sz="1200" b="1" dirty="0">
                <a:solidFill>
                  <a:srgbClr val="FFFFFF"/>
                </a:solidFill>
                <a:latin typeface="Consolas" pitchFamily="34" charset="0"/>
                <a:ea typeface="Consolas" pitchFamily="34" charset="-122"/>
                <a:cs typeface="Consolas" pitchFamily="34" charset="-120"/>
              </a:rPr>
              <a:t>Mint 데이터</a:t>
            </a:r>
            <a:endParaRPr lang="en-US" sz="1200" dirty="0"/>
          </a:p>
        </p:txBody>
      </p:sp>
      <p:sp>
        <p:nvSpPr>
          <p:cNvPr id="14" name="Text 12"/>
          <p:cNvSpPr txBox="1"/>
          <p:nvPr/>
        </p:nvSpPr>
        <p:spPr>
          <a:xfrm>
            <a:off x="731520" y="3200400"/>
            <a:ext cx="1325880" cy="640080"/>
          </a:xfrm>
          <a:prstGeom prst="rect">
            <a:avLst/>
          </a:prstGeom>
          <a:noFill/>
          <a:ln/>
        </p:spPr>
        <p:txBody>
          <a:bodyPr wrap="square" lIns="0" tIns="0" rIns="0" bIns="0" rtlCol="0" anchor="t"/>
          <a:lstStyle/>
          <a:p>
            <a:pPr marL="0" indent="0" algn="ctr">
              <a:buNone/>
            </a:pPr>
            <a:r>
              <a:rPr lang="en-US" sz="900" dirty="0">
                <a:solidFill>
                  <a:srgbClr val="FFFFFF"/>
                </a:solidFill>
                <a:latin typeface="Malgun Gothic" pitchFamily="34" charset="0"/>
                <a:ea typeface="Malgun Gothic" pitchFamily="34" charset="-122"/>
                <a:cs typeface="Malgun Gothic" pitchFamily="34" charset="-120"/>
              </a:rPr>
              <a:t>메시 · 애님 · 총 · 보드</a:t>
            </a:r>
            <a:endParaRPr lang="en-US" sz="900" dirty="0"/>
          </a:p>
          <a:p>
            <a:pPr marL="0" indent="0" algn="ctr">
              <a:buNone/>
            </a:pPr>
            <a:r>
              <a:rPr lang="en-US" sz="900" dirty="0">
                <a:solidFill>
                  <a:srgbClr val="FFFFFF"/>
                </a:solidFill>
                <a:latin typeface="Malgun Gothic" pitchFamily="34" charset="0"/>
                <a:ea typeface="Malgun Gothic" pitchFamily="34" charset="-122"/>
                <a:cs typeface="Malgun Gothic" pitchFamily="34" charset="-120"/>
              </a:rPr>
              <a:t>액션 피드백 · 사운드</a:t>
            </a:r>
            <a:endParaRPr lang="en-US" sz="900" dirty="0"/>
          </a:p>
        </p:txBody>
      </p:sp>
      <p:sp>
        <p:nvSpPr>
          <p:cNvPr id="15" name="Shape 13"/>
          <p:cNvSpPr/>
          <p:nvPr/>
        </p:nvSpPr>
        <p:spPr>
          <a:xfrm>
            <a:off x="2240280" y="2743200"/>
            <a:ext cx="1508760" cy="1234440"/>
          </a:xfrm>
          <a:prstGeom prst="roundRect">
            <a:avLst>
              <a:gd name="adj" fmla="val 5926"/>
            </a:avLst>
          </a:prstGeom>
          <a:solidFill>
            <a:srgbClr val="6B4430"/>
          </a:solidFill>
          <a:ln w="12700">
            <a:solidFill>
              <a:srgbClr val="6B4430"/>
            </a:solidFill>
            <a:prstDash val="solid"/>
          </a:ln>
        </p:spPr>
        <p:txBody>
          <a:bodyPr/>
          <a:lstStyle/>
          <a:p>
            <a:endParaRPr lang="ko-KR" altLang="en-US"/>
          </a:p>
        </p:txBody>
      </p:sp>
      <p:sp>
        <p:nvSpPr>
          <p:cNvPr id="16" name="Text 14"/>
          <p:cNvSpPr txBox="1"/>
          <p:nvPr/>
        </p:nvSpPr>
        <p:spPr>
          <a:xfrm>
            <a:off x="2240280" y="2834640"/>
            <a:ext cx="1508760" cy="320040"/>
          </a:xfrm>
          <a:prstGeom prst="rect">
            <a:avLst/>
          </a:prstGeom>
          <a:noFill/>
          <a:ln/>
        </p:spPr>
        <p:txBody>
          <a:bodyPr wrap="square" lIns="0" tIns="0" rIns="0" bIns="0" rtlCol="0" anchor="t"/>
          <a:lstStyle/>
          <a:p>
            <a:pPr marL="0" indent="0" algn="ctr">
              <a:buNone/>
            </a:pPr>
            <a:r>
              <a:rPr lang="en-US" sz="1200" b="1" dirty="0">
                <a:solidFill>
                  <a:srgbClr val="FFFFFF"/>
                </a:solidFill>
                <a:latin typeface="Consolas" pitchFamily="34" charset="0"/>
                <a:ea typeface="Consolas" pitchFamily="34" charset="-122"/>
                <a:cs typeface="Consolas" pitchFamily="34" charset="-120"/>
              </a:rPr>
              <a:t>Choco 데이터</a:t>
            </a:r>
            <a:endParaRPr lang="en-US" sz="1200" dirty="0"/>
          </a:p>
        </p:txBody>
      </p:sp>
      <p:sp>
        <p:nvSpPr>
          <p:cNvPr id="17" name="Text 15"/>
          <p:cNvSpPr txBox="1"/>
          <p:nvPr/>
        </p:nvSpPr>
        <p:spPr>
          <a:xfrm>
            <a:off x="2331720" y="3200400"/>
            <a:ext cx="1325880" cy="640080"/>
          </a:xfrm>
          <a:prstGeom prst="rect">
            <a:avLst/>
          </a:prstGeom>
          <a:noFill/>
          <a:ln/>
        </p:spPr>
        <p:txBody>
          <a:bodyPr wrap="square" lIns="0" tIns="0" rIns="0" bIns="0" rtlCol="0" anchor="t"/>
          <a:lstStyle/>
          <a:p>
            <a:pPr marL="0" indent="0" algn="ctr">
              <a:buNone/>
            </a:pPr>
            <a:r>
              <a:rPr lang="en-US" sz="900" dirty="0">
                <a:solidFill>
                  <a:srgbClr val="FFFFFF"/>
                </a:solidFill>
                <a:latin typeface="Malgun Gothic" pitchFamily="34" charset="0"/>
                <a:ea typeface="Malgun Gothic" pitchFamily="34" charset="-122"/>
                <a:cs typeface="Malgun Gothic" pitchFamily="34" charset="-120"/>
              </a:rPr>
              <a:t>메시 · 애님 · 총 · 보드</a:t>
            </a:r>
            <a:endParaRPr lang="en-US" sz="900" dirty="0"/>
          </a:p>
          <a:p>
            <a:pPr marL="0" indent="0" algn="ctr">
              <a:buNone/>
            </a:pPr>
            <a:r>
              <a:rPr lang="en-US" sz="900" dirty="0">
                <a:solidFill>
                  <a:srgbClr val="FFFFFF"/>
                </a:solidFill>
                <a:latin typeface="Malgun Gothic" pitchFamily="34" charset="0"/>
                <a:ea typeface="Malgun Gothic" pitchFamily="34" charset="-122"/>
                <a:cs typeface="Malgun Gothic" pitchFamily="34" charset="-120"/>
              </a:rPr>
              <a:t>액션 피드백 · 사운드</a:t>
            </a:r>
            <a:endParaRPr lang="en-US" sz="900" dirty="0"/>
          </a:p>
        </p:txBody>
      </p:sp>
      <p:sp>
        <p:nvSpPr>
          <p:cNvPr id="18" name="Text 16"/>
          <p:cNvSpPr txBox="1"/>
          <p:nvPr/>
        </p:nvSpPr>
        <p:spPr>
          <a:xfrm>
            <a:off x="640080" y="4069080"/>
            <a:ext cx="3108960" cy="228600"/>
          </a:xfrm>
          <a:prstGeom prst="rect">
            <a:avLst/>
          </a:prstGeom>
          <a:noFill/>
          <a:ln/>
        </p:spPr>
        <p:txBody>
          <a:bodyPr wrap="square" lIns="0" tIns="0" rIns="0" bIns="0" rtlCol="0" anchor="t"/>
          <a:lstStyle/>
          <a:p>
            <a:pPr marL="0" indent="0" algn="ctr">
              <a:buNone/>
            </a:pPr>
            <a:r>
              <a:rPr lang="en-US" sz="900" dirty="0">
                <a:solidFill>
                  <a:srgbClr val="6E655F"/>
                </a:solidFill>
                <a:latin typeface="Consolas" pitchFamily="34" charset="0"/>
                <a:ea typeface="Consolas" pitchFamily="34" charset="-122"/>
                <a:cs typeface="Consolas" pitchFamily="34" charset="-120"/>
              </a:rPr>
              <a:t>UUnitDataAsset</a:t>
            </a:r>
            <a:endParaRPr lang="en-US" sz="900" dirty="0"/>
          </a:p>
        </p:txBody>
      </p:sp>
      <p:sp>
        <p:nvSpPr>
          <p:cNvPr id="19" name="Text 17"/>
          <p:cNvSpPr txBox="1"/>
          <p:nvPr/>
        </p:nvSpPr>
        <p:spPr>
          <a:xfrm>
            <a:off x="4206240" y="1371600"/>
            <a:ext cx="4480560" cy="320040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2A221D"/>
                </a:solidFill>
                <a:latin typeface="Malgun Gothic" pitchFamily="34" charset="0"/>
                <a:ea typeface="Malgun Gothic" pitchFamily="34" charset="-122"/>
                <a:cs typeface="Malgun Gothic" pitchFamily="34" charset="-120"/>
              </a:rPr>
              <a:t>캐릭터를 늘리는 일은 에셋 하나를 만드는 일이고 컴파일이 필요 없다</a:t>
            </a:r>
            <a:endParaRPr lang="en-US" sz="1200" dirty="0"/>
          </a:p>
          <a:p>
            <a:pPr marL="152400" indent="-152400">
              <a:spcAft>
                <a:spcPts val="500"/>
              </a:spcAft>
              <a:buSzPct val="100000"/>
              <a:buChar char="•"/>
            </a:pPr>
            <a:r>
              <a:rPr lang="en-US" sz="1200" dirty="0">
                <a:solidFill>
                  <a:srgbClr val="2A221D"/>
                </a:solidFill>
                <a:latin typeface="Malgun Gothic" pitchFamily="34" charset="0"/>
                <a:ea typeface="Malgun Gothic" pitchFamily="34" charset="-122"/>
                <a:cs typeface="Malgun Gothic" pitchFamily="34" charset="-120"/>
              </a:rPr>
              <a:t>게임모드가 폰을 지연 스폰하고 FinishSpawning 전에 팀의 UnitData를 넣는다. 첫 프레임부터 올바른 메시라 깜빡임이 없다</a:t>
            </a:r>
            <a:endParaRPr lang="en-US" sz="1200" dirty="0"/>
          </a:p>
          <a:p>
            <a:pPr marL="152400" indent="-152400">
              <a:spcAft>
                <a:spcPts val="500"/>
              </a:spcAft>
              <a:buSzPct val="100000"/>
              <a:buChar char="•"/>
            </a:pPr>
            <a:r>
              <a:rPr lang="en-US" sz="1200" dirty="0">
                <a:solidFill>
                  <a:srgbClr val="2A221D"/>
                </a:solidFill>
                <a:latin typeface="Malgun Gothic" pitchFamily="34" charset="0"/>
                <a:ea typeface="Malgun Gothic" pitchFamily="34" charset="-122"/>
                <a:cs typeface="Malgun Gothic" pitchFamily="34" charset="-120"/>
              </a:rPr>
              <a:t>팀 색 적용은 여러 번 불러도 안전하게 만들고 PossessedBy, OnRep_PlayerState, OnRep_Team 세 곳에서 부른다. 도착 순서가 보장되지 않기 때문이다</a:t>
            </a:r>
            <a:endParaRPr lang="en-US" sz="1200" dirty="0"/>
          </a:p>
          <a:p>
            <a:pPr marL="152400" indent="-152400">
              <a:spcAft>
                <a:spcPts val="500"/>
              </a:spcAft>
              <a:buSzPct val="100000"/>
              <a:buChar char="•"/>
            </a:pPr>
            <a:r>
              <a:rPr lang="en-US" sz="1200" dirty="0">
                <a:solidFill>
                  <a:srgbClr val="2A221D"/>
                </a:solidFill>
                <a:latin typeface="Malgun Gothic" pitchFamily="34" charset="0"/>
                <a:ea typeface="Malgun Gothic" pitchFamily="34" charset="-122"/>
                <a:cs typeface="Malgun Gothic" pitchFamily="34" charset="-120"/>
              </a:rPr>
              <a:t>입력 설정은 플레이어의 것이라 UnitData와 따로 둔다</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Movement Why">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457200" y="256032"/>
            <a:ext cx="6858000" cy="228600"/>
          </a:xfrm>
          <a:prstGeom prst="rect">
            <a:avLst/>
          </a:prstGeom>
          <a:noFill/>
          <a:ln/>
        </p:spPr>
        <p:txBody>
          <a:bodyPr wrap="square" lIns="0" tIns="0" rIns="0" bIns="0" rtlCol="0" anchor="t"/>
          <a:lstStyle/>
          <a:p>
            <a:pPr marL="0" indent="0">
              <a:buNone/>
            </a:pPr>
            <a:r>
              <a:rPr lang="ko-KR" altLang="en-US" sz="1000" b="1" spc="200" dirty="0">
                <a:solidFill>
                  <a:srgbClr val="1FA88E"/>
                </a:solidFill>
                <a:latin typeface="Malgun Gothic" pitchFamily="34" charset="0"/>
                <a:ea typeface="Malgun Gothic" pitchFamily="34" charset="-122"/>
                <a:cs typeface="Malgun Gothic" pitchFamily="34" charset="-120"/>
              </a:rPr>
              <a:t>CHARACTER · WHY CUSTOM MOVEMENT</a:t>
            </a:r>
          </a:p>
        </p:txBody>
      </p:sp>
      <p:sp>
        <p:nvSpPr>
          <p:cNvPr id="3" name="Title"/>
          <p:cNvSpPr txBox="1"/>
          <p:nvPr/>
        </p:nvSpPr>
        <p:spPr>
          <a:xfrm>
            <a:off x="457200" y="475488"/>
            <a:ext cx="7589520" cy="548640"/>
          </a:xfrm>
          <a:prstGeom prst="rect">
            <a:avLst/>
          </a:prstGeom>
          <a:noFill/>
          <a:ln/>
        </p:spPr>
        <p:txBody>
          <a:bodyPr wrap="square" lIns="0" tIns="0" rIns="0" bIns="0" rtlCol="0" anchor="t"/>
          <a:lstStyle/>
          <a:p>
            <a:pPr marL="0" indent="0">
              <a:buNone/>
            </a:pPr>
            <a:r>
              <a:rPr lang="ko-KR" altLang="en-US" sz="2400" b="1" dirty="0">
                <a:solidFill>
                  <a:srgbClr val="2B1B12"/>
                </a:solidFill>
                <a:latin typeface="Malgun Gothic" pitchFamily="34" charset="0"/>
                <a:ea typeface="Malgun Gothic" pitchFamily="34" charset="-122"/>
                <a:cs typeface="Malgun Gothic" pitchFamily="34" charset="-120"/>
              </a:rPr>
              <a:t>RPC로 알리면 늦고, 무브에 실으면 같다</a:t>
            </a:r>
          </a:p>
        </p:txBody>
      </p:sp>
      <p:sp>
        <p:nvSpPr>
          <p:cNvPr id="4" name="Dot Mint"/>
          <p:cNvSpPr/>
          <p:nvPr/>
        </p:nvSpPr>
        <p:spPr>
          <a:xfrm>
            <a:off x="8247888" y="329184"/>
            <a:ext cx="182880" cy="182880"/>
          </a:xfrm>
          <a:prstGeom prst="ellipse">
            <a:avLst/>
          </a:prstGeom>
          <a:solidFill>
            <a:srgbClr val="1FA88E"/>
          </a:solidFill>
          <a:ln>
            <a:noFill/>
          </a:ln>
        </p:spPr>
        <p:txBody>
          <a:bodyPr/>
          <a:lstStyle/>
          <a:p>
            <a:endParaRPr lang="ko-KR" altLang="en-US"/>
          </a:p>
        </p:txBody>
      </p:sp>
      <p:sp>
        <p:nvSpPr>
          <p:cNvPr id="5" name="Dot Choco"/>
          <p:cNvSpPr/>
          <p:nvPr/>
        </p:nvSpPr>
        <p:spPr>
          <a:xfrm>
            <a:off x="8476488" y="329184"/>
            <a:ext cx="182880" cy="182880"/>
          </a:xfrm>
          <a:prstGeom prst="ellipse">
            <a:avLst/>
          </a:prstGeom>
          <a:solidFill>
            <a:srgbClr val="6B4430"/>
          </a:solidFill>
          <a:ln>
            <a:noFill/>
          </a:ln>
        </p:spPr>
        <p:txBody>
          <a:bodyPr/>
          <a:lstStyle/>
          <a:p>
            <a:endParaRPr lang="ko-KR" altLang="en-US"/>
          </a:p>
        </p:txBody>
      </p:sp>
      <p:sp>
        <p:nvSpPr>
          <p:cNvPr id="6" name="Page Number"/>
          <p:cNvSpPr txBox="1"/>
          <p:nvPr/>
        </p:nvSpPr>
        <p:spPr>
          <a:xfrm>
            <a:off x="8229600" y="4754880"/>
            <a:ext cx="457200" cy="182880"/>
          </a:xfrm>
          <a:prstGeom prst="rect">
            <a:avLst/>
          </a:prstGeom>
          <a:noFill/>
          <a:ln/>
        </p:spPr>
        <p:txBody>
          <a:bodyPr wrap="square" lIns="0" tIns="0" rIns="0" bIns="0" rtlCol="0" anchor="t"/>
          <a:lstStyle/>
          <a:p>
            <a:pPr marL="0" indent="0" algn="r">
              <a:buNone/>
            </a:pPr>
            <a:r>
              <a:rPr lang="ko-KR" altLang="en-US" sz="900" dirty="0">
                <a:solidFill>
                  <a:srgbClr val="6E655F"/>
                </a:solidFill>
                <a:latin typeface="Malgun Gothic" pitchFamily="34" charset="0"/>
                <a:ea typeface="Malgun Gothic" pitchFamily="34" charset="-122"/>
                <a:cs typeface="Malgun Gothic" pitchFamily="34" charset="-120"/>
              </a:rPr>
              <a:t>11</a:t>
            </a:r>
          </a:p>
        </p:txBody>
      </p:sp>
      <p:sp>
        <p:nvSpPr>
          <p:cNvPr id="7" name="Card RPC"/>
          <p:cNvSpPr/>
          <p:nvPr/>
        </p:nvSpPr>
        <p:spPr>
          <a:xfrm>
            <a:off x="457200" y="1234440"/>
            <a:ext cx="3931920" cy="3429000"/>
          </a:xfrm>
          <a:prstGeom prst="roundRect">
            <a:avLst>
              <a:gd name="adj" fmla="val 6000"/>
            </a:avLst>
          </a:prstGeom>
          <a:solidFill>
            <a:srgbClr val="F3ECE6"/>
          </a:solidFill>
          <a:ln>
            <a:noFill/>
          </a:ln>
        </p:spPr>
        <p:txBody>
          <a:bodyPr/>
          <a:lstStyle/>
          <a:p>
            <a:endParaRPr lang="ko-KR" altLang="en-US"/>
          </a:p>
        </p:txBody>
      </p:sp>
      <p:sp>
        <p:nvSpPr>
          <p:cNvPr id="8" name="Label RPC"/>
          <p:cNvSpPr txBox="1"/>
          <p:nvPr/>
        </p:nvSpPr>
        <p:spPr>
          <a:xfrm>
            <a:off x="685800" y="1399032"/>
            <a:ext cx="3474720" cy="182880"/>
          </a:xfrm>
          <a:prstGeom prst="rect">
            <a:avLst/>
          </a:prstGeom>
          <a:noFill/>
          <a:ln/>
        </p:spPr>
        <p:txBody>
          <a:bodyPr wrap="square" lIns="0" tIns="0" rIns="0" bIns="0" rtlCol="0" anchor="t"/>
          <a:lstStyle/>
          <a:p>
            <a:pPr marL="0" indent="0">
              <a:buNone/>
            </a:pPr>
            <a:r>
              <a:rPr lang="ko-KR" altLang="en-US" sz="900" b="1" spc="100" dirty="0">
                <a:solidFill>
                  <a:srgbClr val="6B4430"/>
                </a:solidFill>
                <a:latin typeface="Malgun Gothic" pitchFamily="34" charset="0"/>
                <a:ea typeface="Malgun Gothic" pitchFamily="34" charset="-122"/>
                <a:cs typeface="Malgun Gothic" pitchFamily="34" charset="-120"/>
              </a:rPr>
              <a:t>커스텀 무브먼트 없이</a:t>
            </a:r>
          </a:p>
        </p:txBody>
      </p:sp>
      <p:sp>
        <p:nvSpPr>
          <p:cNvPr id="9" name="Head RPC"/>
          <p:cNvSpPr txBox="1"/>
          <p:nvPr/>
        </p:nvSpPr>
        <p:spPr>
          <a:xfrm>
            <a:off x="685800" y="1600200"/>
            <a:ext cx="3474720" cy="274320"/>
          </a:xfrm>
          <a:prstGeom prst="rect">
            <a:avLst/>
          </a:prstGeom>
          <a:noFill/>
          <a:ln/>
        </p:spPr>
        <p:txBody>
          <a:bodyPr wrap="square" lIns="0" tIns="0" rIns="0" bIns="0" rtlCol="0" anchor="t"/>
          <a:lstStyle/>
          <a:p>
            <a:pPr marL="0" indent="0">
              <a:buNone/>
            </a:pPr>
            <a:r>
              <a:rPr lang="ko-KR" altLang="en-US" sz="1400" b="1" dirty="0">
                <a:solidFill>
                  <a:srgbClr val="2B1B12"/>
                </a:solidFill>
                <a:latin typeface="Malgun Gothic" pitchFamily="34" charset="0"/>
                <a:ea typeface="Malgun Gothic" pitchFamily="34" charset="-122"/>
                <a:cs typeface="Malgun Gothic" pitchFamily="34" charset="-120"/>
              </a:rPr>
              <a:t>ServerRPC + MaxWalkSpeed 변경</a:t>
            </a:r>
          </a:p>
        </p:txBody>
      </p:sp>
      <p:sp>
        <p:nvSpPr>
          <p:cNvPr id="10" name="Lane Client"/>
          <p:cNvSpPr txBox="1"/>
          <p:nvPr/>
        </p:nvSpPr>
        <p:spPr>
          <a:xfrm>
            <a:off x="685800" y="2103120"/>
            <a:ext cx="548640" cy="182880"/>
          </a:xfrm>
          <a:prstGeom prst="rect">
            <a:avLst/>
          </a:prstGeom>
          <a:noFill/>
          <a:ln/>
        </p:spPr>
        <p:txBody>
          <a:bodyPr wrap="square" lIns="0" tIns="0" rIns="0" bIns="0" rtlCol="0" anchor="t"/>
          <a:lstStyle/>
          <a:p>
            <a:pPr marL="0" indent="0">
              <a:buNone/>
            </a:pPr>
            <a:r>
              <a:rPr lang="ko-KR" altLang="en-US" sz="900" b="1" dirty="0">
                <a:solidFill>
                  <a:srgbClr val="6E655F"/>
                </a:solidFill>
                <a:latin typeface="Malgun Gothic" pitchFamily="34" charset="0"/>
                <a:ea typeface="Malgun Gothic" pitchFamily="34" charset="-122"/>
                <a:cs typeface="Malgun Gothic" pitchFamily="34" charset="-120"/>
              </a:rPr>
              <a:t>클라</a:t>
            </a:r>
          </a:p>
        </p:txBody>
      </p:sp>
      <p:sp>
        <p:nvSpPr>
          <p:cNvPr id="11" name="Lane Server"/>
          <p:cNvSpPr txBox="1"/>
          <p:nvPr/>
        </p:nvSpPr>
        <p:spPr>
          <a:xfrm>
            <a:off x="685800" y="2606040"/>
            <a:ext cx="548640" cy="182880"/>
          </a:xfrm>
          <a:prstGeom prst="rect">
            <a:avLst/>
          </a:prstGeom>
          <a:noFill/>
          <a:ln/>
        </p:spPr>
        <p:txBody>
          <a:bodyPr wrap="square" lIns="0" tIns="0" rIns="0" bIns="0" rtlCol="0" anchor="t"/>
          <a:lstStyle/>
          <a:p>
            <a:pPr marL="0" indent="0">
              <a:buNone/>
            </a:pPr>
            <a:r>
              <a:rPr lang="ko-KR" altLang="en-US" sz="900" b="1" dirty="0">
                <a:solidFill>
                  <a:srgbClr val="6E655F"/>
                </a:solidFill>
                <a:latin typeface="Malgun Gothic" pitchFamily="34" charset="0"/>
                <a:ea typeface="Malgun Gothic" pitchFamily="34" charset="-122"/>
                <a:cs typeface="Malgun Gothic" pitchFamily="34" charset="-120"/>
              </a:rPr>
              <a:t>서버</a:t>
            </a:r>
          </a:p>
        </p:txBody>
      </p:sp>
      <p:cxnSp>
        <p:nvCxnSpPr>
          <p:cNvPr id="12" name="Client Lane"/>
          <p:cNvCxnSpPr/>
          <p:nvPr/>
        </p:nvCxnSpPr>
        <p:spPr>
          <a:xfrm>
            <a:off x="1325880" y="2194560"/>
            <a:ext cx="2743200" cy="0"/>
          </a:xfrm>
          <a:prstGeom prst="line">
            <a:avLst/>
          </a:prstGeom>
          <a:ln w="12700">
            <a:solidFill>
              <a:srgbClr val="DDD6D0"/>
            </a:solidFill>
          </a:ln>
        </p:spPr>
      </p:cxnSp>
      <p:cxnSp>
        <p:nvCxnSpPr>
          <p:cNvPr id="13" name="Server Lane"/>
          <p:cNvCxnSpPr/>
          <p:nvPr/>
        </p:nvCxnSpPr>
        <p:spPr>
          <a:xfrm>
            <a:off x="1325880" y="2697480"/>
            <a:ext cx="2743200" cy="0"/>
          </a:xfrm>
          <a:prstGeom prst="line">
            <a:avLst/>
          </a:prstGeom>
          <a:ln w="12700">
            <a:solidFill>
              <a:srgbClr val="DDD6D0"/>
            </a:solidFill>
          </a:ln>
        </p:spPr>
      </p:cxnSp>
      <p:sp>
        <p:nvSpPr>
          <p:cNvPr id="14" name="Stale Window"/>
          <p:cNvSpPr/>
          <p:nvPr/>
        </p:nvSpPr>
        <p:spPr>
          <a:xfrm>
            <a:off x="1645920" y="2633472"/>
            <a:ext cx="1005840" cy="128016"/>
          </a:xfrm>
          <a:prstGeom prst="rect">
            <a:avLst/>
          </a:prstGeom>
          <a:solidFill>
            <a:srgbClr val="DDD6D0"/>
          </a:solidFill>
          <a:ln>
            <a:noFill/>
          </a:ln>
        </p:spPr>
        <p:txBody>
          <a:bodyPr/>
          <a:lstStyle/>
          <a:p>
            <a:endParaRPr lang="ko-KR" altLang="en-US"/>
          </a:p>
        </p:txBody>
      </p:sp>
      <p:sp>
        <p:nvSpPr>
          <p:cNvPr id="15" name="Stale Text"/>
          <p:cNvSpPr txBox="1"/>
          <p:nvPr/>
        </p:nvSpPr>
        <p:spPr>
          <a:xfrm>
            <a:off x="1645920" y="2788920"/>
            <a:ext cx="1188720" cy="182880"/>
          </a:xfrm>
          <a:prstGeom prst="rect">
            <a:avLst/>
          </a:prstGeom>
          <a:noFill/>
          <a:ln/>
        </p:spPr>
        <p:txBody>
          <a:bodyPr wrap="square" lIns="0" tIns="0" rIns="0" bIns="0" rtlCol="0" anchor="t"/>
          <a:lstStyle/>
          <a:p>
            <a:pPr marL="0" indent="0">
              <a:buNone/>
            </a:pPr>
            <a:r>
              <a:rPr lang="ko-KR" altLang="en-US" sz="800" dirty="0">
                <a:solidFill>
                  <a:srgbClr val="6E655F"/>
                </a:solidFill>
                <a:latin typeface="Malgun Gothic" pitchFamily="34" charset="0"/>
                <a:ea typeface="Malgun Gothic" pitchFamily="34" charset="-122"/>
                <a:cs typeface="Malgun Gothic" pitchFamily="34" charset="-120"/>
              </a:rPr>
              <a:t>옛 속도로 계산</a:t>
            </a:r>
          </a:p>
        </p:txBody>
      </p:sp>
      <p:cxnSp>
        <p:nvCxnSpPr>
          <p:cNvPr id="16" name="RPC Arrow"/>
          <p:cNvCxnSpPr/>
          <p:nvPr/>
        </p:nvCxnSpPr>
        <p:spPr>
          <a:xfrm>
            <a:off x="1645920" y="2194560"/>
            <a:ext cx="1005840" cy="502920"/>
          </a:xfrm>
          <a:prstGeom prst="line">
            <a:avLst/>
          </a:prstGeom>
          <a:ln w="15875">
            <a:solidFill>
              <a:srgbClr val="6B4430"/>
            </a:solidFill>
            <a:prstDash val="dash"/>
            <a:tailEnd type="triangle" w="med" len="med"/>
          </a:ln>
        </p:spPr>
      </p:cxnSp>
      <p:sp>
        <p:nvSpPr>
          <p:cNvPr id="17" name="Client Dash"/>
          <p:cNvSpPr/>
          <p:nvPr/>
        </p:nvSpPr>
        <p:spPr>
          <a:xfrm>
            <a:off x="1581912" y="2130552"/>
            <a:ext cx="128016" cy="128016"/>
          </a:xfrm>
          <a:prstGeom prst="ellipse">
            <a:avLst/>
          </a:prstGeom>
          <a:solidFill>
            <a:srgbClr val="6B4430"/>
          </a:solidFill>
          <a:ln>
            <a:noFill/>
          </a:ln>
        </p:spPr>
        <p:txBody>
          <a:bodyPr/>
          <a:lstStyle/>
          <a:p>
            <a:endParaRPr lang="ko-KR" altLang="en-US"/>
          </a:p>
        </p:txBody>
      </p:sp>
      <p:sp>
        <p:nvSpPr>
          <p:cNvPr id="18" name="Client Dash Text"/>
          <p:cNvSpPr txBox="1"/>
          <p:nvPr/>
        </p:nvSpPr>
        <p:spPr>
          <a:xfrm>
            <a:off x="1371600" y="1920240"/>
            <a:ext cx="914400" cy="182880"/>
          </a:xfrm>
          <a:prstGeom prst="rect">
            <a:avLst/>
          </a:prstGeom>
          <a:noFill/>
          <a:ln/>
        </p:spPr>
        <p:txBody>
          <a:bodyPr wrap="square" lIns="0" tIns="0" rIns="0" bIns="0" rtlCol="0" anchor="t"/>
          <a:lstStyle/>
          <a:p>
            <a:pPr marL="0" indent="0">
              <a:buNone/>
            </a:pPr>
            <a:r>
              <a:rPr lang="ko-KR" altLang="en-US" sz="800" b="1" dirty="0">
                <a:solidFill>
                  <a:srgbClr val="6B4430"/>
                </a:solidFill>
                <a:latin typeface="Malgun Gothic" pitchFamily="34" charset="0"/>
                <a:ea typeface="Malgun Gothic" pitchFamily="34" charset="-122"/>
                <a:cs typeface="Malgun Gothic" pitchFamily="34" charset="-120"/>
              </a:rPr>
              <a:t>대시 T</a:t>
            </a:r>
          </a:p>
        </p:txBody>
      </p:sp>
      <p:sp>
        <p:nvSpPr>
          <p:cNvPr id="19" name="RPC Arrive"/>
          <p:cNvSpPr/>
          <p:nvPr/>
        </p:nvSpPr>
        <p:spPr>
          <a:xfrm>
            <a:off x="2587752" y="2633472"/>
            <a:ext cx="128016" cy="128016"/>
          </a:xfrm>
          <a:prstGeom prst="ellipse">
            <a:avLst/>
          </a:prstGeom>
          <a:solidFill>
            <a:srgbClr val="6B4430"/>
          </a:solidFill>
          <a:ln>
            <a:noFill/>
          </a:ln>
        </p:spPr>
        <p:txBody>
          <a:bodyPr/>
          <a:lstStyle/>
          <a:p>
            <a:endParaRPr lang="ko-KR" altLang="en-US"/>
          </a:p>
        </p:txBody>
      </p:sp>
      <p:sp>
        <p:nvSpPr>
          <p:cNvPr id="20" name="RPC Arrive Text"/>
          <p:cNvSpPr txBox="1"/>
          <p:nvPr/>
        </p:nvSpPr>
        <p:spPr>
          <a:xfrm>
            <a:off x="2560320" y="2788920"/>
            <a:ext cx="1097280" cy="182880"/>
          </a:xfrm>
          <a:prstGeom prst="rect">
            <a:avLst/>
          </a:prstGeom>
          <a:noFill/>
          <a:ln/>
        </p:spPr>
        <p:txBody>
          <a:bodyPr wrap="square" lIns="0" tIns="0" rIns="0" bIns="0" rtlCol="0" anchor="t"/>
          <a:lstStyle/>
          <a:p>
            <a:pPr marL="0" indent="0">
              <a:buNone/>
            </a:pPr>
            <a:r>
              <a:rPr lang="ko-KR" altLang="en-US" sz="800" b="1" dirty="0">
                <a:solidFill>
                  <a:srgbClr val="6B4430"/>
                </a:solidFill>
                <a:latin typeface="Malgun Gothic" pitchFamily="34" charset="0"/>
                <a:ea typeface="Malgun Gothic" pitchFamily="34" charset="-122"/>
                <a:cs typeface="Malgun Gothic" pitchFamily="34" charset="-120"/>
              </a:rPr>
              <a:t>T + RTT/2</a:t>
            </a:r>
          </a:p>
        </p:txBody>
      </p:sp>
      <p:cxnSp>
        <p:nvCxnSpPr>
          <p:cNvPr id="21" name="Correction Arrow"/>
          <p:cNvCxnSpPr/>
          <p:nvPr/>
        </p:nvCxnSpPr>
        <p:spPr>
          <a:xfrm flipV="1">
            <a:off x="2743200" y="2194560"/>
            <a:ext cx="502920" cy="502920"/>
          </a:xfrm>
          <a:prstGeom prst="line">
            <a:avLst/>
          </a:prstGeom>
          <a:ln w="15875">
            <a:solidFill>
              <a:srgbClr val="6B4430"/>
            </a:solidFill>
            <a:tailEnd type="triangle" w="med" len="med"/>
          </a:ln>
        </p:spPr>
      </p:cxnSp>
      <p:sp>
        <p:nvSpPr>
          <p:cNvPr id="22" name="Correction Text"/>
          <p:cNvSpPr txBox="1"/>
          <p:nvPr/>
        </p:nvSpPr>
        <p:spPr>
          <a:xfrm>
            <a:off x="3337560" y="1920240"/>
            <a:ext cx="1097280" cy="182880"/>
          </a:xfrm>
          <a:prstGeom prst="rect">
            <a:avLst/>
          </a:prstGeom>
          <a:noFill/>
          <a:ln/>
        </p:spPr>
        <p:txBody>
          <a:bodyPr wrap="square" lIns="0" tIns="0" rIns="0" bIns="0" rtlCol="0" anchor="t"/>
          <a:lstStyle/>
          <a:p>
            <a:pPr marL="0" indent="0">
              <a:buNone/>
            </a:pPr>
            <a:r>
              <a:rPr lang="ko-KR" altLang="en-US" sz="800" b="1" dirty="0">
                <a:solidFill>
                  <a:srgbClr val="6B4430"/>
                </a:solidFill>
                <a:latin typeface="Malgun Gothic" pitchFamily="34" charset="0"/>
                <a:ea typeface="Malgun Gothic" pitchFamily="34" charset="-122"/>
                <a:cs typeface="Malgun Gothic" pitchFamily="34" charset="-120"/>
              </a:rPr>
              <a:t>보정 → 고무줄</a:t>
            </a:r>
          </a:p>
        </p:txBody>
      </p:sp>
      <p:sp>
        <p:nvSpPr>
          <p:cNvPr id="23" name="Body RPC"/>
          <p:cNvSpPr txBox="1"/>
          <p:nvPr/>
        </p:nvSpPr>
        <p:spPr>
          <a:xfrm>
            <a:off x="685800" y="3246120"/>
            <a:ext cx="3520440" cy="1325880"/>
          </a:xfrm>
          <a:prstGeom prst="rect">
            <a:avLst/>
          </a:prstGeom>
          <a:noFill/>
          <a:ln/>
        </p:spPr>
        <p:txBody>
          <a:bodyPr wrap="square" lIns="0" tIns="0" rIns="0" bIns="0" rtlCol="0" anchor="t"/>
          <a:lstStyle/>
          <a:p>
            <a:pPr marL="171450" indent="-171450">
              <a:spcAft>
                <a:spcPts val="500"/>
              </a:spcAft>
              <a:buClr>
                <a:srgbClr val="6B4430"/>
              </a:buClr>
              <a:buFont typeface="Arial"/>
              <a:buChar char="•"/>
            </a:pPr>
            <a:r>
              <a:rPr lang="ko-KR" altLang="en-US" sz="1050" dirty="0">
                <a:solidFill>
                  <a:srgbClr val="2A221D"/>
                </a:solidFill>
                <a:latin typeface="Malgun Gothic" pitchFamily="34" charset="0"/>
                <a:ea typeface="Malgun Gothic" pitchFamily="34" charset="-122"/>
                <a:cs typeface="Malgun Gothic" pitchFamily="34" charset="-120"/>
              </a:rPr>
              <a:t>서버가 대시를 RTT/2만큼 늦게 알아 그 사이를 옛 속도로 계산한다</a:t>
            </a:r>
          </a:p>
          <a:p>
            <a:pPr marL="171450" indent="-171450">
              <a:spcAft>
                <a:spcPts val="500"/>
              </a:spcAft>
              <a:buClr>
                <a:srgbClr val="6B4430"/>
              </a:buClr>
              <a:buFont typeface="Arial"/>
              <a:buChar char="•"/>
            </a:pPr>
            <a:r>
              <a:rPr lang="ko-KR" altLang="en-US" sz="1050" dirty="0">
                <a:solidFill>
                  <a:srgbClr val="2A221D"/>
                </a:solidFill>
                <a:latin typeface="Malgun Gothic" pitchFamily="34" charset="0"/>
                <a:ea typeface="Malgun Gothic" pitchFamily="34" charset="-122"/>
                <a:cs typeface="Malgun Gothic" pitchFamily="34" charset="-120"/>
              </a:rPr>
              <a:t>보정 뒤 다시 재생할 때 무브마다 대시 중이었는지 모른다</a:t>
            </a:r>
          </a:p>
          <a:p>
            <a:pPr marL="171450" indent="-171450">
              <a:spcAft>
                <a:spcPts val="500"/>
              </a:spcAft>
              <a:buClr>
                <a:srgbClr val="6B4430"/>
              </a:buClr>
              <a:buFont typeface="Arial"/>
              <a:buChar char="•"/>
            </a:pPr>
            <a:r>
              <a:rPr lang="ko-KR" altLang="en-US" sz="1050" dirty="0">
                <a:solidFill>
                  <a:srgbClr val="2A221D"/>
                </a:solidFill>
                <a:latin typeface="Malgun Gothic" pitchFamily="34" charset="0"/>
                <a:ea typeface="Malgun Gothic" pitchFamily="34" charset="-122"/>
                <a:cs typeface="Malgun Gothic" pitchFamily="34" charset="-120"/>
              </a:rPr>
              <a:t>켜고 끌 때마다 뒤로 당겨지고, 핑이 높을수록 심해진다</a:t>
            </a:r>
          </a:p>
        </p:txBody>
      </p:sp>
      <p:sp>
        <p:nvSpPr>
          <p:cNvPr id="24" name="Card Flags"/>
          <p:cNvSpPr/>
          <p:nvPr/>
        </p:nvSpPr>
        <p:spPr>
          <a:xfrm>
            <a:off x="4754880" y="1234440"/>
            <a:ext cx="3931920" cy="3429000"/>
          </a:xfrm>
          <a:prstGeom prst="roundRect">
            <a:avLst>
              <a:gd name="adj" fmla="val 6000"/>
            </a:avLst>
          </a:prstGeom>
          <a:solidFill>
            <a:srgbClr val="E2F4EF"/>
          </a:solidFill>
          <a:ln>
            <a:noFill/>
          </a:ln>
        </p:spPr>
        <p:txBody>
          <a:bodyPr/>
          <a:lstStyle/>
          <a:p>
            <a:endParaRPr lang="ko-KR" altLang="en-US"/>
          </a:p>
        </p:txBody>
      </p:sp>
      <p:sp>
        <p:nvSpPr>
          <p:cNvPr id="25" name="Label Flags"/>
          <p:cNvSpPr txBox="1"/>
          <p:nvPr/>
        </p:nvSpPr>
        <p:spPr>
          <a:xfrm>
            <a:off x="4983480" y="1399032"/>
            <a:ext cx="3474720" cy="182880"/>
          </a:xfrm>
          <a:prstGeom prst="rect">
            <a:avLst/>
          </a:prstGeom>
          <a:noFill/>
          <a:ln/>
        </p:spPr>
        <p:txBody>
          <a:bodyPr wrap="square" lIns="0" tIns="0" rIns="0" bIns="0" rtlCol="0" anchor="t"/>
          <a:lstStyle/>
          <a:p>
            <a:pPr marL="0" indent="0">
              <a:buNone/>
            </a:pPr>
            <a:r>
              <a:rPr lang="ko-KR" altLang="en-US" sz="1000" b="1" dirty="0">
                <a:solidFill>
                  <a:srgbClr val="137A67"/>
                </a:solidFill>
                <a:latin typeface="Consolas" pitchFamily="49" charset="0"/>
                <a:ea typeface="Malgun Gothic" pitchFamily="34" charset="-122"/>
                <a:cs typeface="Malgun Gothic" pitchFamily="34" charset="-120"/>
              </a:rPr>
              <a:t>UUnitMovementComponent</a:t>
            </a:r>
          </a:p>
        </p:txBody>
      </p:sp>
      <p:sp>
        <p:nvSpPr>
          <p:cNvPr id="26" name="Head Flags"/>
          <p:cNvSpPr txBox="1"/>
          <p:nvPr/>
        </p:nvSpPr>
        <p:spPr>
          <a:xfrm>
            <a:off x="4983480" y="1600200"/>
            <a:ext cx="3474720" cy="274320"/>
          </a:xfrm>
          <a:prstGeom prst="rect">
            <a:avLst/>
          </a:prstGeom>
          <a:noFill/>
          <a:ln/>
        </p:spPr>
        <p:txBody>
          <a:bodyPr wrap="square" lIns="0" tIns="0" rIns="0" bIns="0" rtlCol="0" anchor="t"/>
          <a:lstStyle/>
          <a:p>
            <a:pPr marL="0" indent="0">
              <a:buNone/>
            </a:pPr>
            <a:r>
              <a:rPr lang="ko-KR" altLang="en-US" sz="1400" b="1" dirty="0">
                <a:solidFill>
                  <a:srgbClr val="2B1B12"/>
                </a:solidFill>
                <a:latin typeface="Malgun Gothic" pitchFamily="34" charset="0"/>
                <a:ea typeface="Malgun Gothic" pitchFamily="34" charset="-122"/>
                <a:cs typeface="Malgun Gothic" pitchFamily="34" charset="-120"/>
              </a:rPr>
              <a:t>의도를 무브마다 압축 플래그로 싣는다</a:t>
            </a:r>
          </a:p>
        </p:txBody>
      </p:sp>
      <p:sp>
        <p:nvSpPr>
          <p:cNvPr id="27" name="Lane Moves"/>
          <p:cNvSpPr txBox="1"/>
          <p:nvPr/>
        </p:nvSpPr>
        <p:spPr>
          <a:xfrm>
            <a:off x="4983480" y="2103120"/>
            <a:ext cx="548640" cy="182880"/>
          </a:xfrm>
          <a:prstGeom prst="rect">
            <a:avLst/>
          </a:prstGeom>
          <a:noFill/>
          <a:ln/>
        </p:spPr>
        <p:txBody>
          <a:bodyPr wrap="square" lIns="0" tIns="0" rIns="0" bIns="0" rtlCol="0" anchor="t"/>
          <a:lstStyle/>
          <a:p>
            <a:pPr marL="0" indent="0">
              <a:buNone/>
            </a:pPr>
            <a:r>
              <a:rPr lang="ko-KR" altLang="en-US" sz="900" b="1" dirty="0">
                <a:solidFill>
                  <a:srgbClr val="6E655F"/>
                </a:solidFill>
                <a:latin typeface="Malgun Gothic" pitchFamily="34" charset="0"/>
                <a:ea typeface="Malgun Gothic" pitchFamily="34" charset="-122"/>
                <a:cs typeface="Malgun Gothic" pitchFamily="34" charset="-120"/>
              </a:rPr>
              <a:t>클라</a:t>
            </a:r>
          </a:p>
        </p:txBody>
      </p:sp>
      <p:sp>
        <p:nvSpPr>
          <p:cNvPr id="28" name="Lane Server2"/>
          <p:cNvSpPr txBox="1"/>
          <p:nvPr/>
        </p:nvSpPr>
        <p:spPr>
          <a:xfrm>
            <a:off x="4983480" y="2606040"/>
            <a:ext cx="548640" cy="182880"/>
          </a:xfrm>
          <a:prstGeom prst="rect">
            <a:avLst/>
          </a:prstGeom>
          <a:noFill/>
          <a:ln/>
        </p:spPr>
        <p:txBody>
          <a:bodyPr wrap="square" lIns="0" tIns="0" rIns="0" bIns="0" rtlCol="0" anchor="t"/>
          <a:lstStyle/>
          <a:p>
            <a:pPr marL="0" indent="0">
              <a:buNone/>
            </a:pPr>
            <a:r>
              <a:rPr lang="ko-KR" altLang="en-US" sz="900" b="1" dirty="0">
                <a:solidFill>
                  <a:srgbClr val="6E655F"/>
                </a:solidFill>
                <a:latin typeface="Malgun Gothic" pitchFamily="34" charset="0"/>
                <a:ea typeface="Malgun Gothic" pitchFamily="34" charset="-122"/>
                <a:cs typeface="Malgun Gothic" pitchFamily="34" charset="-120"/>
              </a:rPr>
              <a:t>서버</a:t>
            </a:r>
          </a:p>
        </p:txBody>
      </p:sp>
      <p:sp>
        <p:nvSpPr>
          <p:cNvPr id="29" name="Move 0"/>
          <p:cNvSpPr/>
          <p:nvPr/>
        </p:nvSpPr>
        <p:spPr>
          <a:xfrm>
            <a:off x="5623560" y="2039112"/>
            <a:ext cx="502920" cy="310896"/>
          </a:xfrm>
          <a:prstGeom prst="roundRect">
            <a:avLst>
              <a:gd name="adj" fmla="val 16000"/>
            </a:avLst>
          </a:prstGeom>
          <a:solidFill>
            <a:srgbClr val="FFFFFF"/>
          </a:solidFill>
          <a:ln w="9525">
            <a:solidFill>
              <a:srgbClr val="DDD6D0"/>
            </a:solidFill>
          </a:ln>
        </p:spPr>
        <p:txBody>
          <a:bodyPr wrap="none" lIns="0" tIns="0" rIns="0" bIns="0" anchor="ctr"/>
          <a:lstStyle/>
          <a:p>
            <a:pPr algn="ctr">
              <a:buNone/>
            </a:pPr>
            <a:r>
              <a:rPr lang="ko-KR" altLang="en-US" sz="900" b="1" dirty="0">
                <a:solidFill>
                  <a:srgbClr val="2A221D"/>
                </a:solidFill>
                <a:latin typeface="Malgun Gothic" pitchFamily="34" charset="0"/>
                <a:ea typeface="Malgun Gothic" pitchFamily="34" charset="-122"/>
                <a:cs typeface="Malgun Gothic" pitchFamily="34" charset="-120"/>
              </a:rPr>
              <a:t>D=0</a:t>
            </a:r>
          </a:p>
        </p:txBody>
      </p:sp>
      <p:cxnSp>
        <p:nvCxnSpPr>
          <p:cNvPr id="30" name="Move 0 Down"/>
          <p:cNvCxnSpPr/>
          <p:nvPr/>
        </p:nvCxnSpPr>
        <p:spPr>
          <a:xfrm>
            <a:off x="5875020" y="2368296"/>
            <a:ext cx="0" cy="155448"/>
          </a:xfrm>
          <a:prstGeom prst="line">
            <a:avLst/>
          </a:prstGeom>
          <a:ln w="9525">
            <a:solidFill>
              <a:srgbClr val="137A67"/>
            </a:solidFill>
            <a:tailEnd type="triangle" w="med" len="med"/>
          </a:ln>
        </p:spPr>
      </p:cxnSp>
      <p:sp>
        <p:nvSpPr>
          <p:cNvPr id="31" name="Server 0"/>
          <p:cNvSpPr/>
          <p:nvPr/>
        </p:nvSpPr>
        <p:spPr>
          <a:xfrm>
            <a:off x="5623560" y="2542032"/>
            <a:ext cx="502920" cy="310896"/>
          </a:xfrm>
          <a:prstGeom prst="roundRect">
            <a:avLst>
              <a:gd name="adj" fmla="val 16000"/>
            </a:avLst>
          </a:prstGeom>
          <a:solidFill>
            <a:srgbClr val="FFFFFF"/>
          </a:solidFill>
          <a:ln w="9525">
            <a:solidFill>
              <a:srgbClr val="DDD6D0"/>
            </a:solidFill>
          </a:ln>
        </p:spPr>
        <p:txBody>
          <a:bodyPr wrap="none" lIns="0" tIns="0" rIns="0" bIns="0" anchor="ctr"/>
          <a:lstStyle/>
          <a:p>
            <a:pPr algn="ctr">
              <a:buNone/>
            </a:pPr>
            <a:r>
              <a:rPr lang="ko-KR" altLang="en-US" sz="900" b="1" dirty="0">
                <a:solidFill>
                  <a:srgbClr val="2A221D"/>
                </a:solidFill>
                <a:latin typeface="Malgun Gothic" pitchFamily="34" charset="0"/>
                <a:ea typeface="Malgun Gothic" pitchFamily="34" charset="-122"/>
                <a:cs typeface="Malgun Gothic" pitchFamily="34" charset="-120"/>
              </a:rPr>
              <a:t>걷기</a:t>
            </a:r>
          </a:p>
        </p:txBody>
      </p:sp>
      <p:sp>
        <p:nvSpPr>
          <p:cNvPr id="32" name="Move 1"/>
          <p:cNvSpPr/>
          <p:nvPr/>
        </p:nvSpPr>
        <p:spPr>
          <a:xfrm>
            <a:off x="6291072" y="2039112"/>
            <a:ext cx="502920" cy="310896"/>
          </a:xfrm>
          <a:prstGeom prst="roundRect">
            <a:avLst>
              <a:gd name="adj" fmla="val 16000"/>
            </a:avLst>
          </a:prstGeom>
          <a:solidFill>
            <a:srgbClr val="1FA88E"/>
          </a:solidFill>
          <a:ln w="9525">
            <a:solidFill>
              <a:srgbClr val="1FA88E"/>
            </a:solidFill>
          </a:ln>
        </p:spPr>
        <p:txBody>
          <a:bodyPr wrap="none" lIns="0" tIns="0" rIns="0" bIns="0" anchor="ctr"/>
          <a:lstStyle/>
          <a:p>
            <a:pPr algn="ctr">
              <a:buNone/>
            </a:pPr>
            <a:r>
              <a:rPr lang="ko-KR" altLang="en-US" sz="900" b="1" dirty="0">
                <a:solidFill>
                  <a:srgbClr val="FFFFFF"/>
                </a:solidFill>
                <a:latin typeface="Malgun Gothic" pitchFamily="34" charset="0"/>
                <a:ea typeface="Malgun Gothic" pitchFamily="34" charset="-122"/>
                <a:cs typeface="Malgun Gothic" pitchFamily="34" charset="-120"/>
              </a:rPr>
              <a:t>D=1</a:t>
            </a:r>
          </a:p>
        </p:txBody>
      </p:sp>
      <p:cxnSp>
        <p:nvCxnSpPr>
          <p:cNvPr id="33" name="Move 1 Down"/>
          <p:cNvCxnSpPr/>
          <p:nvPr/>
        </p:nvCxnSpPr>
        <p:spPr>
          <a:xfrm>
            <a:off x="6542532" y="2368296"/>
            <a:ext cx="0" cy="155448"/>
          </a:xfrm>
          <a:prstGeom prst="line">
            <a:avLst/>
          </a:prstGeom>
          <a:ln w="9525">
            <a:solidFill>
              <a:srgbClr val="137A67"/>
            </a:solidFill>
            <a:tailEnd type="triangle" w="med" len="med"/>
          </a:ln>
        </p:spPr>
      </p:cxnSp>
      <p:sp>
        <p:nvSpPr>
          <p:cNvPr id="34" name="Server 1"/>
          <p:cNvSpPr/>
          <p:nvPr/>
        </p:nvSpPr>
        <p:spPr>
          <a:xfrm>
            <a:off x="6291072" y="2542032"/>
            <a:ext cx="502920" cy="310896"/>
          </a:xfrm>
          <a:prstGeom prst="roundRect">
            <a:avLst>
              <a:gd name="adj" fmla="val 16000"/>
            </a:avLst>
          </a:prstGeom>
          <a:solidFill>
            <a:srgbClr val="1FA88E"/>
          </a:solidFill>
          <a:ln w="9525">
            <a:solidFill>
              <a:srgbClr val="1FA88E"/>
            </a:solidFill>
          </a:ln>
        </p:spPr>
        <p:txBody>
          <a:bodyPr wrap="none" lIns="0" tIns="0" rIns="0" bIns="0" anchor="ctr"/>
          <a:lstStyle/>
          <a:p>
            <a:pPr algn="ctr">
              <a:buNone/>
            </a:pPr>
            <a:r>
              <a:rPr lang="ko-KR" altLang="en-US" sz="900" b="1" dirty="0">
                <a:solidFill>
                  <a:srgbClr val="FFFFFF"/>
                </a:solidFill>
                <a:latin typeface="Malgun Gothic" pitchFamily="34" charset="0"/>
                <a:ea typeface="Malgun Gothic" pitchFamily="34" charset="-122"/>
                <a:cs typeface="Malgun Gothic" pitchFamily="34" charset="-120"/>
              </a:rPr>
              <a:t>대시</a:t>
            </a:r>
          </a:p>
        </p:txBody>
      </p:sp>
      <p:sp>
        <p:nvSpPr>
          <p:cNvPr id="35" name="Move 2"/>
          <p:cNvSpPr/>
          <p:nvPr/>
        </p:nvSpPr>
        <p:spPr>
          <a:xfrm>
            <a:off x="6958584" y="2039112"/>
            <a:ext cx="502920" cy="310896"/>
          </a:xfrm>
          <a:prstGeom prst="roundRect">
            <a:avLst>
              <a:gd name="adj" fmla="val 16000"/>
            </a:avLst>
          </a:prstGeom>
          <a:solidFill>
            <a:srgbClr val="1FA88E"/>
          </a:solidFill>
          <a:ln w="9525">
            <a:solidFill>
              <a:srgbClr val="1FA88E"/>
            </a:solidFill>
          </a:ln>
        </p:spPr>
        <p:txBody>
          <a:bodyPr wrap="none" lIns="0" tIns="0" rIns="0" bIns="0" anchor="ctr"/>
          <a:lstStyle/>
          <a:p>
            <a:pPr algn="ctr">
              <a:buNone/>
            </a:pPr>
            <a:r>
              <a:rPr lang="ko-KR" altLang="en-US" sz="900" b="1" dirty="0">
                <a:solidFill>
                  <a:srgbClr val="FFFFFF"/>
                </a:solidFill>
                <a:latin typeface="Malgun Gothic" pitchFamily="34" charset="0"/>
                <a:ea typeface="Malgun Gothic" pitchFamily="34" charset="-122"/>
                <a:cs typeface="Malgun Gothic" pitchFamily="34" charset="-120"/>
              </a:rPr>
              <a:t>D=1</a:t>
            </a:r>
          </a:p>
        </p:txBody>
      </p:sp>
      <p:cxnSp>
        <p:nvCxnSpPr>
          <p:cNvPr id="36" name="Move 2 Down"/>
          <p:cNvCxnSpPr/>
          <p:nvPr/>
        </p:nvCxnSpPr>
        <p:spPr>
          <a:xfrm>
            <a:off x="7210044" y="2368296"/>
            <a:ext cx="0" cy="155448"/>
          </a:xfrm>
          <a:prstGeom prst="line">
            <a:avLst/>
          </a:prstGeom>
          <a:ln w="9525">
            <a:solidFill>
              <a:srgbClr val="137A67"/>
            </a:solidFill>
            <a:tailEnd type="triangle" w="med" len="med"/>
          </a:ln>
        </p:spPr>
      </p:cxnSp>
      <p:sp>
        <p:nvSpPr>
          <p:cNvPr id="37" name="Server 2"/>
          <p:cNvSpPr/>
          <p:nvPr/>
        </p:nvSpPr>
        <p:spPr>
          <a:xfrm>
            <a:off x="6958584" y="2542032"/>
            <a:ext cx="502920" cy="310896"/>
          </a:xfrm>
          <a:prstGeom prst="roundRect">
            <a:avLst>
              <a:gd name="adj" fmla="val 16000"/>
            </a:avLst>
          </a:prstGeom>
          <a:solidFill>
            <a:srgbClr val="1FA88E"/>
          </a:solidFill>
          <a:ln w="9525">
            <a:solidFill>
              <a:srgbClr val="1FA88E"/>
            </a:solidFill>
          </a:ln>
        </p:spPr>
        <p:txBody>
          <a:bodyPr wrap="none" lIns="0" tIns="0" rIns="0" bIns="0" anchor="ctr"/>
          <a:lstStyle/>
          <a:p>
            <a:pPr algn="ctr">
              <a:buNone/>
            </a:pPr>
            <a:r>
              <a:rPr lang="ko-KR" altLang="en-US" sz="900" b="1" dirty="0">
                <a:solidFill>
                  <a:srgbClr val="FFFFFF"/>
                </a:solidFill>
                <a:latin typeface="Malgun Gothic" pitchFamily="34" charset="0"/>
                <a:ea typeface="Malgun Gothic" pitchFamily="34" charset="-122"/>
                <a:cs typeface="Malgun Gothic" pitchFamily="34" charset="-120"/>
              </a:rPr>
              <a:t>대시</a:t>
            </a:r>
          </a:p>
        </p:txBody>
      </p:sp>
      <p:sp>
        <p:nvSpPr>
          <p:cNvPr id="38" name="Move 3"/>
          <p:cNvSpPr/>
          <p:nvPr/>
        </p:nvSpPr>
        <p:spPr>
          <a:xfrm>
            <a:off x="7626096" y="2039112"/>
            <a:ext cx="502920" cy="310896"/>
          </a:xfrm>
          <a:prstGeom prst="roundRect">
            <a:avLst>
              <a:gd name="adj" fmla="val 16000"/>
            </a:avLst>
          </a:prstGeom>
          <a:solidFill>
            <a:srgbClr val="FFFFFF"/>
          </a:solidFill>
          <a:ln w="9525">
            <a:solidFill>
              <a:srgbClr val="DDD6D0"/>
            </a:solidFill>
          </a:ln>
        </p:spPr>
        <p:txBody>
          <a:bodyPr wrap="none" lIns="0" tIns="0" rIns="0" bIns="0" anchor="ctr"/>
          <a:lstStyle/>
          <a:p>
            <a:pPr algn="ctr">
              <a:buNone/>
            </a:pPr>
            <a:r>
              <a:rPr lang="ko-KR" altLang="en-US" sz="900" b="1" dirty="0">
                <a:solidFill>
                  <a:srgbClr val="2A221D"/>
                </a:solidFill>
                <a:latin typeface="Malgun Gothic" pitchFamily="34" charset="0"/>
                <a:ea typeface="Malgun Gothic" pitchFamily="34" charset="-122"/>
                <a:cs typeface="Malgun Gothic" pitchFamily="34" charset="-120"/>
              </a:rPr>
              <a:t>D=0</a:t>
            </a:r>
          </a:p>
        </p:txBody>
      </p:sp>
      <p:cxnSp>
        <p:nvCxnSpPr>
          <p:cNvPr id="39" name="Move 3 Down"/>
          <p:cNvCxnSpPr/>
          <p:nvPr/>
        </p:nvCxnSpPr>
        <p:spPr>
          <a:xfrm>
            <a:off x="7877556" y="2368296"/>
            <a:ext cx="0" cy="155448"/>
          </a:xfrm>
          <a:prstGeom prst="line">
            <a:avLst/>
          </a:prstGeom>
          <a:ln w="9525">
            <a:solidFill>
              <a:srgbClr val="137A67"/>
            </a:solidFill>
            <a:tailEnd type="triangle" w="med" len="med"/>
          </a:ln>
        </p:spPr>
      </p:cxnSp>
      <p:sp>
        <p:nvSpPr>
          <p:cNvPr id="40" name="Server 3"/>
          <p:cNvSpPr/>
          <p:nvPr/>
        </p:nvSpPr>
        <p:spPr>
          <a:xfrm>
            <a:off x="7626096" y="2542032"/>
            <a:ext cx="502920" cy="310896"/>
          </a:xfrm>
          <a:prstGeom prst="roundRect">
            <a:avLst>
              <a:gd name="adj" fmla="val 16000"/>
            </a:avLst>
          </a:prstGeom>
          <a:solidFill>
            <a:srgbClr val="FFFFFF"/>
          </a:solidFill>
          <a:ln w="9525">
            <a:solidFill>
              <a:srgbClr val="DDD6D0"/>
            </a:solidFill>
          </a:ln>
        </p:spPr>
        <p:txBody>
          <a:bodyPr wrap="none" lIns="0" tIns="0" rIns="0" bIns="0" anchor="ctr"/>
          <a:lstStyle/>
          <a:p>
            <a:pPr algn="ctr">
              <a:buNone/>
            </a:pPr>
            <a:r>
              <a:rPr lang="ko-KR" altLang="en-US" sz="900" b="1" dirty="0">
                <a:solidFill>
                  <a:srgbClr val="2A221D"/>
                </a:solidFill>
                <a:latin typeface="Malgun Gothic" pitchFamily="34" charset="0"/>
                <a:ea typeface="Malgun Gothic" pitchFamily="34" charset="-122"/>
                <a:cs typeface="Malgun Gothic" pitchFamily="34" charset="-120"/>
              </a:rPr>
              <a:t>걷기</a:t>
            </a:r>
          </a:p>
        </p:txBody>
      </p:sp>
      <p:sp>
        <p:nvSpPr>
          <p:cNvPr id="41" name="Flag Caption"/>
          <p:cNvSpPr txBox="1"/>
          <p:nvPr/>
        </p:nvSpPr>
        <p:spPr>
          <a:xfrm>
            <a:off x="5623560" y="2898648"/>
            <a:ext cx="2834640" cy="182880"/>
          </a:xfrm>
          <a:prstGeom prst="rect">
            <a:avLst/>
          </a:prstGeom>
          <a:noFill/>
          <a:ln/>
        </p:spPr>
        <p:txBody>
          <a:bodyPr wrap="square" lIns="0" tIns="0" rIns="0" bIns="0" rtlCol="0" anchor="t"/>
          <a:lstStyle/>
          <a:p>
            <a:pPr marL="0" indent="0">
              <a:buNone/>
            </a:pPr>
            <a:r>
              <a:rPr lang="ko-KR" altLang="en-US" sz="800" b="1" dirty="0">
                <a:solidFill>
                  <a:srgbClr val="137A67"/>
                </a:solidFill>
                <a:latin typeface="Consolas" pitchFamily="49" charset="0"/>
                <a:ea typeface="Malgun Gothic" pitchFamily="34" charset="-122"/>
                <a:cs typeface="Malgun Gothic" pitchFamily="34" charset="-120"/>
              </a:rPr>
              <a:t>FLAG_Custom_0 → UpdateFromCompressedFlags</a:t>
            </a:r>
          </a:p>
        </p:txBody>
      </p:sp>
      <p:sp>
        <p:nvSpPr>
          <p:cNvPr id="42" name="Body Flags"/>
          <p:cNvSpPr txBox="1"/>
          <p:nvPr/>
        </p:nvSpPr>
        <p:spPr>
          <a:xfrm>
            <a:off x="4983480" y="3246120"/>
            <a:ext cx="3520440" cy="1325880"/>
          </a:xfrm>
          <a:prstGeom prst="rect">
            <a:avLst/>
          </a:prstGeom>
          <a:noFill/>
          <a:ln/>
        </p:spPr>
        <p:txBody>
          <a:bodyPr wrap="square" lIns="0" tIns="0" rIns="0" bIns="0" rtlCol="0" anchor="t"/>
          <a:lstStyle/>
          <a:p>
            <a:pPr marL="171450" indent="-171450">
              <a:spcAft>
                <a:spcPts val="500"/>
              </a:spcAft>
              <a:buClr>
                <a:srgbClr val="1FA88E"/>
              </a:buClr>
              <a:buFont typeface="Arial"/>
              <a:buChar char="•"/>
            </a:pPr>
            <a:r>
              <a:rPr lang="ko-KR" altLang="en-US" sz="1050" dirty="0">
                <a:solidFill>
                  <a:srgbClr val="2A221D"/>
                </a:solidFill>
                <a:latin typeface="Malgun Gothic" pitchFamily="34" charset="0"/>
                <a:ea typeface="Malgun Gothic" pitchFamily="34" charset="-122"/>
                <a:cs typeface="Malgun Gothic" pitchFamily="34" charset="-120"/>
              </a:rPr>
              <a:t>서버가 클라이언트와 같은 무브에서 대시를 켠다</a:t>
            </a:r>
          </a:p>
          <a:p>
            <a:pPr marL="171450" indent="-171450">
              <a:spcAft>
                <a:spcPts val="500"/>
              </a:spcAft>
              <a:buClr>
                <a:srgbClr val="1FA88E"/>
              </a:buClr>
              <a:buFont typeface="Arial"/>
              <a:buChar char="•"/>
            </a:pPr>
            <a:r>
              <a:rPr lang="ko-KR" altLang="en-US" sz="1050" dirty="0">
                <a:solidFill>
                  <a:srgbClr val="2A221D"/>
                </a:solidFill>
                <a:latin typeface="Malgun Gothic" pitchFamily="34" charset="0"/>
                <a:ea typeface="Malgun Gothic" pitchFamily="34" charset="-122"/>
                <a:cs typeface="Malgun Gothic" pitchFamily="34" charset="-120"/>
              </a:rPr>
              <a:t>FSavedMove_Unit에 저장돼 보정 재생도 같은 속도를 낸다</a:t>
            </a:r>
          </a:p>
          <a:p>
            <a:pPr marL="171450" indent="-171450">
              <a:spcAft>
                <a:spcPts val="500"/>
              </a:spcAft>
              <a:buClr>
                <a:srgbClr val="1FA88E"/>
              </a:buClr>
              <a:buFont typeface="Arial"/>
              <a:buChar char="•"/>
            </a:pPr>
            <a:r>
              <a:rPr lang="ko-KR" altLang="en-US" sz="1050" dirty="0">
                <a:solidFill>
                  <a:srgbClr val="2A221D"/>
                </a:solidFill>
                <a:latin typeface="Malgun Gothic" pitchFamily="34" charset="0"/>
                <a:ea typeface="Malgun Gothic" pitchFamily="34" charset="-122"/>
                <a:cs typeface="Malgun Gothic" pitchFamily="34" charset="-120"/>
              </a:rPr>
              <a:t>추가 비용은 이미 보내는 플래그 바이트 안의 1비트</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CHARACTER · MOVEMENT</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속도 대신 의도를 보내는 이동 컴포넌트</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12</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754880" cy="135636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플래그</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의미</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서버 검증</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FLAG_Custom_0</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대시</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FLAG_Custom_1</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속도 부스트</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SpeedStar 태그가 있을 때만</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FLAG_Custom_2</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히어로 랜딩</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태그 또는 아이템 보유</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FLAG_Custom_3</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지금 다이브</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5"/>
          <p:cNvSpPr txBox="1"/>
          <p:nvPr/>
        </p:nvSpPr>
        <p:spPr>
          <a:xfrm>
            <a:off x="457200" y="3200400"/>
            <a:ext cx="4754880" cy="146304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FSavedMove_Unit가 히어로 상태 전체를 저장한다</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PrepMoveFor는 델리게이트 없이 필드만 복원해 보정 재생 중 연출이 다시 나가지 않는다</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잠금은 입력 핸들러와 이동 컴포넌트 양쪽에서 건다. 서버는 클라이언트가 보낸 가속을 그대로 쓰기 때문이다</a:t>
            </a:r>
            <a:endParaRPr lang="en-US" sz="1100" dirty="0"/>
          </a:p>
        </p:txBody>
      </p:sp>
      <p:sp>
        <p:nvSpPr>
          <p:cNvPr id="9" name="Shape 6"/>
          <p:cNvSpPr/>
          <p:nvPr/>
        </p:nvSpPr>
        <p:spPr>
          <a:xfrm>
            <a:off x="5577840" y="1280160"/>
            <a:ext cx="3108960" cy="3291840"/>
          </a:xfrm>
          <a:prstGeom prst="roundRect">
            <a:avLst>
              <a:gd name="adj" fmla="val 2353"/>
            </a:avLst>
          </a:prstGeom>
          <a:solidFill>
            <a:srgbClr val="E2F4EF"/>
          </a:solidFill>
          <a:ln w="12700">
            <a:solidFill>
              <a:srgbClr val="E2F4EF"/>
            </a:solidFill>
            <a:prstDash val="solid"/>
          </a:ln>
        </p:spPr>
        <p:txBody>
          <a:bodyPr/>
          <a:lstStyle/>
          <a:p>
            <a:endParaRPr lang="ko-KR" altLang="en-US"/>
          </a:p>
        </p:txBody>
      </p:sp>
      <p:sp>
        <p:nvSpPr>
          <p:cNvPr id="7" name="Text 7"/>
          <p:cNvSpPr txBox="1"/>
          <p:nvPr/>
        </p:nvSpPr>
        <p:spPr>
          <a:xfrm>
            <a:off x="5806440" y="1463040"/>
            <a:ext cx="2743200" cy="274320"/>
          </a:xfrm>
          <a:prstGeom prst="rect">
            <a:avLst/>
          </a:prstGeom>
          <a:noFill/>
          <a:ln/>
        </p:spPr>
        <p:txBody>
          <a:bodyPr wrap="square" lIns="0" tIns="0" rIns="0" bIns="0" rtlCol="0" anchor="t"/>
          <a:lstStyle/>
          <a:p>
            <a:pPr marL="0" indent="0">
              <a:buNone/>
            </a:pPr>
            <a:r>
              <a:rPr lang="en-US" sz="1100" b="1" dirty="0">
                <a:solidFill>
                  <a:srgbClr val="137A67"/>
                </a:solidFill>
                <a:latin typeface="Consolas" pitchFamily="34" charset="0"/>
                <a:ea typeface="Consolas" pitchFamily="34" charset="-122"/>
                <a:cs typeface="Consolas" pitchFamily="34" charset="-120"/>
              </a:rPr>
              <a:t>GetMaxSpeed</a:t>
            </a:r>
            <a:endParaRPr lang="en-US" sz="1100" dirty="0"/>
          </a:p>
        </p:txBody>
      </p:sp>
      <p:sp>
        <p:nvSpPr>
          <p:cNvPr id="11" name="Text 8"/>
          <p:cNvSpPr txBox="1"/>
          <p:nvPr/>
        </p:nvSpPr>
        <p:spPr>
          <a:xfrm>
            <a:off x="5806440" y="1874520"/>
            <a:ext cx="2743200" cy="274320"/>
          </a:xfrm>
          <a:prstGeom prst="rect">
            <a:avLst/>
          </a:prstGeom>
          <a:noFill/>
          <a:ln/>
        </p:spPr>
        <p:txBody>
          <a:bodyPr wrap="square" lIns="0" tIns="0" rIns="0" bIns="0" rtlCol="0" anchor="t"/>
          <a:lstStyle/>
          <a:p>
            <a:pPr marL="0" indent="0">
              <a:buNone/>
            </a:pPr>
            <a:r>
              <a:rPr lang="en-US" sz="1300" dirty="0">
                <a:solidFill>
                  <a:srgbClr val="2B1B12"/>
                </a:solidFill>
                <a:latin typeface="Malgun Gothic" pitchFamily="34" charset="0"/>
                <a:ea typeface="Malgun Gothic" pitchFamily="34" charset="-122"/>
                <a:cs typeface="Malgun Gothic" pitchFamily="34" charset="-120"/>
              </a:rPr>
              <a:t>기본 속도</a:t>
            </a:r>
            <a:endParaRPr lang="en-US" sz="1300" dirty="0"/>
          </a:p>
        </p:txBody>
      </p:sp>
      <p:sp>
        <p:nvSpPr>
          <p:cNvPr id="12" name="Text 9"/>
          <p:cNvSpPr txBox="1"/>
          <p:nvPr/>
        </p:nvSpPr>
        <p:spPr>
          <a:xfrm>
            <a:off x="5806440" y="2194560"/>
            <a:ext cx="1280160" cy="548640"/>
          </a:xfrm>
          <a:prstGeom prst="rect">
            <a:avLst/>
          </a:prstGeom>
          <a:noFill/>
          <a:ln/>
        </p:spPr>
        <p:txBody>
          <a:bodyPr wrap="square" lIns="0" tIns="0" rIns="0" bIns="0" rtlCol="0" anchor="t"/>
          <a:lstStyle/>
          <a:p>
            <a:pPr marL="0" indent="0">
              <a:buNone/>
            </a:pPr>
            <a:r>
              <a:rPr lang="en-US" sz="3000" b="1" dirty="0">
                <a:solidFill>
                  <a:srgbClr val="1FA88E"/>
                </a:solidFill>
                <a:latin typeface="Malgun Gothic" pitchFamily="34" charset="0"/>
                <a:ea typeface="Malgun Gothic" pitchFamily="34" charset="-122"/>
                <a:cs typeface="Malgun Gothic" pitchFamily="34" charset="-120"/>
              </a:rPr>
              <a:t>× 1.5</a:t>
            </a:r>
            <a:endParaRPr lang="en-US" sz="3000" dirty="0"/>
          </a:p>
        </p:txBody>
      </p:sp>
      <p:sp>
        <p:nvSpPr>
          <p:cNvPr id="13" name="Text 10"/>
          <p:cNvSpPr txBox="1"/>
          <p:nvPr/>
        </p:nvSpPr>
        <p:spPr>
          <a:xfrm>
            <a:off x="7132320" y="2377440"/>
            <a:ext cx="1371600" cy="274320"/>
          </a:xfrm>
          <a:prstGeom prst="rect">
            <a:avLst/>
          </a:prstGeom>
          <a:noFill/>
          <a:ln/>
        </p:spPr>
        <p:txBody>
          <a:bodyPr wrap="square" lIns="0" tIns="0" rIns="0" bIns="0" rtlCol="0" anchor="t"/>
          <a:lstStyle/>
          <a:p>
            <a:pPr marL="0" indent="0">
              <a:buNone/>
            </a:pPr>
            <a:r>
              <a:rPr lang="en-US" sz="1100" dirty="0">
                <a:solidFill>
                  <a:srgbClr val="6E655F"/>
                </a:solidFill>
                <a:latin typeface="Malgun Gothic" pitchFamily="34" charset="0"/>
                <a:ea typeface="Malgun Gothic" pitchFamily="34" charset="-122"/>
                <a:cs typeface="Malgun Gothic" pitchFamily="34" charset="-120"/>
              </a:rPr>
              <a:t>부스트 중</a:t>
            </a:r>
            <a:endParaRPr lang="en-US" sz="1100" dirty="0"/>
          </a:p>
        </p:txBody>
      </p:sp>
      <p:sp>
        <p:nvSpPr>
          <p:cNvPr id="14" name="Text 11"/>
          <p:cNvSpPr txBox="1"/>
          <p:nvPr/>
        </p:nvSpPr>
        <p:spPr>
          <a:xfrm>
            <a:off x="5806440" y="2834640"/>
            <a:ext cx="1280160" cy="548640"/>
          </a:xfrm>
          <a:prstGeom prst="rect">
            <a:avLst/>
          </a:prstGeom>
          <a:noFill/>
          <a:ln/>
        </p:spPr>
        <p:txBody>
          <a:bodyPr wrap="square" lIns="0" tIns="0" rIns="0" bIns="0" rtlCol="0" anchor="t"/>
          <a:lstStyle/>
          <a:p>
            <a:pPr marL="0" indent="0">
              <a:buNone/>
            </a:pPr>
            <a:r>
              <a:rPr lang="en-US" sz="3000" b="1" dirty="0">
                <a:solidFill>
                  <a:srgbClr val="6B4430"/>
                </a:solidFill>
                <a:latin typeface="Malgun Gothic" pitchFamily="34" charset="0"/>
                <a:ea typeface="Malgun Gothic" pitchFamily="34" charset="-122"/>
                <a:cs typeface="Malgun Gothic" pitchFamily="34" charset="-120"/>
              </a:rPr>
              <a:t>× 1.7</a:t>
            </a:r>
            <a:endParaRPr lang="en-US" sz="3000" dirty="0"/>
          </a:p>
        </p:txBody>
      </p:sp>
      <p:sp>
        <p:nvSpPr>
          <p:cNvPr id="15" name="Text 12"/>
          <p:cNvSpPr txBox="1"/>
          <p:nvPr/>
        </p:nvSpPr>
        <p:spPr>
          <a:xfrm>
            <a:off x="7132320" y="3017520"/>
            <a:ext cx="1371600" cy="274320"/>
          </a:xfrm>
          <a:prstGeom prst="rect">
            <a:avLst/>
          </a:prstGeom>
          <a:noFill/>
          <a:ln/>
        </p:spPr>
        <p:txBody>
          <a:bodyPr wrap="square" lIns="0" tIns="0" rIns="0" bIns="0" rtlCol="0" anchor="t"/>
          <a:lstStyle/>
          <a:p>
            <a:pPr marL="0" indent="0">
              <a:buNone/>
            </a:pPr>
            <a:r>
              <a:rPr lang="en-US" sz="1100" dirty="0">
                <a:solidFill>
                  <a:srgbClr val="6E655F"/>
                </a:solidFill>
                <a:latin typeface="Malgun Gothic" pitchFamily="34" charset="0"/>
                <a:ea typeface="Malgun Gothic" pitchFamily="34" charset="-122"/>
                <a:cs typeface="Malgun Gothic" pitchFamily="34" charset="-120"/>
              </a:rPr>
              <a:t>대시 중</a:t>
            </a:r>
            <a:endParaRPr lang="en-US" sz="1100" dirty="0"/>
          </a:p>
        </p:txBody>
      </p:sp>
      <p:sp>
        <p:nvSpPr>
          <p:cNvPr id="16" name="Text 13"/>
          <p:cNvSpPr txBox="1"/>
          <p:nvPr/>
        </p:nvSpPr>
        <p:spPr>
          <a:xfrm>
            <a:off x="5806440" y="3657600"/>
            <a:ext cx="2697480" cy="731520"/>
          </a:xfrm>
          <a:prstGeom prst="rect">
            <a:avLst/>
          </a:prstGeom>
          <a:noFill/>
          <a:ln/>
        </p:spPr>
        <p:txBody>
          <a:bodyPr wrap="square" lIns="0" tIns="0" rIns="0" bIns="0" rtlCol="0" anchor="t"/>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입력 잠금이면 0. 서버와 클라이언트가 같은 식으로 계산한다.</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ovement Overrides">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457200" y="256032"/>
            <a:ext cx="6858000" cy="228600"/>
          </a:xfrm>
          <a:prstGeom prst="rect">
            <a:avLst/>
          </a:prstGeom>
          <a:noFill/>
          <a:ln/>
        </p:spPr>
        <p:txBody>
          <a:bodyPr wrap="square" lIns="0" tIns="0" rIns="0" bIns="0" rtlCol="0" anchor="t"/>
          <a:lstStyle/>
          <a:p>
            <a:pPr marL="0" indent="0">
              <a:buNone/>
            </a:pPr>
            <a:r>
              <a:rPr lang="ko-KR" altLang="en-US" sz="1000" b="1" spc="200" dirty="0">
                <a:solidFill>
                  <a:srgbClr val="1FA88E"/>
                </a:solidFill>
                <a:latin typeface="Malgun Gothic" pitchFamily="34" charset="0"/>
                <a:ea typeface="Malgun Gothic" pitchFamily="34" charset="-122"/>
                <a:cs typeface="Malgun Gothic" pitchFamily="34" charset="-120"/>
              </a:rPr>
              <a:t>CHARACTER · OVERRIDES</a:t>
            </a:r>
          </a:p>
        </p:txBody>
      </p:sp>
      <p:sp>
        <p:nvSpPr>
          <p:cNvPr id="3" name="Title"/>
          <p:cNvSpPr txBox="1"/>
          <p:nvPr/>
        </p:nvSpPr>
        <p:spPr>
          <a:xfrm>
            <a:off x="457200" y="475488"/>
            <a:ext cx="7589520" cy="548640"/>
          </a:xfrm>
          <a:prstGeom prst="rect">
            <a:avLst/>
          </a:prstGeom>
          <a:noFill/>
          <a:ln/>
        </p:spPr>
        <p:txBody>
          <a:bodyPr wrap="square" lIns="0" tIns="0" rIns="0" bIns="0" rtlCol="0" anchor="t"/>
          <a:lstStyle/>
          <a:p>
            <a:pPr marL="0" indent="0">
              <a:buNone/>
            </a:pPr>
            <a:r>
              <a:rPr lang="ko-KR" altLang="en-US" sz="2400" b="1" dirty="0">
                <a:solidFill>
                  <a:srgbClr val="2B1B12"/>
                </a:solidFill>
                <a:latin typeface="Malgun Gothic" pitchFamily="34" charset="0"/>
                <a:ea typeface="Malgun Gothic" pitchFamily="34" charset="-122"/>
                <a:cs typeface="Malgun Gothic" pitchFamily="34" charset="-120"/>
              </a:rPr>
              <a:t>이동 규칙은 오버라이드 여섯 곳에 모았다</a:t>
            </a:r>
          </a:p>
        </p:txBody>
      </p:sp>
      <p:sp>
        <p:nvSpPr>
          <p:cNvPr id="4" name="Dot Mint"/>
          <p:cNvSpPr/>
          <p:nvPr/>
        </p:nvSpPr>
        <p:spPr>
          <a:xfrm>
            <a:off x="8247888" y="329184"/>
            <a:ext cx="182880" cy="182880"/>
          </a:xfrm>
          <a:prstGeom prst="ellipse">
            <a:avLst/>
          </a:prstGeom>
          <a:solidFill>
            <a:srgbClr val="1FA88E"/>
          </a:solidFill>
          <a:ln>
            <a:noFill/>
          </a:ln>
        </p:spPr>
        <p:txBody>
          <a:bodyPr/>
          <a:lstStyle/>
          <a:p>
            <a:endParaRPr lang="ko-KR" altLang="en-US"/>
          </a:p>
        </p:txBody>
      </p:sp>
      <p:sp>
        <p:nvSpPr>
          <p:cNvPr id="5" name="Dot Choco"/>
          <p:cNvSpPr/>
          <p:nvPr/>
        </p:nvSpPr>
        <p:spPr>
          <a:xfrm>
            <a:off x="8476488" y="329184"/>
            <a:ext cx="182880" cy="182880"/>
          </a:xfrm>
          <a:prstGeom prst="ellipse">
            <a:avLst/>
          </a:prstGeom>
          <a:solidFill>
            <a:srgbClr val="6B4430"/>
          </a:solidFill>
          <a:ln>
            <a:noFill/>
          </a:ln>
        </p:spPr>
        <p:txBody>
          <a:bodyPr/>
          <a:lstStyle/>
          <a:p>
            <a:endParaRPr lang="ko-KR" altLang="en-US"/>
          </a:p>
        </p:txBody>
      </p:sp>
      <p:sp>
        <p:nvSpPr>
          <p:cNvPr id="6" name="Page Number"/>
          <p:cNvSpPr txBox="1"/>
          <p:nvPr/>
        </p:nvSpPr>
        <p:spPr>
          <a:xfrm>
            <a:off x="8229600" y="4754880"/>
            <a:ext cx="457200" cy="182880"/>
          </a:xfrm>
          <a:prstGeom prst="rect">
            <a:avLst/>
          </a:prstGeom>
          <a:noFill/>
          <a:ln/>
        </p:spPr>
        <p:txBody>
          <a:bodyPr wrap="square" lIns="0" tIns="0" rIns="0" bIns="0" rtlCol="0" anchor="t"/>
          <a:lstStyle/>
          <a:p>
            <a:pPr marL="0" indent="0" algn="r">
              <a:buNone/>
            </a:pPr>
            <a:r>
              <a:rPr lang="ko-KR" altLang="en-US" sz="900" dirty="0">
                <a:solidFill>
                  <a:srgbClr val="6E655F"/>
                </a:solidFill>
                <a:latin typeface="Malgun Gothic" pitchFamily="34" charset="0"/>
                <a:ea typeface="Malgun Gothic" pitchFamily="34" charset="-122"/>
                <a:cs typeface="Malgun Gothic" pitchFamily="34" charset="-120"/>
              </a:rPr>
              <a:t>13</a:t>
            </a:r>
          </a:p>
        </p:txBody>
      </p:sp>
      <p:sp>
        <p:nvSpPr>
          <p:cNvPr id="7" name="Card UpdateFromCompressedFlags"/>
          <p:cNvSpPr/>
          <p:nvPr/>
        </p:nvSpPr>
        <p:spPr>
          <a:xfrm>
            <a:off x="457200" y="1234440"/>
            <a:ext cx="2606040" cy="1417320"/>
          </a:xfrm>
          <a:prstGeom prst="roundRect">
            <a:avLst>
              <a:gd name="adj" fmla="val 6000"/>
            </a:avLst>
          </a:prstGeom>
          <a:solidFill>
            <a:srgbClr val="E2F4EF"/>
          </a:solidFill>
          <a:ln>
            <a:noFill/>
          </a:ln>
        </p:spPr>
        <p:txBody>
          <a:bodyPr/>
          <a:lstStyle/>
          <a:p>
            <a:endParaRPr lang="ko-KR" altLang="en-US"/>
          </a:p>
        </p:txBody>
      </p:sp>
      <p:sp>
        <p:nvSpPr>
          <p:cNvPr id="8" name="Fn UpdateFromCompressedFlags"/>
          <p:cNvSpPr txBox="1"/>
          <p:nvPr/>
        </p:nvSpPr>
        <p:spPr>
          <a:xfrm>
            <a:off x="640080" y="1371600"/>
            <a:ext cx="2240280" cy="228600"/>
          </a:xfrm>
          <a:prstGeom prst="rect">
            <a:avLst/>
          </a:prstGeom>
          <a:noFill/>
          <a:ln/>
        </p:spPr>
        <p:txBody>
          <a:bodyPr wrap="square" lIns="0" tIns="0" rIns="0" bIns="0" rtlCol="0" anchor="t"/>
          <a:lstStyle/>
          <a:p>
            <a:pPr marL="0" indent="0">
              <a:buNone/>
            </a:pPr>
            <a:r>
              <a:rPr lang="ko-KR" altLang="en-US" sz="1100" b="1" dirty="0">
                <a:solidFill>
                  <a:srgbClr val="137A67"/>
                </a:solidFill>
                <a:latin typeface="Consolas" pitchFamily="49" charset="0"/>
                <a:ea typeface="Malgun Gothic" pitchFamily="34" charset="-122"/>
                <a:cs typeface="Malgun Gothic" pitchFamily="34" charset="-120"/>
              </a:rPr>
              <a:t>UpdateFromCompressedFlags</a:t>
            </a:r>
          </a:p>
        </p:txBody>
      </p:sp>
      <p:sp>
        <p:nvSpPr>
          <p:cNvPr id="9" name="Desc UpdateFromCompressedFlags"/>
          <p:cNvSpPr txBox="1"/>
          <p:nvPr/>
        </p:nvSpPr>
        <p:spPr>
          <a:xfrm>
            <a:off x="640080" y="1664208"/>
            <a:ext cx="2240280" cy="685800"/>
          </a:xfrm>
          <a:prstGeom prst="rect">
            <a:avLst/>
          </a:prstGeom>
          <a:noFill/>
          <a:ln/>
        </p:spPr>
        <p:txBody>
          <a:bodyPr wrap="square" lIns="0" tIns="0" rIns="0" bIns="0" rtlCol="0" anchor="t"/>
          <a:lstStyle/>
          <a:p>
            <a:pPr marL="0" indent="0">
              <a:buNone/>
            </a:pPr>
            <a:r>
              <a:rPr lang="ko-KR" altLang="en-US" sz="950" dirty="0">
                <a:solidFill>
                  <a:srgbClr val="2A221D"/>
                </a:solidFill>
                <a:latin typeface="Malgun Gothic" pitchFamily="34" charset="0"/>
                <a:ea typeface="Malgun Gothic" pitchFamily="34" charset="-122"/>
                <a:cs typeface="Malgun Gothic" pitchFamily="34" charset="-120"/>
              </a:rPr>
              <a:t>서버가 플래그를 받는 곳. 부스트와 히어로 랜딩은 태그나 아이템이 있을 때만 받아 준다</a:t>
            </a:r>
          </a:p>
        </p:txBody>
      </p:sp>
      <p:sp>
        <p:nvSpPr>
          <p:cNvPr id="10" name="Users UpdateFromCompressedFlags"/>
          <p:cNvSpPr txBox="1"/>
          <p:nvPr/>
        </p:nvSpPr>
        <p:spPr>
          <a:xfrm>
            <a:off x="640080" y="2377440"/>
            <a:ext cx="2240280" cy="182880"/>
          </a:xfrm>
          <a:prstGeom prst="rect">
            <a:avLst/>
          </a:prstGeom>
          <a:noFill/>
          <a:ln/>
        </p:spPr>
        <p:txBody>
          <a:bodyPr wrap="square" lIns="0" tIns="0" rIns="0" bIns="0" rtlCol="0" anchor="t"/>
          <a:lstStyle/>
          <a:p>
            <a:pPr marL="0" indent="0">
              <a:buNone/>
            </a:pPr>
            <a:r>
              <a:rPr lang="ko-KR" altLang="en-US" sz="850" b="1" dirty="0">
                <a:solidFill>
                  <a:srgbClr val="137A67"/>
                </a:solidFill>
                <a:latin typeface="Malgun Gothic" pitchFamily="34" charset="0"/>
                <a:ea typeface="Malgun Gothic" pitchFamily="34" charset="-122"/>
                <a:cs typeface="Malgun Gothic" pitchFamily="34" charset="-120"/>
              </a:rPr>
              <a:t>쓰는 곳  </a:t>
            </a:r>
            <a:r>
              <a:rPr lang="ko-KR" altLang="en-US" sz="850" dirty="0">
                <a:solidFill>
                  <a:srgbClr val="6E655F"/>
                </a:solidFill>
                <a:latin typeface="Malgun Gothic" pitchFamily="34" charset="0"/>
                <a:ea typeface="Malgun Gothic" pitchFamily="34" charset="-122"/>
                <a:cs typeface="Malgun Gothic" pitchFamily="34" charset="-120"/>
              </a:rPr>
              <a:t>대시 · SpeedStar · HeroLanding</a:t>
            </a:r>
          </a:p>
        </p:txBody>
      </p:sp>
      <p:sp>
        <p:nvSpPr>
          <p:cNvPr id="11" name="Card ConstrainInputAcceleration"/>
          <p:cNvSpPr/>
          <p:nvPr/>
        </p:nvSpPr>
        <p:spPr>
          <a:xfrm>
            <a:off x="3268980" y="1234440"/>
            <a:ext cx="2606040" cy="1417320"/>
          </a:xfrm>
          <a:prstGeom prst="roundRect">
            <a:avLst>
              <a:gd name="adj" fmla="val 6000"/>
            </a:avLst>
          </a:prstGeom>
          <a:solidFill>
            <a:srgbClr val="F3ECE6"/>
          </a:solidFill>
          <a:ln>
            <a:noFill/>
          </a:ln>
        </p:spPr>
        <p:txBody>
          <a:bodyPr/>
          <a:lstStyle/>
          <a:p>
            <a:endParaRPr lang="ko-KR" altLang="en-US"/>
          </a:p>
        </p:txBody>
      </p:sp>
      <p:sp>
        <p:nvSpPr>
          <p:cNvPr id="12" name="Fn ConstrainInputAcceleration"/>
          <p:cNvSpPr txBox="1"/>
          <p:nvPr/>
        </p:nvSpPr>
        <p:spPr>
          <a:xfrm>
            <a:off x="3451860" y="1371600"/>
            <a:ext cx="2240280" cy="228600"/>
          </a:xfrm>
          <a:prstGeom prst="rect">
            <a:avLst/>
          </a:prstGeom>
          <a:noFill/>
          <a:ln/>
        </p:spPr>
        <p:txBody>
          <a:bodyPr wrap="square" lIns="0" tIns="0" rIns="0" bIns="0" rtlCol="0" anchor="t"/>
          <a:lstStyle/>
          <a:p>
            <a:pPr marL="0" indent="0">
              <a:buNone/>
            </a:pPr>
            <a:r>
              <a:rPr lang="ko-KR" altLang="en-US" sz="1100" b="1" dirty="0">
                <a:solidFill>
                  <a:srgbClr val="6B4430"/>
                </a:solidFill>
                <a:latin typeface="Consolas" pitchFamily="49" charset="0"/>
                <a:ea typeface="Malgun Gothic" pitchFamily="34" charset="-122"/>
                <a:cs typeface="Malgun Gothic" pitchFamily="34" charset="-120"/>
              </a:rPr>
              <a:t>ConstrainInputAcceleration</a:t>
            </a:r>
          </a:p>
        </p:txBody>
      </p:sp>
      <p:sp>
        <p:nvSpPr>
          <p:cNvPr id="13" name="Desc ConstrainInputAcceleration"/>
          <p:cNvSpPr txBox="1"/>
          <p:nvPr/>
        </p:nvSpPr>
        <p:spPr>
          <a:xfrm>
            <a:off x="3451860" y="1664208"/>
            <a:ext cx="2240280" cy="685800"/>
          </a:xfrm>
          <a:prstGeom prst="rect">
            <a:avLst/>
          </a:prstGeom>
          <a:noFill/>
          <a:ln/>
        </p:spPr>
        <p:txBody>
          <a:bodyPr wrap="square" lIns="0" tIns="0" rIns="0" bIns="0" rtlCol="0" anchor="t"/>
          <a:lstStyle/>
          <a:p>
            <a:pPr marL="0" indent="0">
              <a:buNone/>
            </a:pPr>
            <a:r>
              <a:rPr lang="ko-KR" altLang="en-US" sz="950" dirty="0">
                <a:solidFill>
                  <a:srgbClr val="2A221D"/>
                </a:solidFill>
                <a:latin typeface="Malgun Gothic" pitchFamily="34" charset="0"/>
                <a:ea typeface="Malgun Gothic" pitchFamily="34" charset="-122"/>
                <a:cs typeface="Malgun Gothic" pitchFamily="34" charset="-120"/>
              </a:rPr>
              <a:t>서버는 클라이언트가 보낸 가속을 그대로 쓰므로 잠금은 입력이 아니라 여기서 0으로 만든다</a:t>
            </a:r>
          </a:p>
        </p:txBody>
      </p:sp>
      <p:sp>
        <p:nvSpPr>
          <p:cNvPr id="14" name="Users ConstrainInputAcceleration"/>
          <p:cNvSpPr txBox="1"/>
          <p:nvPr/>
        </p:nvSpPr>
        <p:spPr>
          <a:xfrm>
            <a:off x="3451860" y="2377440"/>
            <a:ext cx="2240280" cy="182880"/>
          </a:xfrm>
          <a:prstGeom prst="rect">
            <a:avLst/>
          </a:prstGeom>
          <a:noFill/>
          <a:ln/>
        </p:spPr>
        <p:txBody>
          <a:bodyPr wrap="square" lIns="0" tIns="0" rIns="0" bIns="0" rtlCol="0" anchor="t"/>
          <a:lstStyle/>
          <a:p>
            <a:pPr marL="0" indent="0">
              <a:buNone/>
            </a:pPr>
            <a:r>
              <a:rPr lang="ko-KR" altLang="en-US" sz="850" b="1" dirty="0">
                <a:solidFill>
                  <a:srgbClr val="6B4430"/>
                </a:solidFill>
                <a:latin typeface="Malgun Gothic" pitchFamily="34" charset="0"/>
                <a:ea typeface="Malgun Gothic" pitchFamily="34" charset="-122"/>
                <a:cs typeface="Malgun Gothic" pitchFamily="34" charset="-120"/>
              </a:rPr>
              <a:t>쓰는 곳  </a:t>
            </a:r>
            <a:r>
              <a:rPr lang="ko-KR" altLang="en-US" sz="850" dirty="0">
                <a:solidFill>
                  <a:srgbClr val="6E655F"/>
                </a:solidFill>
                <a:latin typeface="Malgun Gothic" pitchFamily="34" charset="0"/>
                <a:ea typeface="Malgun Gothic" pitchFamily="34" charset="-122"/>
                <a:cs typeface="Malgun Gothic" pitchFamily="34" charset="-120"/>
              </a:rPr>
              <a:t>스턴 · HeroLanding</a:t>
            </a:r>
          </a:p>
        </p:txBody>
      </p:sp>
      <p:sp>
        <p:nvSpPr>
          <p:cNvPr id="15" name="Card PhysicsRotation"/>
          <p:cNvSpPr/>
          <p:nvPr/>
        </p:nvSpPr>
        <p:spPr>
          <a:xfrm>
            <a:off x="6080760" y="1234440"/>
            <a:ext cx="2606040" cy="1417320"/>
          </a:xfrm>
          <a:prstGeom prst="roundRect">
            <a:avLst>
              <a:gd name="adj" fmla="val 6000"/>
            </a:avLst>
          </a:prstGeom>
          <a:solidFill>
            <a:srgbClr val="E2F4EF"/>
          </a:solidFill>
          <a:ln>
            <a:noFill/>
          </a:ln>
        </p:spPr>
        <p:txBody>
          <a:bodyPr/>
          <a:lstStyle/>
          <a:p>
            <a:endParaRPr lang="ko-KR" altLang="en-US"/>
          </a:p>
        </p:txBody>
      </p:sp>
      <p:sp>
        <p:nvSpPr>
          <p:cNvPr id="16" name="Fn PhysicsRotation"/>
          <p:cNvSpPr txBox="1"/>
          <p:nvPr/>
        </p:nvSpPr>
        <p:spPr>
          <a:xfrm>
            <a:off x="6263640" y="1371600"/>
            <a:ext cx="2240280" cy="228600"/>
          </a:xfrm>
          <a:prstGeom prst="rect">
            <a:avLst/>
          </a:prstGeom>
          <a:noFill/>
          <a:ln/>
        </p:spPr>
        <p:txBody>
          <a:bodyPr wrap="square" lIns="0" tIns="0" rIns="0" bIns="0" rtlCol="0" anchor="t"/>
          <a:lstStyle/>
          <a:p>
            <a:pPr marL="0" indent="0">
              <a:buNone/>
            </a:pPr>
            <a:r>
              <a:rPr lang="ko-KR" altLang="en-US" sz="1100" b="1" dirty="0">
                <a:solidFill>
                  <a:srgbClr val="137A67"/>
                </a:solidFill>
                <a:latin typeface="Consolas" pitchFamily="49" charset="0"/>
                <a:ea typeface="Malgun Gothic" pitchFamily="34" charset="-122"/>
                <a:cs typeface="Malgun Gothic" pitchFamily="34" charset="-120"/>
              </a:rPr>
              <a:t>PhysicsRotation</a:t>
            </a:r>
          </a:p>
        </p:txBody>
      </p:sp>
      <p:sp>
        <p:nvSpPr>
          <p:cNvPr id="17" name="Desc PhysicsRotation"/>
          <p:cNvSpPr txBox="1"/>
          <p:nvPr/>
        </p:nvSpPr>
        <p:spPr>
          <a:xfrm>
            <a:off x="6263640" y="1664208"/>
            <a:ext cx="2240280" cy="685800"/>
          </a:xfrm>
          <a:prstGeom prst="rect">
            <a:avLst/>
          </a:prstGeom>
          <a:noFill/>
          <a:ln/>
        </p:spPr>
        <p:txBody>
          <a:bodyPr wrap="square" lIns="0" tIns="0" rIns="0" bIns="0" rtlCol="0" anchor="t"/>
          <a:lstStyle/>
          <a:p>
            <a:pPr marL="0" indent="0">
              <a:buNone/>
            </a:pPr>
            <a:r>
              <a:rPr lang="ko-KR" altLang="en-US" sz="950" dirty="0">
                <a:solidFill>
                  <a:srgbClr val="2A221D"/>
                </a:solidFill>
                <a:latin typeface="Malgun Gothic" pitchFamily="34" charset="0"/>
                <a:ea typeface="Malgun Gothic" pitchFamily="34" charset="-122"/>
                <a:cs typeface="Malgun Gothic" pitchFamily="34" charset="-120"/>
              </a:rPr>
              <a:t>움직이거나 쏠 때만 조준 방향으로 돈다. 대시 중에는 FBoardTurn이 보드처럼 요를 정한다</a:t>
            </a:r>
          </a:p>
        </p:txBody>
      </p:sp>
      <p:sp>
        <p:nvSpPr>
          <p:cNvPr id="18" name="Users PhysicsRotation"/>
          <p:cNvSpPr txBox="1"/>
          <p:nvPr/>
        </p:nvSpPr>
        <p:spPr>
          <a:xfrm>
            <a:off x="6263640" y="2377440"/>
            <a:ext cx="2240280" cy="182880"/>
          </a:xfrm>
          <a:prstGeom prst="rect">
            <a:avLst/>
          </a:prstGeom>
          <a:noFill/>
          <a:ln/>
        </p:spPr>
        <p:txBody>
          <a:bodyPr wrap="square" lIns="0" tIns="0" rIns="0" bIns="0" rtlCol="0" anchor="t"/>
          <a:lstStyle/>
          <a:p>
            <a:pPr marL="0" indent="0">
              <a:buNone/>
            </a:pPr>
            <a:r>
              <a:rPr lang="ko-KR" altLang="en-US" sz="850" b="1" dirty="0">
                <a:solidFill>
                  <a:srgbClr val="137A67"/>
                </a:solidFill>
                <a:latin typeface="Malgun Gothic" pitchFamily="34" charset="0"/>
                <a:ea typeface="Malgun Gothic" pitchFamily="34" charset="-122"/>
                <a:cs typeface="Malgun Gothic" pitchFamily="34" charset="-120"/>
              </a:rPr>
              <a:t>쓰는 곳  </a:t>
            </a:r>
            <a:r>
              <a:rPr lang="ko-KR" altLang="en-US" sz="850" dirty="0">
                <a:solidFill>
                  <a:srgbClr val="6E655F"/>
                </a:solidFill>
                <a:latin typeface="Malgun Gothic" pitchFamily="34" charset="0"/>
                <a:ea typeface="Malgun Gothic" pitchFamily="34" charset="-122"/>
                <a:cs typeface="Malgun Gothic" pitchFamily="34" charset="-120"/>
              </a:rPr>
              <a:t>대시 · 사격 · 조준</a:t>
            </a:r>
          </a:p>
        </p:txBody>
      </p:sp>
      <p:sp>
        <p:nvSpPr>
          <p:cNvPr id="19" name="Card PhysCustom"/>
          <p:cNvSpPr/>
          <p:nvPr/>
        </p:nvSpPr>
        <p:spPr>
          <a:xfrm>
            <a:off x="457200" y="2834640"/>
            <a:ext cx="2606040" cy="1417320"/>
          </a:xfrm>
          <a:prstGeom prst="roundRect">
            <a:avLst>
              <a:gd name="adj" fmla="val 6000"/>
            </a:avLst>
          </a:prstGeom>
          <a:solidFill>
            <a:srgbClr val="F3ECE6"/>
          </a:solidFill>
          <a:ln>
            <a:noFill/>
          </a:ln>
        </p:spPr>
        <p:txBody>
          <a:bodyPr/>
          <a:lstStyle/>
          <a:p>
            <a:endParaRPr lang="ko-KR" altLang="en-US"/>
          </a:p>
        </p:txBody>
      </p:sp>
      <p:sp>
        <p:nvSpPr>
          <p:cNvPr id="20" name="Fn PhysCustom"/>
          <p:cNvSpPr txBox="1"/>
          <p:nvPr/>
        </p:nvSpPr>
        <p:spPr>
          <a:xfrm>
            <a:off x="640080" y="2971800"/>
            <a:ext cx="2240280" cy="228600"/>
          </a:xfrm>
          <a:prstGeom prst="rect">
            <a:avLst/>
          </a:prstGeom>
          <a:noFill/>
          <a:ln/>
        </p:spPr>
        <p:txBody>
          <a:bodyPr wrap="square" lIns="0" tIns="0" rIns="0" bIns="0" rtlCol="0" anchor="t"/>
          <a:lstStyle/>
          <a:p>
            <a:pPr marL="0" indent="0">
              <a:buNone/>
            </a:pPr>
            <a:r>
              <a:rPr lang="ko-KR" altLang="en-US" sz="1100" b="1" dirty="0">
                <a:solidFill>
                  <a:srgbClr val="6B4430"/>
                </a:solidFill>
                <a:latin typeface="Consolas" pitchFamily="49" charset="0"/>
                <a:ea typeface="Malgun Gothic" pitchFamily="34" charset="-122"/>
                <a:cs typeface="Malgun Gothic" pitchFamily="34" charset="-120"/>
              </a:rPr>
              <a:t>PhysCustom</a:t>
            </a:r>
          </a:p>
        </p:txBody>
      </p:sp>
      <p:sp>
        <p:nvSpPr>
          <p:cNvPr id="21" name="Desc PhysCustom"/>
          <p:cNvSpPr txBox="1"/>
          <p:nvPr/>
        </p:nvSpPr>
        <p:spPr>
          <a:xfrm>
            <a:off x="640080" y="3264408"/>
            <a:ext cx="2240280" cy="685800"/>
          </a:xfrm>
          <a:prstGeom prst="rect">
            <a:avLst/>
          </a:prstGeom>
          <a:noFill/>
          <a:ln/>
        </p:spPr>
        <p:txBody>
          <a:bodyPr wrap="square" lIns="0" tIns="0" rIns="0" bIns="0" rtlCol="0" anchor="t"/>
          <a:lstStyle/>
          <a:p>
            <a:pPr marL="0" indent="0">
              <a:buNone/>
            </a:pPr>
            <a:r>
              <a:rPr lang="ko-KR" altLang="en-US" sz="950" dirty="0">
                <a:solidFill>
                  <a:srgbClr val="2A221D"/>
                </a:solidFill>
                <a:latin typeface="Malgun Gothic" pitchFamily="34" charset="0"/>
                <a:ea typeface="Malgun Gothic" pitchFamily="34" charset="-122"/>
                <a:cs typeface="Malgun Gothic" pitchFamily="34" charset="-120"/>
              </a:rPr>
              <a:t>CustomMode_HeroLanding에서 Rise → Hover → Approach를 돌린다. 단계는 저장 무브에 실린다</a:t>
            </a:r>
          </a:p>
        </p:txBody>
      </p:sp>
      <p:sp>
        <p:nvSpPr>
          <p:cNvPr id="22" name="Users PhysCustom"/>
          <p:cNvSpPr txBox="1"/>
          <p:nvPr/>
        </p:nvSpPr>
        <p:spPr>
          <a:xfrm>
            <a:off x="640080" y="3977640"/>
            <a:ext cx="2240280" cy="182880"/>
          </a:xfrm>
          <a:prstGeom prst="rect">
            <a:avLst/>
          </a:prstGeom>
          <a:noFill/>
          <a:ln/>
        </p:spPr>
        <p:txBody>
          <a:bodyPr wrap="square" lIns="0" tIns="0" rIns="0" bIns="0" rtlCol="0" anchor="t"/>
          <a:lstStyle/>
          <a:p>
            <a:pPr marL="0" indent="0">
              <a:buNone/>
            </a:pPr>
            <a:r>
              <a:rPr lang="ko-KR" altLang="en-US" sz="850" b="1" dirty="0">
                <a:solidFill>
                  <a:srgbClr val="6B4430"/>
                </a:solidFill>
                <a:latin typeface="Malgun Gothic" pitchFamily="34" charset="0"/>
                <a:ea typeface="Malgun Gothic" pitchFamily="34" charset="-122"/>
                <a:cs typeface="Malgun Gothic" pitchFamily="34" charset="-120"/>
              </a:rPr>
              <a:t>쓰는 곳  </a:t>
            </a:r>
            <a:r>
              <a:rPr lang="ko-KR" altLang="en-US" sz="850" dirty="0">
                <a:solidFill>
                  <a:srgbClr val="6E655F"/>
                </a:solidFill>
                <a:latin typeface="Malgun Gothic" pitchFamily="34" charset="0"/>
                <a:ea typeface="Malgun Gothic" pitchFamily="34" charset="-122"/>
                <a:cs typeface="Malgun Gothic" pitchFamily="34" charset="-120"/>
              </a:rPr>
              <a:t>HeroLanding</a:t>
            </a:r>
          </a:p>
        </p:txBody>
      </p:sp>
      <p:sp>
        <p:nvSpPr>
          <p:cNvPr id="23" name="Card GetGravityZ"/>
          <p:cNvSpPr/>
          <p:nvPr/>
        </p:nvSpPr>
        <p:spPr>
          <a:xfrm>
            <a:off x="3268980" y="2834640"/>
            <a:ext cx="2606040" cy="1417320"/>
          </a:xfrm>
          <a:prstGeom prst="roundRect">
            <a:avLst>
              <a:gd name="adj" fmla="val 6000"/>
            </a:avLst>
          </a:prstGeom>
          <a:solidFill>
            <a:srgbClr val="E2F4EF"/>
          </a:solidFill>
          <a:ln>
            <a:noFill/>
          </a:ln>
        </p:spPr>
        <p:txBody>
          <a:bodyPr/>
          <a:lstStyle/>
          <a:p>
            <a:endParaRPr lang="ko-KR" altLang="en-US"/>
          </a:p>
        </p:txBody>
      </p:sp>
      <p:sp>
        <p:nvSpPr>
          <p:cNvPr id="24" name="Fn GetGravityZ"/>
          <p:cNvSpPr txBox="1"/>
          <p:nvPr/>
        </p:nvSpPr>
        <p:spPr>
          <a:xfrm>
            <a:off x="3451860" y="2971800"/>
            <a:ext cx="2240280" cy="228600"/>
          </a:xfrm>
          <a:prstGeom prst="rect">
            <a:avLst/>
          </a:prstGeom>
          <a:noFill/>
          <a:ln/>
        </p:spPr>
        <p:txBody>
          <a:bodyPr wrap="square" lIns="0" tIns="0" rIns="0" bIns="0" rtlCol="0" anchor="t"/>
          <a:lstStyle/>
          <a:p>
            <a:pPr marL="0" indent="0">
              <a:buNone/>
            </a:pPr>
            <a:r>
              <a:rPr lang="ko-KR" altLang="en-US" sz="1100" b="1" dirty="0">
                <a:solidFill>
                  <a:srgbClr val="137A67"/>
                </a:solidFill>
                <a:latin typeface="Consolas" pitchFamily="49" charset="0"/>
                <a:ea typeface="Malgun Gothic" pitchFamily="34" charset="-122"/>
                <a:cs typeface="Malgun Gothic" pitchFamily="34" charset="-120"/>
              </a:rPr>
              <a:t>GetGravityZ</a:t>
            </a:r>
          </a:p>
        </p:txBody>
      </p:sp>
      <p:sp>
        <p:nvSpPr>
          <p:cNvPr id="25" name="Desc GetGravityZ"/>
          <p:cNvSpPr txBox="1"/>
          <p:nvPr/>
        </p:nvSpPr>
        <p:spPr>
          <a:xfrm>
            <a:off x="3451860" y="3264408"/>
            <a:ext cx="2240280" cy="685800"/>
          </a:xfrm>
          <a:prstGeom prst="rect">
            <a:avLst/>
          </a:prstGeom>
          <a:noFill/>
          <a:ln/>
        </p:spPr>
        <p:txBody>
          <a:bodyPr wrap="square" lIns="0" tIns="0" rIns="0" bIns="0" rtlCol="0" anchor="t"/>
          <a:lstStyle/>
          <a:p>
            <a:pPr marL="0" indent="0">
              <a:buNone/>
            </a:pPr>
            <a:r>
              <a:rPr lang="ko-KR" altLang="en-US" sz="950" dirty="0">
                <a:solidFill>
                  <a:srgbClr val="2A221D"/>
                </a:solidFill>
                <a:latin typeface="Malgun Gothic" pitchFamily="34" charset="0"/>
                <a:ea typeface="Malgun Gothic" pitchFamily="34" charset="-122"/>
                <a:cs typeface="Malgun Gothic" pitchFamily="34" charset="-120"/>
              </a:rPr>
              <a:t>다이브 중에는 중력이 0이다. 궤적이 직선이 되어 마커가 보여 준 자리에 떨어진다</a:t>
            </a:r>
          </a:p>
        </p:txBody>
      </p:sp>
      <p:sp>
        <p:nvSpPr>
          <p:cNvPr id="26" name="Users GetGravityZ"/>
          <p:cNvSpPr txBox="1"/>
          <p:nvPr/>
        </p:nvSpPr>
        <p:spPr>
          <a:xfrm>
            <a:off x="3451860" y="3977640"/>
            <a:ext cx="2240280" cy="182880"/>
          </a:xfrm>
          <a:prstGeom prst="rect">
            <a:avLst/>
          </a:prstGeom>
          <a:noFill/>
          <a:ln/>
        </p:spPr>
        <p:txBody>
          <a:bodyPr wrap="square" lIns="0" tIns="0" rIns="0" bIns="0" rtlCol="0" anchor="t"/>
          <a:lstStyle/>
          <a:p>
            <a:pPr marL="0" indent="0">
              <a:buNone/>
            </a:pPr>
            <a:r>
              <a:rPr lang="ko-KR" altLang="en-US" sz="850" b="1" dirty="0">
                <a:solidFill>
                  <a:srgbClr val="137A67"/>
                </a:solidFill>
                <a:latin typeface="Malgun Gothic" pitchFamily="34" charset="0"/>
                <a:ea typeface="Malgun Gothic" pitchFamily="34" charset="-122"/>
                <a:cs typeface="Malgun Gothic" pitchFamily="34" charset="-120"/>
              </a:rPr>
              <a:t>쓰는 곳  </a:t>
            </a:r>
            <a:r>
              <a:rPr lang="ko-KR" altLang="en-US" sz="850" dirty="0">
                <a:solidFill>
                  <a:srgbClr val="6E655F"/>
                </a:solidFill>
                <a:latin typeface="Malgun Gothic" pitchFamily="34" charset="0"/>
                <a:ea typeface="Malgun Gothic" pitchFamily="34" charset="-122"/>
                <a:cs typeface="Malgun Gothic" pitchFamily="34" charset="-120"/>
              </a:rPr>
              <a:t>HeroLanding</a:t>
            </a:r>
          </a:p>
        </p:txBody>
      </p:sp>
      <p:sp>
        <p:nvSpPr>
          <p:cNvPr id="27" name="Card Launch"/>
          <p:cNvSpPr/>
          <p:nvPr/>
        </p:nvSpPr>
        <p:spPr>
          <a:xfrm>
            <a:off x="6080760" y="2834640"/>
            <a:ext cx="2606040" cy="1417320"/>
          </a:xfrm>
          <a:prstGeom prst="roundRect">
            <a:avLst>
              <a:gd name="adj" fmla="val 6000"/>
            </a:avLst>
          </a:prstGeom>
          <a:solidFill>
            <a:srgbClr val="F3ECE6"/>
          </a:solidFill>
          <a:ln>
            <a:noFill/>
          </a:ln>
        </p:spPr>
        <p:txBody>
          <a:bodyPr/>
          <a:lstStyle/>
          <a:p>
            <a:endParaRPr lang="ko-KR" altLang="en-US"/>
          </a:p>
        </p:txBody>
      </p:sp>
      <p:sp>
        <p:nvSpPr>
          <p:cNvPr id="28" name="Fn Launch"/>
          <p:cNvSpPr txBox="1"/>
          <p:nvPr/>
        </p:nvSpPr>
        <p:spPr>
          <a:xfrm>
            <a:off x="6263640" y="2971800"/>
            <a:ext cx="2240280" cy="228600"/>
          </a:xfrm>
          <a:prstGeom prst="rect">
            <a:avLst/>
          </a:prstGeom>
          <a:noFill/>
          <a:ln/>
        </p:spPr>
        <p:txBody>
          <a:bodyPr wrap="square" lIns="0" tIns="0" rIns="0" bIns="0" rtlCol="0" anchor="t"/>
          <a:lstStyle/>
          <a:p>
            <a:pPr marL="0" indent="0">
              <a:buNone/>
            </a:pPr>
            <a:r>
              <a:rPr lang="ko-KR" altLang="en-US" sz="1100" b="1" dirty="0">
                <a:solidFill>
                  <a:srgbClr val="6B4430"/>
                </a:solidFill>
                <a:latin typeface="Consolas" pitchFamily="49" charset="0"/>
                <a:ea typeface="Malgun Gothic" pitchFamily="34" charset="-122"/>
                <a:cs typeface="Malgun Gothic" pitchFamily="34" charset="-120"/>
              </a:rPr>
              <a:t>Launch</a:t>
            </a:r>
          </a:p>
        </p:txBody>
      </p:sp>
      <p:sp>
        <p:nvSpPr>
          <p:cNvPr id="29" name="Desc Launch"/>
          <p:cNvSpPr txBox="1"/>
          <p:nvPr/>
        </p:nvSpPr>
        <p:spPr>
          <a:xfrm>
            <a:off x="6263640" y="3264408"/>
            <a:ext cx="2240280" cy="685800"/>
          </a:xfrm>
          <a:prstGeom prst="rect">
            <a:avLst/>
          </a:prstGeom>
          <a:noFill/>
          <a:ln/>
        </p:spPr>
        <p:txBody>
          <a:bodyPr wrap="square" lIns="0" tIns="0" rIns="0" bIns="0" rtlCol="0" anchor="t"/>
          <a:lstStyle/>
          <a:p>
            <a:pPr marL="0" indent="0">
              <a:buNone/>
            </a:pPr>
            <a:r>
              <a:rPr lang="ko-KR" altLang="en-US" sz="950" dirty="0">
                <a:solidFill>
                  <a:srgbClr val="2A221D"/>
                </a:solidFill>
                <a:latin typeface="Malgun Gothic" pitchFamily="34" charset="0"/>
                <a:ea typeface="Malgun Gothic" pitchFamily="34" charset="-122"/>
                <a:cs typeface="Malgun Gothic" pitchFamily="34" charset="-120"/>
              </a:rPr>
              <a:t>히어로 랜딩 중에는 점프대와 넉백을 무시한다. 공중에서 튕기면 착지가 오지 않아 단계가 멈췄다</a:t>
            </a:r>
          </a:p>
        </p:txBody>
      </p:sp>
      <p:sp>
        <p:nvSpPr>
          <p:cNvPr id="30" name="Users Launch"/>
          <p:cNvSpPr txBox="1"/>
          <p:nvPr/>
        </p:nvSpPr>
        <p:spPr>
          <a:xfrm>
            <a:off x="6263640" y="3977640"/>
            <a:ext cx="2240280" cy="182880"/>
          </a:xfrm>
          <a:prstGeom prst="rect">
            <a:avLst/>
          </a:prstGeom>
          <a:noFill/>
          <a:ln/>
        </p:spPr>
        <p:txBody>
          <a:bodyPr wrap="square" lIns="0" tIns="0" rIns="0" bIns="0" rtlCol="0" anchor="t"/>
          <a:lstStyle/>
          <a:p>
            <a:pPr marL="0" indent="0">
              <a:buNone/>
            </a:pPr>
            <a:r>
              <a:rPr lang="ko-KR" altLang="en-US" sz="850" b="1" dirty="0">
                <a:solidFill>
                  <a:srgbClr val="6B4430"/>
                </a:solidFill>
                <a:latin typeface="Malgun Gothic" pitchFamily="34" charset="0"/>
                <a:ea typeface="Malgun Gothic" pitchFamily="34" charset="-122"/>
                <a:cs typeface="Malgun Gothic" pitchFamily="34" charset="-120"/>
              </a:rPr>
              <a:t>쓰는 곳  </a:t>
            </a:r>
            <a:r>
              <a:rPr lang="ko-KR" altLang="en-US" sz="850" dirty="0">
                <a:solidFill>
                  <a:srgbClr val="6E655F"/>
                </a:solidFill>
                <a:latin typeface="Malgun Gothic" pitchFamily="34" charset="0"/>
                <a:ea typeface="Malgun Gothic" pitchFamily="34" charset="-122"/>
                <a:cs typeface="Malgun Gothic" pitchFamily="34" charset="-120"/>
              </a:rPr>
              <a:t>HeroLanding · 점프대</a:t>
            </a:r>
          </a:p>
        </p:txBody>
      </p:sp>
      <p:sp>
        <p:nvSpPr>
          <p:cNvPr id="31" name="Footnote"/>
          <p:cNvSpPr txBox="1"/>
          <p:nvPr/>
        </p:nvSpPr>
        <p:spPr>
          <a:xfrm>
            <a:off x="457200" y="4462272"/>
            <a:ext cx="7589520" cy="228600"/>
          </a:xfrm>
          <a:prstGeom prst="rect">
            <a:avLst/>
          </a:prstGeom>
          <a:noFill/>
          <a:ln/>
        </p:spPr>
        <p:txBody>
          <a:bodyPr wrap="square" lIns="0" tIns="0" rIns="0" bIns="0" rtlCol="0" anchor="t"/>
          <a:lstStyle/>
          <a:p>
            <a:pPr marL="0" indent="0">
              <a:buNone/>
            </a:pPr>
            <a:r>
              <a:rPr lang="ko-KR" altLang="en-US" sz="950" b="1" dirty="0">
                <a:solidFill>
                  <a:srgbClr val="6B4430"/>
                </a:solidFill>
                <a:latin typeface="Malgun Gothic" pitchFamily="34" charset="0"/>
                <a:ea typeface="Malgun Gothic" pitchFamily="34" charset="-122"/>
                <a:cs typeface="Malgun Gothic" pitchFamily="34" charset="-120"/>
              </a:rPr>
              <a:t>남은 커스텀 플래그 0개.  </a:t>
            </a:r>
            <a:r>
              <a:rPr lang="ko-KR" altLang="en-US" sz="950" dirty="0">
                <a:solidFill>
                  <a:srgbClr val="6E655F"/>
                </a:solidFill>
                <a:latin typeface="Malgun Gothic" pitchFamily="34" charset="0"/>
                <a:ea typeface="Malgun Gothic" pitchFamily="34" charset="-122"/>
                <a:cs typeface="Malgun Gothic" pitchFamily="34" charset="-120"/>
              </a:rPr>
              <a:t>이동을 바꾸는 상태를 더 넣으려면 FCharacterNetworkMoveData를 확장해야 한다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CHARACTER · HERO LANDING</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히어로 랜딩 상태 기계</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14</a:t>
            </a:r>
            <a:endParaRPr lang="en-US" sz="900" dirty="0"/>
          </a:p>
        </p:txBody>
      </p:sp>
      <p:sp>
        <p:nvSpPr>
          <p:cNvPr id="7" name="Shape 5"/>
          <p:cNvSpPr/>
          <p:nvPr/>
        </p:nvSpPr>
        <p:spPr>
          <a:xfrm>
            <a:off x="457200" y="1325880"/>
            <a:ext cx="1188720" cy="868680"/>
          </a:xfrm>
          <a:prstGeom prst="roundRect">
            <a:avLst>
              <a:gd name="adj" fmla="val 8421"/>
            </a:avLst>
          </a:prstGeom>
          <a:solidFill>
            <a:srgbClr val="E2F4EF"/>
          </a:solidFill>
          <a:ln w="12700">
            <a:solidFill>
              <a:srgbClr val="E2F4EF"/>
            </a:solidFill>
            <a:prstDash val="solid"/>
          </a:ln>
        </p:spPr>
        <p:txBody>
          <a:bodyPr/>
          <a:lstStyle/>
          <a:p>
            <a:endParaRPr lang="ko-KR" altLang="en-US"/>
          </a:p>
        </p:txBody>
      </p:sp>
      <p:sp>
        <p:nvSpPr>
          <p:cNvPr id="8" name="Text 6"/>
          <p:cNvSpPr txBox="1"/>
          <p:nvPr/>
        </p:nvSpPr>
        <p:spPr>
          <a:xfrm>
            <a:off x="457200" y="1463040"/>
            <a:ext cx="1188720" cy="274320"/>
          </a:xfrm>
          <a:prstGeom prst="rect">
            <a:avLst/>
          </a:prstGeom>
          <a:noFill/>
          <a:ln/>
        </p:spPr>
        <p:txBody>
          <a:bodyPr wrap="square" lIns="0" tIns="0" rIns="0" bIns="0" rtlCol="0" anchor="t"/>
          <a:lstStyle/>
          <a:p>
            <a:pPr marL="0" indent="0" algn="ctr">
              <a:buNone/>
            </a:pPr>
            <a:r>
              <a:rPr lang="en-US" sz="1200" b="1" dirty="0">
                <a:solidFill>
                  <a:srgbClr val="2B1B12"/>
                </a:solidFill>
                <a:latin typeface="Consolas" pitchFamily="34" charset="0"/>
                <a:ea typeface="Consolas" pitchFamily="34" charset="-122"/>
                <a:cs typeface="Consolas" pitchFamily="34" charset="-120"/>
              </a:rPr>
              <a:t>None</a:t>
            </a:r>
            <a:endParaRPr lang="en-US" sz="1200" dirty="0"/>
          </a:p>
        </p:txBody>
      </p:sp>
      <p:sp>
        <p:nvSpPr>
          <p:cNvPr id="9" name="Text 7"/>
          <p:cNvSpPr txBox="1"/>
          <p:nvPr/>
        </p:nvSpPr>
        <p:spPr>
          <a:xfrm>
            <a:off x="502920" y="1801368"/>
            <a:ext cx="1097280" cy="320040"/>
          </a:xfrm>
          <a:prstGeom prst="rect">
            <a:avLst/>
          </a:prstGeom>
          <a:noFill/>
          <a:ln/>
        </p:spPr>
        <p:txBody>
          <a:bodyPr wrap="square" lIns="0" tIns="0" rIns="0" bIns="0" rtlCol="0" anchor="t"/>
          <a:lstStyle/>
          <a:p>
            <a:pPr marL="0" indent="0" algn="ctr">
              <a:buNone/>
            </a:pPr>
            <a:r>
              <a:rPr lang="en-US" sz="900" dirty="0">
                <a:solidFill>
                  <a:srgbClr val="6E655F"/>
                </a:solidFill>
                <a:latin typeface="Malgun Gothic" pitchFamily="34" charset="0"/>
                <a:ea typeface="Malgun Gothic" pitchFamily="34" charset="-122"/>
                <a:cs typeface="Malgun Gothic" pitchFamily="34" charset="-120"/>
              </a:rPr>
              <a:t>대기</a:t>
            </a:r>
            <a:endParaRPr lang="en-US" sz="900" dirty="0"/>
          </a:p>
        </p:txBody>
      </p:sp>
      <p:sp>
        <p:nvSpPr>
          <p:cNvPr id="10" name="Text 8"/>
          <p:cNvSpPr txBox="1"/>
          <p:nvPr/>
        </p:nvSpPr>
        <p:spPr>
          <a:xfrm>
            <a:off x="1645920" y="1554480"/>
            <a:ext cx="219456" cy="365760"/>
          </a:xfrm>
          <a:prstGeom prst="rect">
            <a:avLst/>
          </a:prstGeom>
          <a:noFill/>
          <a:ln/>
        </p:spPr>
        <p:txBody>
          <a:bodyPr wrap="square" lIns="0" tIns="0" rIns="0" bIns="0" rtlCol="0" anchor="t"/>
          <a:lstStyle/>
          <a:p>
            <a:pPr marL="0" indent="0" algn="ctr">
              <a:buNone/>
            </a:pPr>
            <a:r>
              <a:rPr lang="en-US" sz="1800" b="1" dirty="0">
                <a:solidFill>
                  <a:srgbClr val="6E655F"/>
                </a:solidFill>
                <a:latin typeface="Malgun Gothic" pitchFamily="34" charset="0"/>
                <a:ea typeface="Malgun Gothic" pitchFamily="34" charset="-122"/>
                <a:cs typeface="Malgun Gothic" pitchFamily="34" charset="-120"/>
              </a:rPr>
              <a:t>›</a:t>
            </a:r>
            <a:endParaRPr lang="en-US" sz="1800" dirty="0"/>
          </a:p>
        </p:txBody>
      </p:sp>
      <p:sp>
        <p:nvSpPr>
          <p:cNvPr id="11" name="Shape 9"/>
          <p:cNvSpPr/>
          <p:nvPr/>
        </p:nvSpPr>
        <p:spPr>
          <a:xfrm>
            <a:off x="1865376" y="1325880"/>
            <a:ext cx="1188720" cy="868680"/>
          </a:xfrm>
          <a:prstGeom prst="roundRect">
            <a:avLst>
              <a:gd name="adj" fmla="val 8421"/>
            </a:avLst>
          </a:prstGeom>
          <a:solidFill>
            <a:srgbClr val="E2F4EF"/>
          </a:solidFill>
          <a:ln w="12700">
            <a:solidFill>
              <a:srgbClr val="E2F4EF"/>
            </a:solidFill>
            <a:prstDash val="solid"/>
          </a:ln>
        </p:spPr>
        <p:txBody>
          <a:bodyPr/>
          <a:lstStyle/>
          <a:p>
            <a:endParaRPr lang="ko-KR" altLang="en-US"/>
          </a:p>
        </p:txBody>
      </p:sp>
      <p:sp>
        <p:nvSpPr>
          <p:cNvPr id="12" name="Text 10"/>
          <p:cNvSpPr txBox="1"/>
          <p:nvPr/>
        </p:nvSpPr>
        <p:spPr>
          <a:xfrm>
            <a:off x="1865376" y="1463040"/>
            <a:ext cx="1188720" cy="274320"/>
          </a:xfrm>
          <a:prstGeom prst="rect">
            <a:avLst/>
          </a:prstGeom>
          <a:noFill/>
          <a:ln/>
        </p:spPr>
        <p:txBody>
          <a:bodyPr wrap="square" lIns="0" tIns="0" rIns="0" bIns="0" rtlCol="0" anchor="t"/>
          <a:lstStyle/>
          <a:p>
            <a:pPr marL="0" indent="0" algn="ctr">
              <a:buNone/>
            </a:pPr>
            <a:r>
              <a:rPr lang="en-US" sz="1200" b="1" dirty="0">
                <a:solidFill>
                  <a:srgbClr val="2B1B12"/>
                </a:solidFill>
                <a:latin typeface="Consolas" pitchFamily="34" charset="0"/>
                <a:ea typeface="Consolas" pitchFamily="34" charset="-122"/>
                <a:cs typeface="Consolas" pitchFamily="34" charset="-120"/>
              </a:rPr>
              <a:t>Rise</a:t>
            </a:r>
            <a:endParaRPr lang="en-US" sz="1200" dirty="0"/>
          </a:p>
        </p:txBody>
      </p:sp>
      <p:sp>
        <p:nvSpPr>
          <p:cNvPr id="13" name="Text 11"/>
          <p:cNvSpPr txBox="1"/>
          <p:nvPr/>
        </p:nvSpPr>
        <p:spPr>
          <a:xfrm>
            <a:off x="1911096" y="1801368"/>
            <a:ext cx="1097280" cy="320040"/>
          </a:xfrm>
          <a:prstGeom prst="rect">
            <a:avLst/>
          </a:prstGeom>
          <a:noFill/>
          <a:ln/>
        </p:spPr>
        <p:txBody>
          <a:bodyPr wrap="square" lIns="0" tIns="0" rIns="0" bIns="0" rtlCol="0" anchor="t"/>
          <a:lstStyle/>
          <a:p>
            <a:pPr marL="0" indent="0" algn="ctr">
              <a:buNone/>
            </a:pPr>
            <a:r>
              <a:rPr lang="en-US" sz="900" dirty="0">
                <a:solidFill>
                  <a:srgbClr val="6E655F"/>
                </a:solidFill>
                <a:latin typeface="Malgun Gothic" pitchFamily="34" charset="0"/>
                <a:ea typeface="Malgun Gothic" pitchFamily="34" charset="-122"/>
                <a:cs typeface="Malgun Gothic" pitchFamily="34" charset="-120"/>
              </a:rPr>
              <a:t>목표 높이까지 상승</a:t>
            </a:r>
            <a:endParaRPr lang="en-US" sz="900" dirty="0"/>
          </a:p>
        </p:txBody>
      </p:sp>
      <p:sp>
        <p:nvSpPr>
          <p:cNvPr id="14" name="Text 12"/>
          <p:cNvSpPr txBox="1"/>
          <p:nvPr/>
        </p:nvSpPr>
        <p:spPr>
          <a:xfrm>
            <a:off x="3054096" y="1554480"/>
            <a:ext cx="219456" cy="365760"/>
          </a:xfrm>
          <a:prstGeom prst="rect">
            <a:avLst/>
          </a:prstGeom>
          <a:noFill/>
          <a:ln/>
        </p:spPr>
        <p:txBody>
          <a:bodyPr wrap="square" lIns="0" tIns="0" rIns="0" bIns="0" rtlCol="0" anchor="t"/>
          <a:lstStyle/>
          <a:p>
            <a:pPr marL="0" indent="0" algn="ctr">
              <a:buNone/>
            </a:pPr>
            <a:r>
              <a:rPr lang="en-US" sz="1800" b="1" dirty="0">
                <a:solidFill>
                  <a:srgbClr val="6E655F"/>
                </a:solidFill>
                <a:latin typeface="Malgun Gothic" pitchFamily="34" charset="0"/>
                <a:ea typeface="Malgun Gothic" pitchFamily="34" charset="-122"/>
                <a:cs typeface="Malgun Gothic" pitchFamily="34" charset="-120"/>
              </a:rPr>
              <a:t>›</a:t>
            </a:r>
            <a:endParaRPr lang="en-US" sz="1800" dirty="0"/>
          </a:p>
        </p:txBody>
      </p:sp>
      <p:sp>
        <p:nvSpPr>
          <p:cNvPr id="15" name="Shape 13"/>
          <p:cNvSpPr/>
          <p:nvPr/>
        </p:nvSpPr>
        <p:spPr>
          <a:xfrm>
            <a:off x="3273552" y="1325880"/>
            <a:ext cx="1188720" cy="868680"/>
          </a:xfrm>
          <a:prstGeom prst="roundRect">
            <a:avLst>
              <a:gd name="adj" fmla="val 8421"/>
            </a:avLst>
          </a:prstGeom>
          <a:solidFill>
            <a:srgbClr val="E2F4EF"/>
          </a:solidFill>
          <a:ln w="12700">
            <a:solidFill>
              <a:srgbClr val="E2F4EF"/>
            </a:solidFill>
            <a:prstDash val="solid"/>
          </a:ln>
        </p:spPr>
        <p:txBody>
          <a:bodyPr/>
          <a:lstStyle/>
          <a:p>
            <a:endParaRPr lang="ko-KR" altLang="en-US"/>
          </a:p>
        </p:txBody>
      </p:sp>
      <p:sp>
        <p:nvSpPr>
          <p:cNvPr id="16" name="Text 14"/>
          <p:cNvSpPr txBox="1"/>
          <p:nvPr/>
        </p:nvSpPr>
        <p:spPr>
          <a:xfrm>
            <a:off x="3273552" y="1463040"/>
            <a:ext cx="1188720" cy="274320"/>
          </a:xfrm>
          <a:prstGeom prst="rect">
            <a:avLst/>
          </a:prstGeom>
          <a:noFill/>
          <a:ln/>
        </p:spPr>
        <p:txBody>
          <a:bodyPr wrap="square" lIns="0" tIns="0" rIns="0" bIns="0" rtlCol="0" anchor="t"/>
          <a:lstStyle/>
          <a:p>
            <a:pPr marL="0" indent="0" algn="ctr">
              <a:buNone/>
            </a:pPr>
            <a:r>
              <a:rPr lang="en-US" sz="1200" b="1" dirty="0">
                <a:solidFill>
                  <a:srgbClr val="2B1B12"/>
                </a:solidFill>
                <a:latin typeface="Consolas" pitchFamily="34" charset="0"/>
                <a:ea typeface="Consolas" pitchFamily="34" charset="-122"/>
                <a:cs typeface="Consolas" pitchFamily="34" charset="-120"/>
              </a:rPr>
              <a:t>Hover</a:t>
            </a:r>
            <a:endParaRPr lang="en-US" sz="1200" dirty="0"/>
          </a:p>
        </p:txBody>
      </p:sp>
      <p:sp>
        <p:nvSpPr>
          <p:cNvPr id="17" name="Text 15"/>
          <p:cNvSpPr txBox="1"/>
          <p:nvPr/>
        </p:nvSpPr>
        <p:spPr>
          <a:xfrm>
            <a:off x="3319272" y="1801368"/>
            <a:ext cx="1097280" cy="320040"/>
          </a:xfrm>
          <a:prstGeom prst="rect">
            <a:avLst/>
          </a:prstGeom>
          <a:noFill/>
          <a:ln/>
        </p:spPr>
        <p:txBody>
          <a:bodyPr wrap="square" lIns="0" tIns="0" rIns="0" bIns="0" rtlCol="0" anchor="t"/>
          <a:lstStyle/>
          <a:p>
            <a:pPr marL="0" indent="0" algn="ctr">
              <a:buNone/>
            </a:pPr>
            <a:r>
              <a:rPr lang="en-US" sz="900" dirty="0">
                <a:solidFill>
                  <a:srgbClr val="6E655F"/>
                </a:solidFill>
                <a:latin typeface="Malgun Gothic" pitchFamily="34" charset="0"/>
                <a:ea typeface="Malgun Gothic" pitchFamily="34" charset="-122"/>
                <a:cs typeface="Malgun Gothic" pitchFamily="34" charset="-120"/>
              </a:rPr>
              <a:t>착지점 조준</a:t>
            </a:r>
            <a:endParaRPr lang="en-US" sz="900" dirty="0"/>
          </a:p>
        </p:txBody>
      </p:sp>
      <p:sp>
        <p:nvSpPr>
          <p:cNvPr id="18" name="Text 16"/>
          <p:cNvSpPr txBox="1"/>
          <p:nvPr/>
        </p:nvSpPr>
        <p:spPr>
          <a:xfrm>
            <a:off x="4462272" y="1554480"/>
            <a:ext cx="219456" cy="365760"/>
          </a:xfrm>
          <a:prstGeom prst="rect">
            <a:avLst/>
          </a:prstGeom>
          <a:noFill/>
          <a:ln/>
        </p:spPr>
        <p:txBody>
          <a:bodyPr wrap="square" lIns="0" tIns="0" rIns="0" bIns="0" rtlCol="0" anchor="t"/>
          <a:lstStyle/>
          <a:p>
            <a:pPr marL="0" indent="0" algn="ctr">
              <a:buNone/>
            </a:pPr>
            <a:r>
              <a:rPr lang="en-US" sz="1800" b="1" dirty="0">
                <a:solidFill>
                  <a:srgbClr val="6E655F"/>
                </a:solidFill>
                <a:latin typeface="Malgun Gothic" pitchFamily="34" charset="0"/>
                <a:ea typeface="Malgun Gothic" pitchFamily="34" charset="-122"/>
                <a:cs typeface="Malgun Gothic" pitchFamily="34" charset="-120"/>
              </a:rPr>
              <a:t>›</a:t>
            </a:r>
            <a:endParaRPr lang="en-US" sz="1800" dirty="0"/>
          </a:p>
        </p:txBody>
      </p:sp>
      <p:sp>
        <p:nvSpPr>
          <p:cNvPr id="19" name="Shape 17"/>
          <p:cNvSpPr/>
          <p:nvPr/>
        </p:nvSpPr>
        <p:spPr>
          <a:xfrm>
            <a:off x="4681728" y="1325880"/>
            <a:ext cx="1188720" cy="868680"/>
          </a:xfrm>
          <a:prstGeom prst="roundRect">
            <a:avLst>
              <a:gd name="adj" fmla="val 8421"/>
            </a:avLst>
          </a:prstGeom>
          <a:solidFill>
            <a:srgbClr val="F3ECE6"/>
          </a:solidFill>
          <a:ln w="12700">
            <a:solidFill>
              <a:srgbClr val="F3ECE6"/>
            </a:solidFill>
            <a:prstDash val="solid"/>
          </a:ln>
        </p:spPr>
        <p:txBody>
          <a:bodyPr/>
          <a:lstStyle/>
          <a:p>
            <a:endParaRPr lang="ko-KR" altLang="en-US"/>
          </a:p>
        </p:txBody>
      </p:sp>
      <p:sp>
        <p:nvSpPr>
          <p:cNvPr id="20" name="Text 18"/>
          <p:cNvSpPr txBox="1"/>
          <p:nvPr/>
        </p:nvSpPr>
        <p:spPr>
          <a:xfrm>
            <a:off x="4681728" y="1463040"/>
            <a:ext cx="1188720" cy="274320"/>
          </a:xfrm>
          <a:prstGeom prst="rect">
            <a:avLst/>
          </a:prstGeom>
          <a:noFill/>
          <a:ln/>
        </p:spPr>
        <p:txBody>
          <a:bodyPr wrap="square" lIns="0" tIns="0" rIns="0" bIns="0" rtlCol="0" anchor="t"/>
          <a:lstStyle/>
          <a:p>
            <a:pPr marL="0" indent="0" algn="ctr">
              <a:buNone/>
            </a:pPr>
            <a:r>
              <a:rPr lang="en-US" sz="1200" b="1" dirty="0">
                <a:solidFill>
                  <a:srgbClr val="2B1B12"/>
                </a:solidFill>
                <a:latin typeface="Consolas" pitchFamily="34" charset="0"/>
                <a:ea typeface="Consolas" pitchFamily="34" charset="-122"/>
                <a:cs typeface="Consolas" pitchFamily="34" charset="-120"/>
              </a:rPr>
              <a:t>Approach</a:t>
            </a:r>
            <a:endParaRPr lang="en-US" sz="1200" dirty="0"/>
          </a:p>
        </p:txBody>
      </p:sp>
      <p:sp>
        <p:nvSpPr>
          <p:cNvPr id="21" name="Text 19"/>
          <p:cNvSpPr txBox="1"/>
          <p:nvPr/>
        </p:nvSpPr>
        <p:spPr>
          <a:xfrm>
            <a:off x="4727448" y="1801368"/>
            <a:ext cx="1097280" cy="320040"/>
          </a:xfrm>
          <a:prstGeom prst="rect">
            <a:avLst/>
          </a:prstGeom>
          <a:noFill/>
          <a:ln/>
        </p:spPr>
        <p:txBody>
          <a:bodyPr wrap="square" lIns="0" tIns="0" rIns="0" bIns="0" rtlCol="0" anchor="t"/>
          <a:lstStyle/>
          <a:p>
            <a:pPr marL="0" indent="0" algn="ctr">
              <a:buNone/>
            </a:pPr>
            <a:r>
              <a:rPr lang="en-US" sz="900" dirty="0">
                <a:solidFill>
                  <a:srgbClr val="6E655F"/>
                </a:solidFill>
                <a:latin typeface="Malgun Gothic" pitchFamily="34" charset="0"/>
                <a:ea typeface="Malgun Gothic" pitchFamily="34" charset="-122"/>
                <a:cs typeface="Malgun Gothic" pitchFamily="34" charset="-120"/>
              </a:rPr>
              <a:t>목표가 높을 때만</a:t>
            </a:r>
            <a:endParaRPr lang="en-US" sz="900" dirty="0"/>
          </a:p>
        </p:txBody>
      </p:sp>
      <p:sp>
        <p:nvSpPr>
          <p:cNvPr id="22" name="Text 20"/>
          <p:cNvSpPr txBox="1"/>
          <p:nvPr/>
        </p:nvSpPr>
        <p:spPr>
          <a:xfrm>
            <a:off x="5870448" y="1554480"/>
            <a:ext cx="219456" cy="365760"/>
          </a:xfrm>
          <a:prstGeom prst="rect">
            <a:avLst/>
          </a:prstGeom>
          <a:noFill/>
          <a:ln/>
        </p:spPr>
        <p:txBody>
          <a:bodyPr wrap="square" lIns="0" tIns="0" rIns="0" bIns="0" rtlCol="0" anchor="t"/>
          <a:lstStyle/>
          <a:p>
            <a:pPr marL="0" indent="0" algn="ctr">
              <a:buNone/>
            </a:pPr>
            <a:r>
              <a:rPr lang="en-US" sz="1800" b="1" dirty="0">
                <a:solidFill>
                  <a:srgbClr val="6E655F"/>
                </a:solidFill>
                <a:latin typeface="Malgun Gothic" pitchFamily="34" charset="0"/>
                <a:ea typeface="Malgun Gothic" pitchFamily="34" charset="-122"/>
                <a:cs typeface="Malgun Gothic" pitchFamily="34" charset="-120"/>
              </a:rPr>
              <a:t>›</a:t>
            </a:r>
            <a:endParaRPr lang="en-US" sz="1800" dirty="0"/>
          </a:p>
        </p:txBody>
      </p:sp>
      <p:sp>
        <p:nvSpPr>
          <p:cNvPr id="23" name="Shape 21"/>
          <p:cNvSpPr/>
          <p:nvPr/>
        </p:nvSpPr>
        <p:spPr>
          <a:xfrm>
            <a:off x="6089904" y="1325880"/>
            <a:ext cx="1188720" cy="868680"/>
          </a:xfrm>
          <a:prstGeom prst="roundRect">
            <a:avLst>
              <a:gd name="adj" fmla="val 8421"/>
            </a:avLst>
          </a:prstGeom>
          <a:solidFill>
            <a:srgbClr val="E2F4EF"/>
          </a:solidFill>
          <a:ln w="12700">
            <a:solidFill>
              <a:srgbClr val="E2F4EF"/>
            </a:solidFill>
            <a:prstDash val="solid"/>
          </a:ln>
        </p:spPr>
        <p:txBody>
          <a:bodyPr/>
          <a:lstStyle/>
          <a:p>
            <a:endParaRPr lang="ko-KR" altLang="en-US"/>
          </a:p>
        </p:txBody>
      </p:sp>
      <p:sp>
        <p:nvSpPr>
          <p:cNvPr id="24" name="Text 22"/>
          <p:cNvSpPr txBox="1"/>
          <p:nvPr/>
        </p:nvSpPr>
        <p:spPr>
          <a:xfrm>
            <a:off x="6089904" y="1463040"/>
            <a:ext cx="1188720" cy="274320"/>
          </a:xfrm>
          <a:prstGeom prst="rect">
            <a:avLst/>
          </a:prstGeom>
          <a:noFill/>
          <a:ln/>
        </p:spPr>
        <p:txBody>
          <a:bodyPr wrap="square" lIns="0" tIns="0" rIns="0" bIns="0" rtlCol="0" anchor="t"/>
          <a:lstStyle/>
          <a:p>
            <a:pPr marL="0" indent="0" algn="ctr">
              <a:buNone/>
            </a:pPr>
            <a:r>
              <a:rPr lang="en-US" sz="1200" b="1" dirty="0">
                <a:solidFill>
                  <a:srgbClr val="2B1B12"/>
                </a:solidFill>
                <a:latin typeface="Consolas" pitchFamily="34" charset="0"/>
                <a:ea typeface="Consolas" pitchFamily="34" charset="-122"/>
                <a:cs typeface="Consolas" pitchFamily="34" charset="-120"/>
              </a:rPr>
              <a:t>Dive</a:t>
            </a:r>
            <a:endParaRPr lang="en-US" sz="1200" dirty="0"/>
          </a:p>
        </p:txBody>
      </p:sp>
      <p:sp>
        <p:nvSpPr>
          <p:cNvPr id="25" name="Text 23"/>
          <p:cNvSpPr txBox="1"/>
          <p:nvPr/>
        </p:nvSpPr>
        <p:spPr>
          <a:xfrm>
            <a:off x="6135624" y="1801368"/>
            <a:ext cx="1097280" cy="320040"/>
          </a:xfrm>
          <a:prstGeom prst="rect">
            <a:avLst/>
          </a:prstGeom>
          <a:noFill/>
          <a:ln/>
        </p:spPr>
        <p:txBody>
          <a:bodyPr wrap="square" lIns="0" tIns="0" rIns="0" bIns="0" rtlCol="0" anchor="t"/>
          <a:lstStyle/>
          <a:p>
            <a:pPr marL="0" indent="0" algn="ctr">
              <a:buNone/>
            </a:pPr>
            <a:r>
              <a:rPr lang="en-US" sz="900" dirty="0">
                <a:solidFill>
                  <a:srgbClr val="6E655F"/>
                </a:solidFill>
                <a:latin typeface="Malgun Gothic" pitchFamily="34" charset="0"/>
                <a:ea typeface="Malgun Gothic" pitchFamily="34" charset="-122"/>
                <a:cs typeface="Malgun Gothic" pitchFamily="34" charset="-120"/>
              </a:rPr>
              <a:t>MOVE_Falling</a:t>
            </a:r>
            <a:endParaRPr lang="en-US" sz="900" dirty="0"/>
          </a:p>
        </p:txBody>
      </p:sp>
      <p:sp>
        <p:nvSpPr>
          <p:cNvPr id="26" name="Text 24"/>
          <p:cNvSpPr txBox="1"/>
          <p:nvPr/>
        </p:nvSpPr>
        <p:spPr>
          <a:xfrm>
            <a:off x="7278624" y="1554480"/>
            <a:ext cx="219456" cy="365760"/>
          </a:xfrm>
          <a:prstGeom prst="rect">
            <a:avLst/>
          </a:prstGeom>
          <a:noFill/>
          <a:ln/>
        </p:spPr>
        <p:txBody>
          <a:bodyPr wrap="square" lIns="0" tIns="0" rIns="0" bIns="0" rtlCol="0" anchor="t"/>
          <a:lstStyle/>
          <a:p>
            <a:pPr marL="0" indent="0" algn="ctr">
              <a:buNone/>
            </a:pPr>
            <a:r>
              <a:rPr lang="en-US" sz="1800" b="1" dirty="0">
                <a:solidFill>
                  <a:srgbClr val="6E655F"/>
                </a:solidFill>
                <a:latin typeface="Malgun Gothic" pitchFamily="34" charset="0"/>
                <a:ea typeface="Malgun Gothic" pitchFamily="34" charset="-122"/>
                <a:cs typeface="Malgun Gothic" pitchFamily="34" charset="-120"/>
              </a:rPr>
              <a:t>›</a:t>
            </a:r>
            <a:endParaRPr lang="en-US" sz="1800" dirty="0"/>
          </a:p>
        </p:txBody>
      </p:sp>
      <p:sp>
        <p:nvSpPr>
          <p:cNvPr id="27" name="Shape 25"/>
          <p:cNvSpPr/>
          <p:nvPr/>
        </p:nvSpPr>
        <p:spPr>
          <a:xfrm>
            <a:off x="7498080" y="1325880"/>
            <a:ext cx="1188720" cy="868680"/>
          </a:xfrm>
          <a:prstGeom prst="roundRect">
            <a:avLst>
              <a:gd name="adj" fmla="val 8421"/>
            </a:avLst>
          </a:prstGeom>
          <a:solidFill>
            <a:srgbClr val="E2F4EF"/>
          </a:solidFill>
          <a:ln w="12700">
            <a:solidFill>
              <a:srgbClr val="E2F4EF"/>
            </a:solidFill>
            <a:prstDash val="solid"/>
          </a:ln>
        </p:spPr>
        <p:txBody>
          <a:bodyPr/>
          <a:lstStyle/>
          <a:p>
            <a:endParaRPr lang="ko-KR" altLang="en-US"/>
          </a:p>
        </p:txBody>
      </p:sp>
      <p:sp>
        <p:nvSpPr>
          <p:cNvPr id="28" name="Text 26"/>
          <p:cNvSpPr txBox="1"/>
          <p:nvPr/>
        </p:nvSpPr>
        <p:spPr>
          <a:xfrm>
            <a:off x="7498080" y="1463040"/>
            <a:ext cx="1188720" cy="274320"/>
          </a:xfrm>
          <a:prstGeom prst="rect">
            <a:avLst/>
          </a:prstGeom>
          <a:noFill/>
          <a:ln/>
        </p:spPr>
        <p:txBody>
          <a:bodyPr wrap="square" lIns="0" tIns="0" rIns="0" bIns="0" rtlCol="0" anchor="t"/>
          <a:lstStyle/>
          <a:p>
            <a:pPr marL="0" indent="0" algn="ctr">
              <a:buNone/>
            </a:pPr>
            <a:r>
              <a:rPr lang="en-US" sz="1200" b="1" dirty="0">
                <a:solidFill>
                  <a:srgbClr val="2B1B12"/>
                </a:solidFill>
                <a:latin typeface="Consolas" pitchFamily="34" charset="0"/>
                <a:ea typeface="Consolas" pitchFamily="34" charset="-122"/>
                <a:cs typeface="Consolas" pitchFamily="34" charset="-120"/>
              </a:rPr>
              <a:t>Recover</a:t>
            </a:r>
            <a:endParaRPr lang="en-US" sz="1200" dirty="0"/>
          </a:p>
        </p:txBody>
      </p:sp>
      <p:sp>
        <p:nvSpPr>
          <p:cNvPr id="29" name="Text 27"/>
          <p:cNvSpPr txBox="1"/>
          <p:nvPr/>
        </p:nvSpPr>
        <p:spPr>
          <a:xfrm>
            <a:off x="7543800" y="1801368"/>
            <a:ext cx="1097280" cy="320040"/>
          </a:xfrm>
          <a:prstGeom prst="rect">
            <a:avLst/>
          </a:prstGeom>
          <a:noFill/>
          <a:ln/>
        </p:spPr>
        <p:txBody>
          <a:bodyPr wrap="square" lIns="0" tIns="0" rIns="0" bIns="0" rtlCol="0" anchor="t"/>
          <a:lstStyle/>
          <a:p>
            <a:pPr marL="0" indent="0" algn="ctr">
              <a:buNone/>
            </a:pPr>
            <a:r>
              <a:rPr lang="en-US" sz="900" dirty="0">
                <a:solidFill>
                  <a:srgbClr val="6E655F"/>
                </a:solidFill>
                <a:latin typeface="Malgun Gothic" pitchFamily="34" charset="0"/>
                <a:ea typeface="Malgun Gothic" pitchFamily="34" charset="-122"/>
                <a:cs typeface="Malgun Gothic" pitchFamily="34" charset="-120"/>
              </a:rPr>
              <a:t>착지 후 회복</a:t>
            </a:r>
            <a:endParaRPr lang="en-US" sz="900" dirty="0"/>
          </a:p>
        </p:txBody>
      </p:sp>
      <p:sp>
        <p:nvSpPr>
          <p:cNvPr id="30" name="Shape 28"/>
          <p:cNvSpPr/>
          <p:nvPr/>
        </p:nvSpPr>
        <p:spPr>
          <a:xfrm>
            <a:off x="457200" y="2514600"/>
            <a:ext cx="1013155" cy="219456"/>
          </a:xfrm>
          <a:prstGeom prst="roundRect">
            <a:avLst>
              <a:gd name="adj" fmla="val 50000"/>
            </a:avLst>
          </a:prstGeom>
          <a:solidFill>
            <a:srgbClr val="1FA88E"/>
          </a:solidFill>
          <a:ln w="12700">
            <a:solidFill>
              <a:srgbClr val="1FA88E"/>
            </a:solidFill>
            <a:prstDash val="solid"/>
          </a:ln>
        </p:spPr>
        <p:txBody>
          <a:bodyPr/>
          <a:lstStyle/>
          <a:p>
            <a:endParaRPr lang="ko-KR" altLang="en-US"/>
          </a:p>
        </p:txBody>
      </p:sp>
      <p:sp>
        <p:nvSpPr>
          <p:cNvPr id="31" name="Text 29"/>
          <p:cNvSpPr txBox="1"/>
          <p:nvPr/>
        </p:nvSpPr>
        <p:spPr>
          <a:xfrm>
            <a:off x="457200" y="2514600"/>
            <a:ext cx="1013155"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소유 클라이언트</a:t>
            </a:r>
            <a:endParaRPr lang="en-US" sz="900" dirty="0"/>
          </a:p>
        </p:txBody>
      </p:sp>
      <p:sp>
        <p:nvSpPr>
          <p:cNvPr id="32" name="Text 30"/>
          <p:cNvSpPr txBox="1"/>
          <p:nvPr/>
        </p:nvSpPr>
        <p:spPr>
          <a:xfrm>
            <a:off x="457200" y="2880360"/>
            <a:ext cx="2606040" cy="15544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아이템이 FLAG_Custom_2를 0 → 1로 켜면 시작</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좌클릭은 RPC 없이 FLAG_Custom_3에 실린다</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착지 표시는 소유자 화면에만 있다</a:t>
            </a:r>
            <a:endParaRPr lang="en-US" sz="1100" dirty="0"/>
          </a:p>
        </p:txBody>
      </p:sp>
      <p:sp>
        <p:nvSpPr>
          <p:cNvPr id="33" name="Shape 31"/>
          <p:cNvSpPr/>
          <p:nvPr/>
        </p:nvSpPr>
        <p:spPr>
          <a:xfrm>
            <a:off x="3264408" y="2514600"/>
            <a:ext cx="402336" cy="219456"/>
          </a:xfrm>
          <a:prstGeom prst="roundRect">
            <a:avLst>
              <a:gd name="adj" fmla="val 50000"/>
            </a:avLst>
          </a:prstGeom>
          <a:solidFill>
            <a:srgbClr val="6B4430"/>
          </a:solidFill>
          <a:ln w="12700">
            <a:solidFill>
              <a:srgbClr val="6B4430"/>
            </a:solidFill>
            <a:prstDash val="solid"/>
          </a:ln>
        </p:spPr>
        <p:txBody>
          <a:bodyPr/>
          <a:lstStyle/>
          <a:p>
            <a:endParaRPr lang="ko-KR" altLang="en-US"/>
          </a:p>
        </p:txBody>
      </p:sp>
      <p:sp>
        <p:nvSpPr>
          <p:cNvPr id="34" name="Text 32"/>
          <p:cNvSpPr txBox="1"/>
          <p:nvPr/>
        </p:nvSpPr>
        <p:spPr>
          <a:xfrm>
            <a:off x="3264408" y="2514600"/>
            <a:ext cx="40233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서버</a:t>
            </a:r>
            <a:endParaRPr lang="en-US" sz="900" dirty="0"/>
          </a:p>
        </p:txBody>
      </p:sp>
      <p:sp>
        <p:nvSpPr>
          <p:cNvPr id="35" name="Text 33"/>
          <p:cNvSpPr txBox="1"/>
          <p:nvPr/>
        </p:nvSpPr>
        <p:spPr>
          <a:xfrm>
            <a:off x="3264408" y="2880360"/>
            <a:ext cx="2606040" cy="15544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플래그를 태그로 검증</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같은 상태 기계를 돌린다</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착지하면 버스트와 범위 스턴·넉백</a:t>
            </a:r>
            <a:endParaRPr lang="en-US" sz="1100" dirty="0"/>
          </a:p>
        </p:txBody>
      </p:sp>
      <p:sp>
        <p:nvSpPr>
          <p:cNvPr id="36" name="Shape 34"/>
          <p:cNvSpPr/>
          <p:nvPr/>
        </p:nvSpPr>
        <p:spPr>
          <a:xfrm>
            <a:off x="6071616" y="2514600"/>
            <a:ext cx="1232611" cy="219456"/>
          </a:xfrm>
          <a:prstGeom prst="roundRect">
            <a:avLst>
              <a:gd name="adj" fmla="val 50000"/>
            </a:avLst>
          </a:prstGeom>
          <a:solidFill>
            <a:srgbClr val="137A67"/>
          </a:solidFill>
          <a:ln w="12700">
            <a:solidFill>
              <a:srgbClr val="137A67"/>
            </a:solidFill>
            <a:prstDash val="solid"/>
          </a:ln>
        </p:spPr>
        <p:txBody>
          <a:bodyPr/>
          <a:lstStyle/>
          <a:p>
            <a:endParaRPr lang="ko-KR" altLang="en-US"/>
          </a:p>
        </p:txBody>
      </p:sp>
      <p:sp>
        <p:nvSpPr>
          <p:cNvPr id="37" name="Text 35"/>
          <p:cNvSpPr txBox="1"/>
          <p:nvPr/>
        </p:nvSpPr>
        <p:spPr>
          <a:xfrm>
            <a:off x="6071616" y="2514600"/>
            <a:ext cx="1232611"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시뮬레이티드 프록시</a:t>
            </a:r>
            <a:endParaRPr lang="en-US" sz="900" dirty="0"/>
          </a:p>
        </p:txBody>
      </p:sp>
      <p:sp>
        <p:nvSpPr>
          <p:cNvPr id="38" name="Text 36"/>
          <p:cNvSpPr txBox="1"/>
          <p:nvPr/>
        </p:nvSpPr>
        <p:spPr>
          <a:xfrm>
            <a:off x="6071616" y="2880360"/>
            <a:ext cx="2606040" cy="15544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상태 기계를 돌리지 않는다</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단계만 복제받아 무중력 판정에 쓴다</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기울기는 메시로만 표현한다</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CHARACTER · AIM</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몸 방향과 발사 원점</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15</a:t>
            </a:r>
            <a:endParaRPr lang="en-US" sz="900" dirty="0"/>
          </a:p>
        </p:txBody>
      </p:sp>
      <p:sp>
        <p:nvSpPr>
          <p:cNvPr id="7" name="Shape 5"/>
          <p:cNvSpPr/>
          <p:nvPr/>
        </p:nvSpPr>
        <p:spPr>
          <a:xfrm>
            <a:off x="457200" y="1234440"/>
            <a:ext cx="3931920" cy="3429000"/>
          </a:xfrm>
          <a:prstGeom prst="roundRect">
            <a:avLst>
              <a:gd name="adj" fmla="val 2133"/>
            </a:avLst>
          </a:prstGeom>
          <a:solidFill>
            <a:srgbClr val="E2F4EF"/>
          </a:solidFill>
          <a:ln w="12700">
            <a:solidFill>
              <a:srgbClr val="E2F4EF"/>
            </a:solidFill>
            <a:prstDash val="solid"/>
          </a:ln>
        </p:spPr>
        <p:txBody>
          <a:bodyPr/>
          <a:lstStyle/>
          <a:p>
            <a:endParaRPr lang="ko-KR" altLang="en-US"/>
          </a:p>
        </p:txBody>
      </p:sp>
      <p:sp>
        <p:nvSpPr>
          <p:cNvPr id="8" name="Text 6"/>
          <p:cNvSpPr txBox="1"/>
          <p:nvPr/>
        </p:nvSpPr>
        <p:spPr>
          <a:xfrm>
            <a:off x="685800" y="1417320"/>
            <a:ext cx="3566160" cy="320040"/>
          </a:xfrm>
          <a:prstGeom prst="rect">
            <a:avLst/>
          </a:prstGeom>
          <a:noFill/>
          <a:ln/>
        </p:spPr>
        <p:txBody>
          <a:bodyPr wrap="square" lIns="0" tIns="0" rIns="0" bIns="0" rtlCol="0" anchor="t"/>
          <a:lstStyle/>
          <a:p>
            <a:pPr marL="0" indent="0">
              <a:buNone/>
            </a:pPr>
            <a:r>
              <a:rPr lang="en-US" sz="1400" b="1" dirty="0">
                <a:solidFill>
                  <a:srgbClr val="2B1B12"/>
                </a:solidFill>
                <a:latin typeface="Malgun Gothic" pitchFamily="34" charset="0"/>
                <a:ea typeface="Malgun Gothic" pitchFamily="34" charset="-122"/>
                <a:cs typeface="Malgun Gothic" pitchFamily="34" charset="-120"/>
              </a:rPr>
              <a:t>몸 방향은 이동 컴포넌트가 정한다</a:t>
            </a:r>
            <a:endParaRPr lang="en-US" sz="1400" dirty="0"/>
          </a:p>
        </p:txBody>
      </p:sp>
      <p:sp>
        <p:nvSpPr>
          <p:cNvPr id="9" name="Text 7"/>
          <p:cNvSpPr txBox="1"/>
          <p:nvPr/>
        </p:nvSpPr>
        <p:spPr>
          <a:xfrm>
            <a:off x="685800" y="1874520"/>
            <a:ext cx="3520440" cy="265176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A221D"/>
                </a:solidFill>
                <a:latin typeface="Malgun Gothic" pitchFamily="34" charset="0"/>
                <a:ea typeface="Malgun Gothic" pitchFamily="34" charset="-122"/>
                <a:cs typeface="Malgun Gothic" pitchFamily="34" charset="-120"/>
              </a:rPr>
              <a:t>bUseControllerRotationYaw는 꺼 두고 컨트롤 회전은 카메라 붐만 따른다</a:t>
            </a:r>
            <a:endParaRPr lang="en-US" sz="1150" dirty="0"/>
          </a:p>
          <a:p>
            <a:pPr marL="152400" indent="-152400">
              <a:spcAft>
                <a:spcPts val="500"/>
              </a:spcAft>
              <a:buSzPct val="100000"/>
              <a:buChar char="•"/>
            </a:pPr>
            <a:r>
              <a:rPr lang="en-US" sz="1150" dirty="0">
                <a:solidFill>
                  <a:srgbClr val="2A221D"/>
                </a:solidFill>
                <a:latin typeface="Malgun Gothic" pitchFamily="34" charset="0"/>
                <a:ea typeface="Malgun Gothic" pitchFamily="34" charset="-122"/>
                <a:cs typeface="Malgun Gothic" pitchFamily="34" charset="-120"/>
              </a:rPr>
              <a:t>움직이거나 쏘거나 조준할 때만 몸이 조준 방향으로 돈다 (720°/s)</a:t>
            </a:r>
            <a:endParaRPr lang="en-US" sz="1150" dirty="0"/>
          </a:p>
          <a:p>
            <a:pPr marL="152400" indent="-152400">
              <a:spcAft>
                <a:spcPts val="500"/>
              </a:spcAft>
              <a:buSzPct val="100000"/>
              <a:buChar char="•"/>
            </a:pPr>
            <a:r>
              <a:rPr lang="en-US" sz="1150" dirty="0">
                <a:solidFill>
                  <a:srgbClr val="2A221D"/>
                </a:solidFill>
                <a:latin typeface="Malgun Gothic" pitchFamily="34" charset="0"/>
                <a:ea typeface="Malgun Gothic" pitchFamily="34" charset="-122"/>
                <a:cs typeface="Malgun Gothic" pitchFamily="34" charset="-120"/>
              </a:rPr>
              <a:t>대시 중에는 보드 회전(FBoardTurn)이 요를 정한다</a:t>
            </a:r>
            <a:endParaRPr lang="en-US" sz="1150" dirty="0"/>
          </a:p>
          <a:p>
            <a:pPr marL="152400" indent="-152400">
              <a:spcAft>
                <a:spcPts val="500"/>
              </a:spcAft>
              <a:buSzPct val="100000"/>
              <a:buChar char="•"/>
            </a:pPr>
            <a:r>
              <a:rPr lang="en-US" sz="1150" dirty="0">
                <a:solidFill>
                  <a:srgbClr val="2A221D"/>
                </a:solidFill>
                <a:latin typeface="Malgun Gothic" pitchFamily="34" charset="0"/>
                <a:ea typeface="Malgun Gothic" pitchFamily="34" charset="-122"/>
                <a:cs typeface="Malgun Gothic" pitchFamily="34" charset="-120"/>
              </a:rPr>
              <a:t>결과: 가만히 서서 둘러봐도 몸이 따라 돌지 않는다</a:t>
            </a:r>
            <a:endParaRPr lang="en-US" sz="1150" dirty="0"/>
          </a:p>
        </p:txBody>
      </p:sp>
      <p:sp>
        <p:nvSpPr>
          <p:cNvPr id="10" name="Shape 8"/>
          <p:cNvSpPr/>
          <p:nvPr/>
        </p:nvSpPr>
        <p:spPr>
          <a:xfrm>
            <a:off x="4754880" y="1234440"/>
            <a:ext cx="3931920" cy="3429000"/>
          </a:xfrm>
          <a:prstGeom prst="roundRect">
            <a:avLst>
              <a:gd name="adj" fmla="val 2133"/>
            </a:avLst>
          </a:prstGeom>
          <a:solidFill>
            <a:srgbClr val="F3ECE6"/>
          </a:solidFill>
          <a:ln w="12700">
            <a:solidFill>
              <a:srgbClr val="F3ECE6"/>
            </a:solidFill>
            <a:prstDash val="solid"/>
          </a:ln>
        </p:spPr>
        <p:txBody>
          <a:bodyPr/>
          <a:lstStyle/>
          <a:p>
            <a:endParaRPr lang="ko-KR" altLang="en-US"/>
          </a:p>
        </p:txBody>
      </p:sp>
      <p:sp>
        <p:nvSpPr>
          <p:cNvPr id="11" name="Text 9"/>
          <p:cNvSpPr txBox="1"/>
          <p:nvPr/>
        </p:nvSpPr>
        <p:spPr>
          <a:xfrm>
            <a:off x="4983480" y="1417320"/>
            <a:ext cx="3566160" cy="320040"/>
          </a:xfrm>
          <a:prstGeom prst="rect">
            <a:avLst/>
          </a:prstGeom>
          <a:noFill/>
          <a:ln/>
        </p:spPr>
        <p:txBody>
          <a:bodyPr wrap="square" lIns="0" tIns="0" rIns="0" bIns="0" rtlCol="0" anchor="t"/>
          <a:lstStyle/>
          <a:p>
            <a:pPr marL="0" indent="0">
              <a:buNone/>
            </a:pPr>
            <a:r>
              <a:rPr lang="en-US" sz="1400" b="1" dirty="0">
                <a:solidFill>
                  <a:srgbClr val="2B1B12"/>
                </a:solidFill>
                <a:latin typeface="Malgun Gothic" pitchFamily="34" charset="0"/>
                <a:ea typeface="Malgun Gothic" pitchFamily="34" charset="-122"/>
                <a:cs typeface="Malgun Gothic" pitchFamily="34" charset="-120"/>
              </a:rPr>
              <a:t>탄은 시선 위 폰 깊이에서 나간다</a:t>
            </a:r>
            <a:endParaRPr lang="en-US" sz="1400" dirty="0"/>
          </a:p>
        </p:txBody>
      </p:sp>
      <p:sp>
        <p:nvSpPr>
          <p:cNvPr id="12" name="Shape 10"/>
          <p:cNvSpPr/>
          <p:nvPr/>
        </p:nvSpPr>
        <p:spPr>
          <a:xfrm>
            <a:off x="5257800" y="2331720"/>
            <a:ext cx="3108960" cy="0"/>
          </a:xfrm>
          <a:prstGeom prst="line">
            <a:avLst/>
          </a:prstGeom>
          <a:noFill/>
          <a:ln w="19050">
            <a:solidFill>
              <a:srgbClr val="6B4430"/>
            </a:solidFill>
            <a:prstDash val="dash"/>
          </a:ln>
        </p:spPr>
        <p:txBody>
          <a:bodyPr/>
          <a:lstStyle/>
          <a:p>
            <a:endParaRPr lang="ko-KR" altLang="en-US"/>
          </a:p>
        </p:txBody>
      </p:sp>
      <p:sp>
        <p:nvSpPr>
          <p:cNvPr id="13" name="Shape 11"/>
          <p:cNvSpPr/>
          <p:nvPr/>
        </p:nvSpPr>
        <p:spPr>
          <a:xfrm>
            <a:off x="5120640" y="2221992"/>
            <a:ext cx="219456" cy="219456"/>
          </a:xfrm>
          <a:prstGeom prst="ellipse">
            <a:avLst/>
          </a:prstGeom>
          <a:solidFill>
            <a:srgbClr val="2B1B12"/>
          </a:solidFill>
          <a:ln w="12700">
            <a:solidFill>
              <a:srgbClr val="2B1B12"/>
            </a:solidFill>
            <a:prstDash val="solid"/>
          </a:ln>
        </p:spPr>
        <p:txBody>
          <a:bodyPr/>
          <a:lstStyle/>
          <a:p>
            <a:endParaRPr lang="ko-KR" altLang="en-US"/>
          </a:p>
        </p:txBody>
      </p:sp>
      <p:sp>
        <p:nvSpPr>
          <p:cNvPr id="14" name="Text 12"/>
          <p:cNvSpPr txBox="1"/>
          <p:nvPr/>
        </p:nvSpPr>
        <p:spPr>
          <a:xfrm>
            <a:off x="4937760" y="2487168"/>
            <a:ext cx="640080" cy="228600"/>
          </a:xfrm>
          <a:prstGeom prst="rect">
            <a:avLst/>
          </a:prstGeom>
          <a:noFill/>
          <a:ln/>
        </p:spPr>
        <p:txBody>
          <a:bodyPr wrap="square" lIns="0" tIns="0" rIns="0" bIns="0" rtlCol="0" anchor="t"/>
          <a:lstStyle/>
          <a:p>
            <a:pPr marL="0" indent="0" algn="ctr">
              <a:buNone/>
            </a:pPr>
            <a:r>
              <a:rPr lang="en-US" sz="900" dirty="0">
                <a:solidFill>
                  <a:srgbClr val="6E655F"/>
                </a:solidFill>
                <a:latin typeface="Malgun Gothic" pitchFamily="34" charset="0"/>
                <a:ea typeface="Malgun Gothic" pitchFamily="34" charset="-122"/>
                <a:cs typeface="Malgun Gothic" pitchFamily="34" charset="-120"/>
              </a:rPr>
              <a:t>카메라</a:t>
            </a:r>
            <a:endParaRPr lang="en-US" sz="900" dirty="0"/>
          </a:p>
        </p:txBody>
      </p:sp>
      <p:sp>
        <p:nvSpPr>
          <p:cNvPr id="15" name="Shape 13"/>
          <p:cNvSpPr/>
          <p:nvPr/>
        </p:nvSpPr>
        <p:spPr>
          <a:xfrm>
            <a:off x="6263640" y="2514600"/>
            <a:ext cx="457200" cy="457200"/>
          </a:xfrm>
          <a:prstGeom prst="ellipse">
            <a:avLst/>
          </a:prstGeom>
          <a:solidFill>
            <a:srgbClr val="FFFFFF"/>
          </a:solidFill>
          <a:ln w="15875">
            <a:solidFill>
              <a:srgbClr val="6B4430"/>
            </a:solidFill>
            <a:prstDash val="solid"/>
          </a:ln>
        </p:spPr>
        <p:txBody>
          <a:bodyPr/>
          <a:lstStyle/>
          <a:p>
            <a:endParaRPr lang="ko-KR" altLang="en-US"/>
          </a:p>
        </p:txBody>
      </p:sp>
      <p:sp>
        <p:nvSpPr>
          <p:cNvPr id="16" name="Text 14"/>
          <p:cNvSpPr txBox="1"/>
          <p:nvPr/>
        </p:nvSpPr>
        <p:spPr>
          <a:xfrm>
            <a:off x="6263640" y="2514600"/>
            <a:ext cx="457200" cy="457200"/>
          </a:xfrm>
          <a:prstGeom prst="rect">
            <a:avLst/>
          </a:prstGeom>
          <a:noFill/>
          <a:ln/>
        </p:spPr>
        <p:txBody>
          <a:bodyPr wrap="square" lIns="0" tIns="0" rIns="0" bIns="0" rtlCol="0" anchor="ctr"/>
          <a:lstStyle/>
          <a:p>
            <a:pPr marL="0" indent="0" algn="ctr">
              <a:buNone/>
            </a:pPr>
            <a:r>
              <a:rPr lang="en-US" sz="900" dirty="0">
                <a:solidFill>
                  <a:srgbClr val="6B4430"/>
                </a:solidFill>
                <a:latin typeface="Malgun Gothic" pitchFamily="34" charset="0"/>
                <a:ea typeface="Malgun Gothic" pitchFamily="34" charset="-122"/>
                <a:cs typeface="Malgun Gothic" pitchFamily="34" charset="-120"/>
              </a:rPr>
              <a:t>폰</a:t>
            </a:r>
            <a:endParaRPr lang="en-US" sz="900" dirty="0"/>
          </a:p>
        </p:txBody>
      </p:sp>
      <p:sp>
        <p:nvSpPr>
          <p:cNvPr id="17" name="Shape 15"/>
          <p:cNvSpPr/>
          <p:nvPr/>
        </p:nvSpPr>
        <p:spPr>
          <a:xfrm>
            <a:off x="6400800" y="2258568"/>
            <a:ext cx="146304" cy="146304"/>
          </a:xfrm>
          <a:prstGeom prst="ellipse">
            <a:avLst/>
          </a:prstGeom>
          <a:solidFill>
            <a:srgbClr val="1FA88E"/>
          </a:solidFill>
          <a:ln w="12700">
            <a:solidFill>
              <a:srgbClr val="1FA88E"/>
            </a:solidFill>
            <a:prstDash val="solid"/>
          </a:ln>
        </p:spPr>
        <p:txBody>
          <a:bodyPr/>
          <a:lstStyle/>
          <a:p>
            <a:endParaRPr lang="ko-KR" altLang="en-US"/>
          </a:p>
        </p:txBody>
      </p:sp>
      <p:sp>
        <p:nvSpPr>
          <p:cNvPr id="18" name="Text 16"/>
          <p:cNvSpPr txBox="1"/>
          <p:nvPr/>
        </p:nvSpPr>
        <p:spPr>
          <a:xfrm>
            <a:off x="6629400" y="2029968"/>
            <a:ext cx="1097280" cy="228600"/>
          </a:xfrm>
          <a:prstGeom prst="rect">
            <a:avLst/>
          </a:prstGeom>
          <a:noFill/>
          <a:ln/>
        </p:spPr>
        <p:txBody>
          <a:bodyPr wrap="square" lIns="0" tIns="0" rIns="0" bIns="0" rtlCol="0" anchor="t"/>
          <a:lstStyle/>
          <a:p>
            <a:pPr marL="0" indent="0">
              <a:buNone/>
            </a:pPr>
            <a:r>
              <a:rPr lang="en-US" sz="900" b="1" dirty="0">
                <a:solidFill>
                  <a:srgbClr val="137A67"/>
                </a:solidFill>
                <a:latin typeface="Consolas" pitchFamily="34" charset="0"/>
                <a:ea typeface="Consolas" pitchFamily="34" charset="-122"/>
                <a:cs typeface="Consolas" pitchFamily="34" charset="-120"/>
              </a:rPr>
              <a:t>FireOrigin</a:t>
            </a:r>
            <a:endParaRPr lang="en-US" sz="900" dirty="0"/>
          </a:p>
        </p:txBody>
      </p:sp>
      <p:sp>
        <p:nvSpPr>
          <p:cNvPr id="19" name="Text 17"/>
          <p:cNvSpPr txBox="1"/>
          <p:nvPr/>
        </p:nvSpPr>
        <p:spPr>
          <a:xfrm>
            <a:off x="4983480" y="3154680"/>
            <a:ext cx="3520440" cy="141732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PaintAim::FireOrigin이 시선 광선에서 폰 깊이의 점을 고른다</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총의 Muzzle 소켓은 총구 화염과 트레이서에만 쓴다</a:t>
            </a:r>
            <a:endParaRPr lang="en-US" sz="1100" dirty="0"/>
          </a:p>
          <a:p>
            <a:pPr marL="152400" indent="-152400">
              <a:spcAft>
                <a:spcPts val="500"/>
              </a:spcAft>
              <a:buSzPct val="100000"/>
              <a:buChar char="•"/>
            </a:pPr>
            <a:r>
              <a:rPr lang="en-US" sz="1100" dirty="0">
                <a:solidFill>
                  <a:srgbClr val="2A221D"/>
                </a:solidFill>
                <a:latin typeface="Malgun Gothic" pitchFamily="34" charset="0"/>
                <a:ea typeface="Malgun Gothic" pitchFamily="34" charset="-122"/>
                <a:cs typeface="Malgun Gothic" pitchFamily="34" charset="-120"/>
              </a:rPr>
              <a:t>소켓은 포즈에 따라 흔들리고 소유자와 서버에서 위치가 달라서다</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NETWORK · SHOT</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탄 한 발의 경로</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16</a:t>
            </a:r>
            <a:endParaRPr lang="en-US" sz="900" dirty="0"/>
          </a:p>
        </p:txBody>
      </p:sp>
      <p:sp>
        <p:nvSpPr>
          <p:cNvPr id="7" name="Shape 5"/>
          <p:cNvSpPr/>
          <p:nvPr/>
        </p:nvSpPr>
        <p:spPr>
          <a:xfrm>
            <a:off x="457200" y="1188720"/>
            <a:ext cx="2651760" cy="3429000"/>
          </a:xfrm>
          <a:prstGeom prst="roundRect">
            <a:avLst>
              <a:gd name="adj" fmla="val 2069"/>
            </a:avLst>
          </a:prstGeom>
          <a:solidFill>
            <a:srgbClr val="EFEEEC"/>
          </a:solidFill>
          <a:ln w="12700">
            <a:solidFill>
              <a:srgbClr val="EFEEEC"/>
            </a:solidFill>
            <a:prstDash val="solid"/>
          </a:ln>
        </p:spPr>
        <p:txBody>
          <a:bodyPr/>
          <a:lstStyle/>
          <a:p>
            <a:endParaRPr lang="ko-KR" altLang="en-US"/>
          </a:p>
        </p:txBody>
      </p:sp>
      <p:sp>
        <p:nvSpPr>
          <p:cNvPr id="8" name="Text 6"/>
          <p:cNvSpPr txBox="1"/>
          <p:nvPr/>
        </p:nvSpPr>
        <p:spPr>
          <a:xfrm>
            <a:off x="457200" y="1261872"/>
            <a:ext cx="2651760" cy="274320"/>
          </a:xfrm>
          <a:prstGeom prst="rect">
            <a:avLst/>
          </a:prstGeom>
          <a:noFill/>
          <a:ln/>
        </p:spPr>
        <p:txBody>
          <a:bodyPr wrap="square" lIns="0" tIns="0" rIns="0" bIns="0" rtlCol="0" anchor="t"/>
          <a:lstStyle/>
          <a:p>
            <a:pPr marL="0" indent="0" algn="ctr">
              <a:buNone/>
            </a:pPr>
            <a:r>
              <a:rPr lang="en-US" sz="1150" b="1" dirty="0">
                <a:solidFill>
                  <a:srgbClr val="2B1B12"/>
                </a:solidFill>
                <a:latin typeface="Malgun Gothic" pitchFamily="34" charset="0"/>
                <a:ea typeface="Malgun Gothic" pitchFamily="34" charset="-122"/>
                <a:cs typeface="Malgun Gothic" pitchFamily="34" charset="-120"/>
              </a:rPr>
              <a:t>소유 클라이언트</a:t>
            </a:r>
            <a:endParaRPr lang="en-US" sz="1150" dirty="0"/>
          </a:p>
        </p:txBody>
      </p:sp>
      <p:sp>
        <p:nvSpPr>
          <p:cNvPr id="9" name="Shape 7"/>
          <p:cNvSpPr/>
          <p:nvPr/>
        </p:nvSpPr>
        <p:spPr>
          <a:xfrm>
            <a:off x="3246120" y="1188720"/>
            <a:ext cx="2651760" cy="3429000"/>
          </a:xfrm>
          <a:prstGeom prst="roundRect">
            <a:avLst>
              <a:gd name="adj" fmla="val 2069"/>
            </a:avLst>
          </a:prstGeom>
          <a:solidFill>
            <a:srgbClr val="EFEEEC"/>
          </a:solidFill>
          <a:ln w="12700">
            <a:solidFill>
              <a:srgbClr val="EFEEEC"/>
            </a:solidFill>
            <a:prstDash val="solid"/>
          </a:ln>
        </p:spPr>
        <p:txBody>
          <a:bodyPr/>
          <a:lstStyle/>
          <a:p>
            <a:endParaRPr lang="ko-KR" altLang="en-US"/>
          </a:p>
        </p:txBody>
      </p:sp>
      <p:sp>
        <p:nvSpPr>
          <p:cNvPr id="10" name="Text 8"/>
          <p:cNvSpPr txBox="1"/>
          <p:nvPr/>
        </p:nvSpPr>
        <p:spPr>
          <a:xfrm>
            <a:off x="3246120" y="1261872"/>
            <a:ext cx="2651760" cy="274320"/>
          </a:xfrm>
          <a:prstGeom prst="rect">
            <a:avLst/>
          </a:prstGeom>
          <a:noFill/>
          <a:ln/>
        </p:spPr>
        <p:txBody>
          <a:bodyPr wrap="square" lIns="0" tIns="0" rIns="0" bIns="0" rtlCol="0" anchor="t"/>
          <a:lstStyle/>
          <a:p>
            <a:pPr marL="0" indent="0" algn="ctr">
              <a:buNone/>
            </a:pPr>
            <a:r>
              <a:rPr lang="en-US" sz="1150" b="1" dirty="0">
                <a:solidFill>
                  <a:srgbClr val="2B1B12"/>
                </a:solidFill>
                <a:latin typeface="Malgun Gothic" pitchFamily="34" charset="0"/>
                <a:ea typeface="Malgun Gothic" pitchFamily="34" charset="-122"/>
                <a:cs typeface="Malgun Gothic" pitchFamily="34" charset="-120"/>
              </a:rPr>
              <a:t>서버</a:t>
            </a:r>
            <a:endParaRPr lang="en-US" sz="1150" dirty="0"/>
          </a:p>
        </p:txBody>
      </p:sp>
      <p:sp>
        <p:nvSpPr>
          <p:cNvPr id="11" name="Shape 9"/>
          <p:cNvSpPr/>
          <p:nvPr/>
        </p:nvSpPr>
        <p:spPr>
          <a:xfrm>
            <a:off x="6035040" y="1188720"/>
            <a:ext cx="2651760" cy="3429000"/>
          </a:xfrm>
          <a:prstGeom prst="roundRect">
            <a:avLst>
              <a:gd name="adj" fmla="val 2069"/>
            </a:avLst>
          </a:prstGeom>
          <a:solidFill>
            <a:srgbClr val="EFEEEC"/>
          </a:solidFill>
          <a:ln w="12700">
            <a:solidFill>
              <a:srgbClr val="EFEEEC"/>
            </a:solidFill>
            <a:prstDash val="solid"/>
          </a:ln>
        </p:spPr>
        <p:txBody>
          <a:bodyPr/>
          <a:lstStyle/>
          <a:p>
            <a:endParaRPr lang="ko-KR" altLang="en-US"/>
          </a:p>
        </p:txBody>
      </p:sp>
      <p:sp>
        <p:nvSpPr>
          <p:cNvPr id="12" name="Text 10"/>
          <p:cNvSpPr txBox="1"/>
          <p:nvPr/>
        </p:nvSpPr>
        <p:spPr>
          <a:xfrm>
            <a:off x="6035040" y="1261872"/>
            <a:ext cx="2651760" cy="274320"/>
          </a:xfrm>
          <a:prstGeom prst="rect">
            <a:avLst/>
          </a:prstGeom>
          <a:noFill/>
          <a:ln/>
        </p:spPr>
        <p:txBody>
          <a:bodyPr wrap="square" lIns="0" tIns="0" rIns="0" bIns="0" rtlCol="0" anchor="t"/>
          <a:lstStyle/>
          <a:p>
            <a:pPr marL="0" indent="0" algn="ctr">
              <a:buNone/>
            </a:pPr>
            <a:r>
              <a:rPr lang="en-US" sz="1150" b="1" dirty="0">
                <a:solidFill>
                  <a:srgbClr val="2B1B12"/>
                </a:solidFill>
                <a:latin typeface="Malgun Gothic" pitchFamily="34" charset="0"/>
                <a:ea typeface="Malgun Gothic" pitchFamily="34" charset="-122"/>
                <a:cs typeface="Malgun Gothic" pitchFamily="34" charset="-120"/>
              </a:rPr>
              <a:t>다른 클라이언트</a:t>
            </a:r>
            <a:endParaRPr lang="en-US" sz="1150" dirty="0"/>
          </a:p>
        </p:txBody>
      </p:sp>
      <p:sp>
        <p:nvSpPr>
          <p:cNvPr id="13" name="Shape 11"/>
          <p:cNvSpPr/>
          <p:nvPr/>
        </p:nvSpPr>
        <p:spPr>
          <a:xfrm>
            <a:off x="640080" y="1645920"/>
            <a:ext cx="2286000" cy="365760"/>
          </a:xfrm>
          <a:prstGeom prst="roundRect">
            <a:avLst>
              <a:gd name="adj" fmla="val 12500"/>
            </a:avLst>
          </a:prstGeom>
          <a:solidFill>
            <a:srgbClr val="FFFFFF"/>
          </a:solidFill>
          <a:ln w="9525">
            <a:solidFill>
              <a:srgbClr val="8E8780"/>
            </a:solidFill>
            <a:prstDash val="solid"/>
          </a:ln>
        </p:spPr>
        <p:txBody>
          <a:bodyPr/>
          <a:lstStyle/>
          <a:p>
            <a:endParaRPr lang="ko-KR" altLang="en-US"/>
          </a:p>
        </p:txBody>
      </p:sp>
      <p:sp>
        <p:nvSpPr>
          <p:cNvPr id="14" name="Text 12"/>
          <p:cNvSpPr txBox="1"/>
          <p:nvPr/>
        </p:nvSpPr>
        <p:spPr>
          <a:xfrm>
            <a:off x="676656" y="164592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FireOnce · FireOrigin 계산</a:t>
            </a:r>
            <a:endParaRPr lang="en-US" sz="950" dirty="0"/>
          </a:p>
        </p:txBody>
      </p:sp>
      <p:sp>
        <p:nvSpPr>
          <p:cNvPr id="15" name="Shape 13"/>
          <p:cNvSpPr/>
          <p:nvPr/>
        </p:nvSpPr>
        <p:spPr>
          <a:xfrm>
            <a:off x="640080" y="2194560"/>
            <a:ext cx="2286000" cy="365760"/>
          </a:xfrm>
          <a:prstGeom prst="roundRect">
            <a:avLst>
              <a:gd name="adj" fmla="val 12500"/>
            </a:avLst>
          </a:prstGeom>
          <a:solidFill>
            <a:srgbClr val="FFFFFF"/>
          </a:solidFill>
          <a:ln w="9525">
            <a:solidFill>
              <a:srgbClr val="8E8780"/>
            </a:solidFill>
            <a:prstDash val="solid"/>
          </a:ln>
        </p:spPr>
        <p:txBody>
          <a:bodyPr/>
          <a:lstStyle/>
          <a:p>
            <a:endParaRPr lang="ko-KR" altLang="en-US"/>
          </a:p>
        </p:txBody>
      </p:sp>
      <p:sp>
        <p:nvSpPr>
          <p:cNvPr id="16" name="Text 14"/>
          <p:cNvSpPr txBox="1"/>
          <p:nvPr/>
        </p:nvSpPr>
        <p:spPr>
          <a:xfrm>
            <a:off x="676656" y="219456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연출용 탄 · 총구 FX</a:t>
            </a:r>
            <a:endParaRPr lang="en-US" sz="950" dirty="0"/>
          </a:p>
        </p:txBody>
      </p:sp>
      <p:sp>
        <p:nvSpPr>
          <p:cNvPr id="17" name="Shape 15"/>
          <p:cNvSpPr/>
          <p:nvPr/>
        </p:nvSpPr>
        <p:spPr>
          <a:xfrm>
            <a:off x="640080" y="3840480"/>
            <a:ext cx="2286000" cy="365760"/>
          </a:xfrm>
          <a:prstGeom prst="roundRect">
            <a:avLst>
              <a:gd name="adj" fmla="val 12500"/>
            </a:avLst>
          </a:prstGeom>
          <a:solidFill>
            <a:srgbClr val="E2F4EF"/>
          </a:solidFill>
          <a:ln w="9525">
            <a:solidFill>
              <a:srgbClr val="1FA88E"/>
            </a:solidFill>
            <a:prstDash val="solid"/>
          </a:ln>
        </p:spPr>
        <p:txBody>
          <a:bodyPr/>
          <a:lstStyle/>
          <a:p>
            <a:endParaRPr lang="ko-KR" altLang="en-US"/>
          </a:p>
        </p:txBody>
      </p:sp>
      <p:sp>
        <p:nvSpPr>
          <p:cNvPr id="18" name="Text 16"/>
          <p:cNvSpPr txBox="1"/>
          <p:nvPr/>
        </p:nvSpPr>
        <p:spPr>
          <a:xfrm>
            <a:off x="676656" y="384048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같은 스플랫을 그린다</a:t>
            </a:r>
            <a:endParaRPr lang="en-US" sz="950" dirty="0"/>
          </a:p>
        </p:txBody>
      </p:sp>
      <p:sp>
        <p:nvSpPr>
          <p:cNvPr id="19" name="Shape 17"/>
          <p:cNvSpPr/>
          <p:nvPr/>
        </p:nvSpPr>
        <p:spPr>
          <a:xfrm>
            <a:off x="3429000" y="1645920"/>
            <a:ext cx="2286000" cy="365760"/>
          </a:xfrm>
          <a:prstGeom prst="roundRect">
            <a:avLst>
              <a:gd name="adj" fmla="val 12500"/>
            </a:avLst>
          </a:prstGeom>
          <a:solidFill>
            <a:srgbClr val="F3ECE6"/>
          </a:solidFill>
          <a:ln w="9525">
            <a:solidFill>
              <a:srgbClr val="6B4430"/>
            </a:solidFill>
            <a:prstDash val="solid"/>
          </a:ln>
        </p:spPr>
        <p:txBody>
          <a:bodyPr/>
          <a:lstStyle/>
          <a:p>
            <a:endParaRPr lang="ko-KR" altLang="en-US"/>
          </a:p>
        </p:txBody>
      </p:sp>
      <p:sp>
        <p:nvSpPr>
          <p:cNvPr id="20" name="Text 18"/>
          <p:cNvSpPr txBox="1"/>
          <p:nvPr/>
        </p:nvSpPr>
        <p:spPr>
          <a:xfrm>
            <a:off x="3465576" y="164592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검증 (경기 단계 · 잠금 태그)</a:t>
            </a:r>
            <a:endParaRPr lang="en-US" sz="950" dirty="0"/>
          </a:p>
        </p:txBody>
      </p:sp>
      <p:sp>
        <p:nvSpPr>
          <p:cNvPr id="21" name="Shape 19"/>
          <p:cNvSpPr/>
          <p:nvPr/>
        </p:nvSpPr>
        <p:spPr>
          <a:xfrm>
            <a:off x="3429000" y="2194560"/>
            <a:ext cx="2286000" cy="365760"/>
          </a:xfrm>
          <a:prstGeom prst="roundRect">
            <a:avLst>
              <a:gd name="adj" fmla="val 12500"/>
            </a:avLst>
          </a:prstGeom>
          <a:solidFill>
            <a:srgbClr val="F3ECE6"/>
          </a:solidFill>
          <a:ln w="9525">
            <a:solidFill>
              <a:srgbClr val="6B4430"/>
            </a:solidFill>
            <a:prstDash val="solid"/>
          </a:ln>
        </p:spPr>
        <p:txBody>
          <a:bodyPr/>
          <a:lstStyle/>
          <a:p>
            <a:endParaRPr lang="ko-KR" altLang="en-US"/>
          </a:p>
        </p:txBody>
      </p:sp>
      <p:sp>
        <p:nvSpPr>
          <p:cNvPr id="22" name="Text 20"/>
          <p:cNvSpPr txBox="1"/>
          <p:nvPr/>
        </p:nvSpPr>
        <p:spPr>
          <a:xfrm>
            <a:off x="3465576" y="219456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PaintProjectile 비행 (풀)</a:t>
            </a:r>
            <a:endParaRPr lang="en-US" sz="950" dirty="0"/>
          </a:p>
        </p:txBody>
      </p:sp>
      <p:sp>
        <p:nvSpPr>
          <p:cNvPr id="23" name="Shape 21"/>
          <p:cNvSpPr/>
          <p:nvPr/>
        </p:nvSpPr>
        <p:spPr>
          <a:xfrm>
            <a:off x="3429000" y="2743200"/>
            <a:ext cx="2286000" cy="365760"/>
          </a:xfrm>
          <a:prstGeom prst="roundRect">
            <a:avLst>
              <a:gd name="adj" fmla="val 12500"/>
            </a:avLst>
          </a:prstGeom>
          <a:solidFill>
            <a:srgbClr val="F3ECE6"/>
          </a:solidFill>
          <a:ln w="9525">
            <a:solidFill>
              <a:srgbClr val="6B4430"/>
            </a:solidFill>
            <a:prstDash val="solid"/>
          </a:ln>
        </p:spPr>
        <p:txBody>
          <a:bodyPr/>
          <a:lstStyle/>
          <a:p>
            <a:endParaRPr lang="ko-KR" altLang="en-US"/>
          </a:p>
        </p:txBody>
      </p:sp>
      <p:sp>
        <p:nvSpPr>
          <p:cNvPr id="24" name="Text 22"/>
          <p:cNvSpPr txBox="1"/>
          <p:nvPr/>
        </p:nvSpPr>
        <p:spPr>
          <a:xfrm>
            <a:off x="3465576" y="274320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착탄 → FPaintDeposit</a:t>
            </a:r>
            <a:endParaRPr lang="en-US" sz="950" dirty="0"/>
          </a:p>
        </p:txBody>
      </p:sp>
      <p:sp>
        <p:nvSpPr>
          <p:cNvPr id="25" name="Shape 23"/>
          <p:cNvSpPr/>
          <p:nvPr/>
        </p:nvSpPr>
        <p:spPr>
          <a:xfrm>
            <a:off x="3429000" y="3291840"/>
            <a:ext cx="1097280" cy="365760"/>
          </a:xfrm>
          <a:prstGeom prst="roundRect">
            <a:avLst>
              <a:gd name="adj" fmla="val 12500"/>
            </a:avLst>
          </a:prstGeom>
          <a:solidFill>
            <a:srgbClr val="F3ECE6"/>
          </a:solidFill>
          <a:ln w="9525">
            <a:solidFill>
              <a:srgbClr val="6B4430"/>
            </a:solidFill>
            <a:prstDash val="solid"/>
          </a:ln>
        </p:spPr>
        <p:txBody>
          <a:bodyPr/>
          <a:lstStyle/>
          <a:p>
            <a:endParaRPr lang="ko-KR" altLang="en-US"/>
          </a:p>
        </p:txBody>
      </p:sp>
      <p:sp>
        <p:nvSpPr>
          <p:cNvPr id="26" name="Text 24"/>
          <p:cNvSpPr txBox="1"/>
          <p:nvPr/>
        </p:nvSpPr>
        <p:spPr>
          <a:xfrm>
            <a:off x="3465576" y="3291840"/>
            <a:ext cx="102412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표면: 스플랫</a:t>
            </a:r>
            <a:endParaRPr lang="en-US" sz="950" dirty="0"/>
          </a:p>
        </p:txBody>
      </p:sp>
      <p:sp>
        <p:nvSpPr>
          <p:cNvPr id="27" name="Shape 25"/>
          <p:cNvSpPr/>
          <p:nvPr/>
        </p:nvSpPr>
        <p:spPr>
          <a:xfrm>
            <a:off x="4617720" y="3291840"/>
            <a:ext cx="1097280" cy="365760"/>
          </a:xfrm>
          <a:prstGeom prst="roundRect">
            <a:avLst>
              <a:gd name="adj" fmla="val 12500"/>
            </a:avLst>
          </a:prstGeom>
          <a:solidFill>
            <a:srgbClr val="F3ECE6"/>
          </a:solidFill>
          <a:ln w="9525">
            <a:solidFill>
              <a:srgbClr val="6B4430"/>
            </a:solidFill>
            <a:prstDash val="solid"/>
          </a:ln>
        </p:spPr>
        <p:txBody>
          <a:bodyPr/>
          <a:lstStyle/>
          <a:p>
            <a:endParaRPr lang="ko-KR" altLang="en-US"/>
          </a:p>
        </p:txBody>
      </p:sp>
      <p:sp>
        <p:nvSpPr>
          <p:cNvPr id="28" name="Text 26"/>
          <p:cNvSpPr txBox="1"/>
          <p:nvPr/>
        </p:nvSpPr>
        <p:spPr>
          <a:xfrm>
            <a:off x="4654296" y="3291840"/>
            <a:ext cx="102412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유닛: 스턴</a:t>
            </a:r>
            <a:endParaRPr lang="en-US" sz="950" dirty="0"/>
          </a:p>
        </p:txBody>
      </p:sp>
      <p:sp>
        <p:nvSpPr>
          <p:cNvPr id="29" name="Shape 27"/>
          <p:cNvSpPr/>
          <p:nvPr/>
        </p:nvSpPr>
        <p:spPr>
          <a:xfrm>
            <a:off x="3429000" y="3840480"/>
            <a:ext cx="2286000" cy="365760"/>
          </a:xfrm>
          <a:prstGeom prst="roundRect">
            <a:avLst>
              <a:gd name="adj" fmla="val 12500"/>
            </a:avLst>
          </a:prstGeom>
          <a:solidFill>
            <a:srgbClr val="E2F4EF"/>
          </a:solidFill>
          <a:ln w="9525">
            <a:solidFill>
              <a:srgbClr val="1FA88E"/>
            </a:solidFill>
            <a:prstDash val="solid"/>
          </a:ln>
        </p:spPr>
        <p:txBody>
          <a:bodyPr/>
          <a:lstStyle/>
          <a:p>
            <a:endParaRPr lang="ko-KR" altLang="en-US"/>
          </a:p>
        </p:txBody>
      </p:sp>
      <p:sp>
        <p:nvSpPr>
          <p:cNvPr id="30" name="Text 28"/>
          <p:cNvSpPr txBox="1"/>
          <p:nvPr/>
        </p:nvSpPr>
        <p:spPr>
          <a:xfrm>
            <a:off x="3465576" y="384048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스플랫 기록 (복제)</a:t>
            </a:r>
            <a:endParaRPr lang="en-US" sz="950" dirty="0"/>
          </a:p>
        </p:txBody>
      </p:sp>
      <p:sp>
        <p:nvSpPr>
          <p:cNvPr id="31" name="Shape 29"/>
          <p:cNvSpPr/>
          <p:nvPr/>
        </p:nvSpPr>
        <p:spPr>
          <a:xfrm>
            <a:off x="6217920" y="2194560"/>
            <a:ext cx="2286000" cy="365760"/>
          </a:xfrm>
          <a:prstGeom prst="roundRect">
            <a:avLst>
              <a:gd name="adj" fmla="val 12500"/>
            </a:avLst>
          </a:prstGeom>
          <a:solidFill>
            <a:srgbClr val="FFFFFF"/>
          </a:solidFill>
          <a:ln w="9525">
            <a:solidFill>
              <a:srgbClr val="8E8780"/>
            </a:solidFill>
            <a:prstDash val="solid"/>
          </a:ln>
        </p:spPr>
        <p:txBody>
          <a:bodyPr/>
          <a:lstStyle/>
          <a:p>
            <a:endParaRPr lang="ko-KR" altLang="en-US"/>
          </a:p>
        </p:txBody>
      </p:sp>
      <p:sp>
        <p:nvSpPr>
          <p:cNvPr id="32" name="Text 30"/>
          <p:cNvSpPr txBox="1"/>
          <p:nvPr/>
        </p:nvSpPr>
        <p:spPr>
          <a:xfrm>
            <a:off x="6254496" y="219456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연출용 탄 · 총구 FX</a:t>
            </a:r>
            <a:endParaRPr lang="en-US" sz="950" dirty="0"/>
          </a:p>
        </p:txBody>
      </p:sp>
      <p:sp>
        <p:nvSpPr>
          <p:cNvPr id="33" name="Shape 31"/>
          <p:cNvSpPr/>
          <p:nvPr/>
        </p:nvSpPr>
        <p:spPr>
          <a:xfrm>
            <a:off x="6217920" y="3840480"/>
            <a:ext cx="2286000" cy="365760"/>
          </a:xfrm>
          <a:prstGeom prst="roundRect">
            <a:avLst>
              <a:gd name="adj" fmla="val 12500"/>
            </a:avLst>
          </a:prstGeom>
          <a:solidFill>
            <a:srgbClr val="E2F4EF"/>
          </a:solidFill>
          <a:ln w="9525">
            <a:solidFill>
              <a:srgbClr val="1FA88E"/>
            </a:solidFill>
            <a:prstDash val="solid"/>
          </a:ln>
        </p:spPr>
        <p:txBody>
          <a:bodyPr/>
          <a:lstStyle/>
          <a:p>
            <a:endParaRPr lang="ko-KR" altLang="en-US"/>
          </a:p>
        </p:txBody>
      </p:sp>
      <p:sp>
        <p:nvSpPr>
          <p:cNvPr id="34" name="Text 32"/>
          <p:cNvSpPr txBox="1"/>
          <p:nvPr/>
        </p:nvSpPr>
        <p:spPr>
          <a:xfrm>
            <a:off x="6254496" y="3840480"/>
            <a:ext cx="2212848" cy="365760"/>
          </a:xfrm>
          <a:prstGeom prst="rect">
            <a:avLst/>
          </a:prstGeom>
          <a:noFill/>
          <a:ln/>
        </p:spPr>
        <p:txBody>
          <a:bodyPr wrap="square" lIns="0" tIns="0" rIns="0" bIns="0" rtlCol="0" anchor="ctr"/>
          <a:lstStyle/>
          <a:p>
            <a:pPr marL="0" indent="0" algn="ctr">
              <a:buNone/>
            </a:pPr>
            <a:r>
              <a:rPr lang="en-US" sz="950" dirty="0">
                <a:solidFill>
                  <a:srgbClr val="2A221D"/>
                </a:solidFill>
                <a:latin typeface="Malgun Gothic" pitchFamily="34" charset="0"/>
                <a:ea typeface="Malgun Gothic" pitchFamily="34" charset="-122"/>
                <a:cs typeface="Malgun Gothic" pitchFamily="34" charset="-120"/>
              </a:rPr>
              <a:t>같은 스플랫을 그린다</a:t>
            </a:r>
            <a:endParaRPr lang="en-US" sz="950" dirty="0"/>
          </a:p>
        </p:txBody>
      </p:sp>
      <p:sp>
        <p:nvSpPr>
          <p:cNvPr id="35" name="Shape 33"/>
          <p:cNvSpPr/>
          <p:nvPr/>
        </p:nvSpPr>
        <p:spPr>
          <a:xfrm>
            <a:off x="2926080" y="1828800"/>
            <a:ext cx="502920" cy="0"/>
          </a:xfrm>
          <a:prstGeom prst="line">
            <a:avLst/>
          </a:prstGeom>
          <a:noFill/>
          <a:ln w="12700">
            <a:solidFill>
              <a:srgbClr val="8E8780"/>
            </a:solidFill>
            <a:prstDash val="solid"/>
            <a:tailEnd type="triangle"/>
          </a:ln>
        </p:spPr>
        <p:txBody>
          <a:bodyPr/>
          <a:lstStyle/>
          <a:p>
            <a:endParaRPr lang="ko-KR" altLang="en-US"/>
          </a:p>
        </p:txBody>
      </p:sp>
      <p:sp>
        <p:nvSpPr>
          <p:cNvPr id="36" name="Text 34"/>
          <p:cNvSpPr txBox="1"/>
          <p:nvPr/>
        </p:nvSpPr>
        <p:spPr>
          <a:xfrm>
            <a:off x="2816352" y="1463040"/>
            <a:ext cx="685800" cy="182880"/>
          </a:xfrm>
          <a:prstGeom prst="rect">
            <a:avLst/>
          </a:prstGeom>
          <a:noFill/>
          <a:ln/>
        </p:spPr>
        <p:txBody>
          <a:bodyPr wrap="square" lIns="0" tIns="0" rIns="0" bIns="0" rtlCol="0" anchor="t"/>
          <a:lstStyle/>
          <a:p>
            <a:pPr marL="0" indent="0" algn="ctr">
              <a:buNone/>
            </a:pPr>
            <a:r>
              <a:rPr lang="en-US" sz="750" dirty="0">
                <a:solidFill>
                  <a:srgbClr val="6E655F"/>
                </a:solidFill>
                <a:latin typeface="Consolas" pitchFamily="34" charset="0"/>
                <a:ea typeface="Consolas" pitchFamily="34" charset="-122"/>
                <a:cs typeface="Consolas" pitchFamily="34" charset="-120"/>
              </a:rPr>
              <a:t>ServerFire</a:t>
            </a:r>
            <a:endParaRPr lang="en-US" sz="750" dirty="0"/>
          </a:p>
        </p:txBody>
      </p:sp>
      <p:sp>
        <p:nvSpPr>
          <p:cNvPr id="37" name="Shape 35"/>
          <p:cNvSpPr/>
          <p:nvPr/>
        </p:nvSpPr>
        <p:spPr>
          <a:xfrm>
            <a:off x="1783080" y="2011680"/>
            <a:ext cx="0" cy="182880"/>
          </a:xfrm>
          <a:prstGeom prst="line">
            <a:avLst/>
          </a:prstGeom>
          <a:noFill/>
          <a:ln w="12700">
            <a:solidFill>
              <a:srgbClr val="8E8780"/>
            </a:solidFill>
            <a:prstDash val="solid"/>
            <a:tailEnd type="triangle"/>
          </a:ln>
        </p:spPr>
        <p:txBody>
          <a:bodyPr/>
          <a:lstStyle/>
          <a:p>
            <a:endParaRPr lang="ko-KR" altLang="en-US"/>
          </a:p>
        </p:txBody>
      </p:sp>
      <p:sp>
        <p:nvSpPr>
          <p:cNvPr id="38" name="Shape 36"/>
          <p:cNvSpPr/>
          <p:nvPr/>
        </p:nvSpPr>
        <p:spPr>
          <a:xfrm>
            <a:off x="4572000" y="2011680"/>
            <a:ext cx="0" cy="182880"/>
          </a:xfrm>
          <a:prstGeom prst="line">
            <a:avLst/>
          </a:prstGeom>
          <a:noFill/>
          <a:ln w="12700">
            <a:solidFill>
              <a:srgbClr val="8E8780"/>
            </a:solidFill>
            <a:prstDash val="solid"/>
            <a:tailEnd type="triangle"/>
          </a:ln>
        </p:spPr>
        <p:txBody>
          <a:bodyPr/>
          <a:lstStyle/>
          <a:p>
            <a:endParaRPr lang="ko-KR" altLang="en-US"/>
          </a:p>
        </p:txBody>
      </p:sp>
      <p:sp>
        <p:nvSpPr>
          <p:cNvPr id="39" name="Shape 37"/>
          <p:cNvSpPr/>
          <p:nvPr/>
        </p:nvSpPr>
        <p:spPr>
          <a:xfrm>
            <a:off x="4572000" y="2560320"/>
            <a:ext cx="0" cy="182880"/>
          </a:xfrm>
          <a:prstGeom prst="line">
            <a:avLst/>
          </a:prstGeom>
          <a:noFill/>
          <a:ln w="12700">
            <a:solidFill>
              <a:srgbClr val="8E8780"/>
            </a:solidFill>
            <a:prstDash val="solid"/>
            <a:tailEnd type="triangle"/>
          </a:ln>
        </p:spPr>
        <p:txBody>
          <a:bodyPr/>
          <a:lstStyle/>
          <a:p>
            <a:endParaRPr lang="ko-KR" altLang="en-US"/>
          </a:p>
        </p:txBody>
      </p:sp>
      <p:sp>
        <p:nvSpPr>
          <p:cNvPr id="40" name="Shape 38"/>
          <p:cNvSpPr/>
          <p:nvPr/>
        </p:nvSpPr>
        <p:spPr>
          <a:xfrm flipH="1">
            <a:off x="3977640" y="3108960"/>
            <a:ext cx="228600" cy="182880"/>
          </a:xfrm>
          <a:prstGeom prst="line">
            <a:avLst/>
          </a:prstGeom>
          <a:noFill/>
          <a:ln w="12700">
            <a:solidFill>
              <a:srgbClr val="8E8780"/>
            </a:solidFill>
            <a:prstDash val="solid"/>
            <a:tailEnd type="triangle"/>
          </a:ln>
        </p:spPr>
        <p:txBody>
          <a:bodyPr/>
          <a:lstStyle/>
          <a:p>
            <a:endParaRPr lang="ko-KR" altLang="en-US"/>
          </a:p>
        </p:txBody>
      </p:sp>
      <p:sp>
        <p:nvSpPr>
          <p:cNvPr id="41" name="Shape 39"/>
          <p:cNvSpPr/>
          <p:nvPr/>
        </p:nvSpPr>
        <p:spPr>
          <a:xfrm>
            <a:off x="4937760" y="3108960"/>
            <a:ext cx="228600" cy="182880"/>
          </a:xfrm>
          <a:prstGeom prst="line">
            <a:avLst/>
          </a:prstGeom>
          <a:noFill/>
          <a:ln w="12700">
            <a:solidFill>
              <a:srgbClr val="8E8780"/>
            </a:solidFill>
            <a:prstDash val="solid"/>
            <a:tailEnd type="triangle"/>
          </a:ln>
        </p:spPr>
        <p:txBody>
          <a:bodyPr/>
          <a:lstStyle/>
          <a:p>
            <a:endParaRPr lang="ko-KR" altLang="en-US"/>
          </a:p>
        </p:txBody>
      </p:sp>
      <p:sp>
        <p:nvSpPr>
          <p:cNvPr id="42" name="Shape 40"/>
          <p:cNvSpPr/>
          <p:nvPr/>
        </p:nvSpPr>
        <p:spPr>
          <a:xfrm>
            <a:off x="3977640" y="3657600"/>
            <a:ext cx="0" cy="182880"/>
          </a:xfrm>
          <a:prstGeom prst="line">
            <a:avLst/>
          </a:prstGeom>
          <a:noFill/>
          <a:ln w="22225">
            <a:solidFill>
              <a:srgbClr val="1FA88E"/>
            </a:solidFill>
            <a:prstDash val="solid"/>
            <a:tailEnd type="triangle"/>
          </a:ln>
        </p:spPr>
        <p:txBody>
          <a:bodyPr/>
          <a:lstStyle/>
          <a:p>
            <a:endParaRPr lang="ko-KR" altLang="en-US"/>
          </a:p>
        </p:txBody>
      </p:sp>
      <p:sp>
        <p:nvSpPr>
          <p:cNvPr id="43" name="Shape 41"/>
          <p:cNvSpPr/>
          <p:nvPr/>
        </p:nvSpPr>
        <p:spPr>
          <a:xfrm>
            <a:off x="5715000" y="1828800"/>
            <a:ext cx="502920" cy="548640"/>
          </a:xfrm>
          <a:prstGeom prst="line">
            <a:avLst/>
          </a:prstGeom>
          <a:noFill/>
          <a:ln w="12700">
            <a:solidFill>
              <a:srgbClr val="8E8780"/>
            </a:solidFill>
            <a:prstDash val="solid"/>
            <a:tailEnd type="triangle"/>
          </a:ln>
        </p:spPr>
        <p:txBody>
          <a:bodyPr/>
          <a:lstStyle/>
          <a:p>
            <a:endParaRPr lang="ko-KR" altLang="en-US"/>
          </a:p>
        </p:txBody>
      </p:sp>
      <p:sp>
        <p:nvSpPr>
          <p:cNvPr id="44" name="Text 42"/>
          <p:cNvSpPr txBox="1"/>
          <p:nvPr/>
        </p:nvSpPr>
        <p:spPr>
          <a:xfrm>
            <a:off x="5943600" y="1810512"/>
            <a:ext cx="594360" cy="182880"/>
          </a:xfrm>
          <a:prstGeom prst="rect">
            <a:avLst/>
          </a:prstGeom>
          <a:noFill/>
          <a:ln/>
        </p:spPr>
        <p:txBody>
          <a:bodyPr wrap="square" lIns="0" tIns="0" rIns="0" bIns="0" rtlCol="0" anchor="t"/>
          <a:lstStyle/>
          <a:p>
            <a:pPr marL="0" indent="0" algn="ctr">
              <a:buNone/>
            </a:pPr>
            <a:r>
              <a:rPr lang="en-US" sz="750" dirty="0">
                <a:solidFill>
                  <a:srgbClr val="6E655F"/>
                </a:solidFill>
                <a:latin typeface="Consolas" pitchFamily="34" charset="0"/>
                <a:ea typeface="Consolas" pitchFamily="34" charset="-122"/>
                <a:cs typeface="Consolas" pitchFamily="34" charset="-120"/>
              </a:rPr>
              <a:t>Multicast</a:t>
            </a:r>
            <a:endParaRPr lang="en-US" sz="750" dirty="0"/>
          </a:p>
        </p:txBody>
      </p:sp>
      <p:sp>
        <p:nvSpPr>
          <p:cNvPr id="45" name="Shape 43"/>
          <p:cNvSpPr/>
          <p:nvPr/>
        </p:nvSpPr>
        <p:spPr>
          <a:xfrm flipH="1">
            <a:off x="2926080" y="4023360"/>
            <a:ext cx="502920" cy="0"/>
          </a:xfrm>
          <a:prstGeom prst="line">
            <a:avLst/>
          </a:prstGeom>
          <a:noFill/>
          <a:ln w="22225">
            <a:solidFill>
              <a:srgbClr val="1FA88E"/>
            </a:solidFill>
            <a:prstDash val="solid"/>
            <a:tailEnd type="triangle"/>
          </a:ln>
        </p:spPr>
        <p:txBody>
          <a:bodyPr/>
          <a:lstStyle/>
          <a:p>
            <a:endParaRPr lang="ko-KR" altLang="en-US"/>
          </a:p>
        </p:txBody>
      </p:sp>
      <p:sp>
        <p:nvSpPr>
          <p:cNvPr id="46" name="Shape 44"/>
          <p:cNvSpPr/>
          <p:nvPr/>
        </p:nvSpPr>
        <p:spPr>
          <a:xfrm>
            <a:off x="5715000" y="4023360"/>
            <a:ext cx="502920" cy="0"/>
          </a:xfrm>
          <a:prstGeom prst="line">
            <a:avLst/>
          </a:prstGeom>
          <a:noFill/>
          <a:ln w="22225">
            <a:solidFill>
              <a:srgbClr val="1FA88E"/>
            </a:solidFill>
            <a:prstDash val="solid"/>
            <a:tailEnd type="triangle"/>
          </a:ln>
        </p:spPr>
        <p:txBody>
          <a:bodyPr/>
          <a:lstStyle/>
          <a:p>
            <a:endParaRPr lang="ko-KR" altLang="en-US"/>
          </a:p>
        </p:txBody>
      </p:sp>
      <p:sp>
        <p:nvSpPr>
          <p:cNvPr id="47" name="Text 45"/>
          <p:cNvSpPr txBox="1"/>
          <p:nvPr/>
        </p:nvSpPr>
        <p:spPr>
          <a:xfrm>
            <a:off x="2926080" y="3794760"/>
            <a:ext cx="502920" cy="182880"/>
          </a:xfrm>
          <a:prstGeom prst="rect">
            <a:avLst/>
          </a:prstGeom>
          <a:noFill/>
          <a:ln/>
        </p:spPr>
        <p:txBody>
          <a:bodyPr wrap="square" lIns="0" tIns="0" rIns="0" bIns="0" rtlCol="0" anchor="t"/>
          <a:lstStyle/>
          <a:p>
            <a:pPr marL="0" indent="0" algn="ctr">
              <a:buNone/>
            </a:pPr>
            <a:r>
              <a:rPr lang="en-US" sz="750" dirty="0">
                <a:solidFill>
                  <a:srgbClr val="137A67"/>
                </a:solidFill>
                <a:latin typeface="Malgun Gothic" pitchFamily="34" charset="0"/>
                <a:ea typeface="Malgun Gothic" pitchFamily="34" charset="-122"/>
                <a:cs typeface="Malgun Gothic" pitchFamily="34" charset="-120"/>
              </a:rPr>
              <a:t>복제</a:t>
            </a:r>
            <a:endParaRPr lang="en-US" sz="750" dirty="0"/>
          </a:p>
        </p:txBody>
      </p:sp>
      <p:sp>
        <p:nvSpPr>
          <p:cNvPr id="48" name="Text 46"/>
          <p:cNvSpPr txBox="1"/>
          <p:nvPr/>
        </p:nvSpPr>
        <p:spPr>
          <a:xfrm>
            <a:off x="5715000" y="3794760"/>
            <a:ext cx="502920" cy="182880"/>
          </a:xfrm>
          <a:prstGeom prst="rect">
            <a:avLst/>
          </a:prstGeom>
          <a:noFill/>
          <a:ln/>
        </p:spPr>
        <p:txBody>
          <a:bodyPr wrap="square" lIns="0" tIns="0" rIns="0" bIns="0" rtlCol="0" anchor="t"/>
          <a:lstStyle/>
          <a:p>
            <a:pPr marL="0" indent="0" algn="ctr">
              <a:buNone/>
            </a:pPr>
            <a:r>
              <a:rPr lang="en-US" sz="750" dirty="0">
                <a:solidFill>
                  <a:srgbClr val="137A67"/>
                </a:solidFill>
                <a:latin typeface="Malgun Gothic" pitchFamily="34" charset="0"/>
                <a:ea typeface="Malgun Gothic" pitchFamily="34" charset="-122"/>
                <a:cs typeface="Malgun Gothic" pitchFamily="34" charset="-120"/>
              </a:rPr>
              <a:t>복제</a:t>
            </a:r>
            <a:endParaRPr lang="en-US" sz="750" dirty="0"/>
          </a:p>
        </p:txBody>
      </p:sp>
    </p:spTree>
    <p:extLst>
      <p:ext uri="{BB962C8B-B14F-4D97-AF65-F5344CB8AC3E}">
        <p14:creationId xmlns:p14="http://schemas.microsoft.com/office/powerpoint/2010/main" val="916324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ONLINE · FLOW</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방을 만들고 경기를 마치기까지</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17</a:t>
            </a:r>
            <a:endParaRPr lang="en-US" sz="900" dirty="0"/>
          </a:p>
        </p:txBody>
      </p:sp>
      <p:sp>
        <p:nvSpPr>
          <p:cNvPr id="7" name="Shape 5"/>
          <p:cNvSpPr/>
          <p:nvPr/>
        </p:nvSpPr>
        <p:spPr>
          <a:xfrm>
            <a:off x="457200" y="1325880"/>
            <a:ext cx="1335024" cy="640080"/>
          </a:xfrm>
          <a:prstGeom prst="chevron">
            <a:avLst/>
          </a:prstGeom>
          <a:solidFill>
            <a:srgbClr val="2B1B12"/>
          </a:solidFill>
          <a:ln w="12700">
            <a:solidFill>
              <a:srgbClr val="FFFFFF"/>
            </a:solidFill>
            <a:prstDash val="solid"/>
          </a:ln>
        </p:spPr>
        <p:txBody>
          <a:bodyPr/>
          <a:lstStyle/>
          <a:p>
            <a:endParaRPr lang="ko-KR" altLang="en-US"/>
          </a:p>
        </p:txBody>
      </p:sp>
      <p:sp>
        <p:nvSpPr>
          <p:cNvPr id="8" name="Text 6"/>
          <p:cNvSpPr txBox="1"/>
          <p:nvPr/>
        </p:nvSpPr>
        <p:spPr>
          <a:xfrm>
            <a:off x="658368" y="1325880"/>
            <a:ext cx="1060704"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Title</a:t>
            </a:r>
            <a:endParaRPr lang="en-US" sz="950" dirty="0"/>
          </a:p>
        </p:txBody>
      </p:sp>
      <p:sp>
        <p:nvSpPr>
          <p:cNvPr id="9" name="Shape 7"/>
          <p:cNvSpPr/>
          <p:nvPr/>
        </p:nvSpPr>
        <p:spPr>
          <a:xfrm>
            <a:off x="1828800" y="1325880"/>
            <a:ext cx="1335024" cy="640080"/>
          </a:xfrm>
          <a:prstGeom prst="chevron">
            <a:avLst/>
          </a:prstGeom>
          <a:solidFill>
            <a:srgbClr val="6B4430"/>
          </a:solidFill>
          <a:ln w="12700">
            <a:solidFill>
              <a:srgbClr val="FFFFFF"/>
            </a:solidFill>
            <a:prstDash val="solid"/>
          </a:ln>
        </p:spPr>
        <p:txBody>
          <a:bodyPr/>
          <a:lstStyle/>
          <a:p>
            <a:endParaRPr lang="ko-KR" altLang="en-US"/>
          </a:p>
        </p:txBody>
      </p:sp>
      <p:sp>
        <p:nvSpPr>
          <p:cNvPr id="10" name="Text 8"/>
          <p:cNvSpPr txBox="1"/>
          <p:nvPr/>
        </p:nvSpPr>
        <p:spPr>
          <a:xfrm>
            <a:off x="2029968" y="1325880"/>
            <a:ext cx="1060704"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Room</a:t>
            </a:r>
            <a:endParaRPr lang="en-US" sz="950" dirty="0"/>
          </a:p>
        </p:txBody>
      </p:sp>
      <p:sp>
        <p:nvSpPr>
          <p:cNvPr id="11" name="Shape 9"/>
          <p:cNvSpPr/>
          <p:nvPr/>
        </p:nvSpPr>
        <p:spPr>
          <a:xfrm>
            <a:off x="3200400" y="1325880"/>
            <a:ext cx="1335024" cy="640080"/>
          </a:xfrm>
          <a:prstGeom prst="chevron">
            <a:avLst/>
          </a:prstGeom>
          <a:solidFill>
            <a:srgbClr val="2B1B12"/>
          </a:solidFill>
          <a:ln w="12700">
            <a:solidFill>
              <a:srgbClr val="FFFFFF"/>
            </a:solidFill>
            <a:prstDash val="solid"/>
          </a:ln>
        </p:spPr>
        <p:txBody>
          <a:bodyPr/>
          <a:lstStyle/>
          <a:p>
            <a:endParaRPr lang="ko-KR" altLang="en-US"/>
          </a:p>
        </p:txBody>
      </p:sp>
      <p:sp>
        <p:nvSpPr>
          <p:cNvPr id="12" name="Text 10"/>
          <p:cNvSpPr txBox="1"/>
          <p:nvPr/>
        </p:nvSpPr>
        <p:spPr>
          <a:xfrm>
            <a:off x="3401568" y="1325880"/>
            <a:ext cx="1060704"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Lobby?listen</a:t>
            </a:r>
            <a:endParaRPr lang="en-US" sz="950" dirty="0"/>
          </a:p>
        </p:txBody>
      </p:sp>
      <p:sp>
        <p:nvSpPr>
          <p:cNvPr id="13" name="Shape 11"/>
          <p:cNvSpPr/>
          <p:nvPr/>
        </p:nvSpPr>
        <p:spPr>
          <a:xfrm>
            <a:off x="4572000" y="1325880"/>
            <a:ext cx="1335024" cy="640080"/>
          </a:xfrm>
          <a:prstGeom prst="chevron">
            <a:avLst/>
          </a:prstGeom>
          <a:solidFill>
            <a:srgbClr val="1FA88E"/>
          </a:solidFill>
          <a:ln w="12700">
            <a:solidFill>
              <a:srgbClr val="FFFFFF"/>
            </a:solidFill>
            <a:prstDash val="solid"/>
          </a:ln>
        </p:spPr>
        <p:txBody>
          <a:bodyPr/>
          <a:lstStyle/>
          <a:p>
            <a:endParaRPr lang="ko-KR" altLang="en-US"/>
          </a:p>
        </p:txBody>
      </p:sp>
      <p:sp>
        <p:nvSpPr>
          <p:cNvPr id="14" name="Text 12"/>
          <p:cNvSpPr txBox="1"/>
          <p:nvPr/>
        </p:nvSpPr>
        <p:spPr>
          <a:xfrm>
            <a:off x="4773168" y="1325880"/>
            <a:ext cx="1060704"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Lvl_*</a:t>
            </a:r>
            <a:endParaRPr lang="en-US" sz="950" dirty="0"/>
          </a:p>
        </p:txBody>
      </p:sp>
      <p:sp>
        <p:nvSpPr>
          <p:cNvPr id="15" name="Shape 13"/>
          <p:cNvSpPr/>
          <p:nvPr/>
        </p:nvSpPr>
        <p:spPr>
          <a:xfrm>
            <a:off x="5943600" y="1325880"/>
            <a:ext cx="1335024" cy="640080"/>
          </a:xfrm>
          <a:prstGeom prst="chevron">
            <a:avLst/>
          </a:prstGeom>
          <a:solidFill>
            <a:srgbClr val="2B1B12"/>
          </a:solidFill>
          <a:ln w="12700">
            <a:solidFill>
              <a:srgbClr val="FFFFFF"/>
            </a:solidFill>
            <a:prstDash val="solid"/>
          </a:ln>
        </p:spPr>
        <p:txBody>
          <a:bodyPr/>
          <a:lstStyle/>
          <a:p>
            <a:endParaRPr lang="ko-KR" altLang="en-US"/>
          </a:p>
        </p:txBody>
      </p:sp>
      <p:sp>
        <p:nvSpPr>
          <p:cNvPr id="16" name="Text 14"/>
          <p:cNvSpPr txBox="1"/>
          <p:nvPr/>
        </p:nvSpPr>
        <p:spPr>
          <a:xfrm>
            <a:off x="6144768" y="1325880"/>
            <a:ext cx="1060704"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결과 연출</a:t>
            </a:r>
            <a:endParaRPr lang="en-US" sz="950" dirty="0"/>
          </a:p>
        </p:txBody>
      </p:sp>
      <p:sp>
        <p:nvSpPr>
          <p:cNvPr id="17" name="Shape 15"/>
          <p:cNvSpPr/>
          <p:nvPr/>
        </p:nvSpPr>
        <p:spPr>
          <a:xfrm>
            <a:off x="7315200" y="1325880"/>
            <a:ext cx="1335024" cy="640080"/>
          </a:xfrm>
          <a:prstGeom prst="chevron">
            <a:avLst/>
          </a:prstGeom>
          <a:solidFill>
            <a:srgbClr val="6B4430"/>
          </a:solidFill>
          <a:ln w="12700">
            <a:solidFill>
              <a:srgbClr val="FFFFFF"/>
            </a:solidFill>
            <a:prstDash val="solid"/>
          </a:ln>
        </p:spPr>
        <p:txBody>
          <a:bodyPr/>
          <a:lstStyle/>
          <a:p>
            <a:endParaRPr lang="ko-KR" altLang="en-US"/>
          </a:p>
        </p:txBody>
      </p:sp>
      <p:sp>
        <p:nvSpPr>
          <p:cNvPr id="18" name="Text 16"/>
          <p:cNvSpPr txBox="1"/>
          <p:nvPr/>
        </p:nvSpPr>
        <p:spPr>
          <a:xfrm>
            <a:off x="7516368" y="1325880"/>
            <a:ext cx="1060704"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Lobby</a:t>
            </a:r>
            <a:endParaRPr lang="en-US" sz="950" dirty="0"/>
          </a:p>
        </p:txBody>
      </p:sp>
      <p:sp>
        <p:nvSpPr>
          <p:cNvPr id="19" name="Text 17"/>
          <p:cNvSpPr txBox="1"/>
          <p:nvPr/>
        </p:nvSpPr>
        <p:spPr>
          <a:xfrm>
            <a:off x="457200" y="2103120"/>
            <a:ext cx="8229600" cy="274320"/>
          </a:xfrm>
          <a:prstGeom prst="rect">
            <a:avLst/>
          </a:prstGeom>
          <a:noFill/>
          <a:ln/>
        </p:spPr>
        <p:txBody>
          <a:bodyPr wrap="square" lIns="0" tIns="0" rIns="0" bIns="0" rtlCol="0" anchor="t"/>
          <a:lstStyle/>
          <a:p>
            <a:pPr marL="0" indent="0">
              <a:buNone/>
            </a:pPr>
            <a:r>
              <a:rPr lang="en-US" sz="1100" dirty="0">
                <a:solidFill>
                  <a:srgbClr val="6E655F"/>
                </a:solidFill>
                <a:latin typeface="Malgun Gothic" pitchFamily="34" charset="0"/>
                <a:ea typeface="Malgun Gothic" pitchFamily="34" charset="-122"/>
                <a:cs typeface="Malgun Gothic" pitchFamily="34" charset="-120"/>
              </a:rPr>
              <a:t>로비 ↔ 경기는 seamless travel이고 모든 이동은 화면 가림막을 거친다</a:t>
            </a:r>
            <a:endParaRPr lang="en-US" sz="1100" dirty="0"/>
          </a:p>
        </p:txBody>
      </p:sp>
      <p:sp>
        <p:nvSpPr>
          <p:cNvPr id="20" name="Shape 18"/>
          <p:cNvSpPr/>
          <p:nvPr/>
        </p:nvSpPr>
        <p:spPr>
          <a:xfrm>
            <a:off x="457200" y="2560320"/>
            <a:ext cx="3977640" cy="2103120"/>
          </a:xfrm>
          <a:prstGeom prst="roundRect">
            <a:avLst>
              <a:gd name="adj" fmla="val 3478"/>
            </a:avLst>
          </a:prstGeom>
          <a:solidFill>
            <a:srgbClr val="E2F4EF"/>
          </a:solidFill>
          <a:ln w="12700">
            <a:solidFill>
              <a:srgbClr val="E2F4EF"/>
            </a:solidFill>
            <a:prstDash val="solid"/>
          </a:ln>
        </p:spPr>
        <p:txBody>
          <a:bodyPr/>
          <a:lstStyle/>
          <a:p>
            <a:endParaRPr lang="ko-KR" altLang="en-US"/>
          </a:p>
        </p:txBody>
      </p:sp>
      <p:sp>
        <p:nvSpPr>
          <p:cNvPr id="21" name="Text 19"/>
          <p:cNvSpPr txBox="1"/>
          <p:nvPr/>
        </p:nvSpPr>
        <p:spPr>
          <a:xfrm>
            <a:off x="640080" y="2697480"/>
            <a:ext cx="3657600" cy="274320"/>
          </a:xfrm>
          <a:prstGeom prst="rect">
            <a:avLst/>
          </a:prstGeom>
          <a:noFill/>
          <a:ln/>
        </p:spPr>
        <p:txBody>
          <a:bodyPr wrap="square" lIns="0" tIns="0" rIns="0" bIns="0" rtlCol="0" anchor="t"/>
          <a:lstStyle/>
          <a:p>
            <a:pPr marL="0" indent="0">
              <a:buNone/>
            </a:pPr>
            <a:r>
              <a:rPr lang="en-US" sz="1100" b="1" dirty="0">
                <a:solidFill>
                  <a:srgbClr val="137A67"/>
                </a:solidFill>
                <a:latin typeface="Consolas" pitchFamily="34" charset="0"/>
                <a:ea typeface="Consolas" pitchFamily="34" charset="-122"/>
                <a:cs typeface="Consolas" pitchFamily="34" charset="-120"/>
              </a:rPr>
              <a:t>UOnlineSessionsSubsystem</a:t>
            </a:r>
            <a:endParaRPr lang="en-US" sz="1100" dirty="0"/>
          </a:p>
        </p:txBody>
      </p:sp>
      <p:sp>
        <p:nvSpPr>
          <p:cNvPr id="22" name="Text 20"/>
          <p:cNvSpPr txBox="1"/>
          <p:nvPr/>
        </p:nvSpPr>
        <p:spPr>
          <a:xfrm>
            <a:off x="640080" y="3017520"/>
            <a:ext cx="3657600" cy="160020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Create: 남은 세션이 있으면 Destroy 후 이어서 만든다</a:t>
            </a:r>
            <a:endParaRPr lang="en-US" sz="1050" dirty="0"/>
          </a:p>
          <a:p>
            <a:pPr marL="152400" indent="-152400">
              <a:spcAft>
                <a:spcPts val="5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Find: 검색 전에 잠금 신호를 보내 새로고침 버튼을 막는다</a:t>
            </a:r>
            <a:endParaRPr lang="en-US" sz="1050" dirty="0"/>
          </a:p>
          <a:p>
            <a:pPr marL="152400" indent="-152400">
              <a:spcAft>
                <a:spcPts val="5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Join: 인덱스 대신 검색 결과를 통째로 복사해 쓴다</a:t>
            </a:r>
            <a:endParaRPr lang="en-US" sz="1050" dirty="0"/>
          </a:p>
          <a:p>
            <a:pPr marL="152400" indent="-152400">
              <a:spcAft>
                <a:spcPts val="5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비공개 키 MINTCHOCO_ID와 BuildId로 남의 480 로비를 거른다</a:t>
            </a:r>
            <a:endParaRPr lang="en-US" sz="1050" dirty="0"/>
          </a:p>
        </p:txBody>
      </p:sp>
      <p:sp>
        <p:nvSpPr>
          <p:cNvPr id="23" name="Shape 21"/>
          <p:cNvSpPr/>
          <p:nvPr/>
        </p:nvSpPr>
        <p:spPr>
          <a:xfrm>
            <a:off x="4709160" y="2560320"/>
            <a:ext cx="3977640" cy="2103120"/>
          </a:xfrm>
          <a:prstGeom prst="roundRect">
            <a:avLst>
              <a:gd name="adj" fmla="val 3478"/>
            </a:avLst>
          </a:prstGeom>
          <a:solidFill>
            <a:srgbClr val="F3ECE6"/>
          </a:solidFill>
          <a:ln w="12700">
            <a:solidFill>
              <a:srgbClr val="F3ECE6"/>
            </a:solidFill>
            <a:prstDash val="solid"/>
          </a:ln>
        </p:spPr>
        <p:txBody>
          <a:bodyPr/>
          <a:lstStyle/>
          <a:p>
            <a:endParaRPr lang="ko-KR" altLang="en-US"/>
          </a:p>
        </p:txBody>
      </p:sp>
      <p:sp>
        <p:nvSpPr>
          <p:cNvPr id="24" name="Text 22"/>
          <p:cNvSpPr txBox="1"/>
          <p:nvPr/>
        </p:nvSpPr>
        <p:spPr>
          <a:xfrm>
            <a:off x="4892040" y="2697480"/>
            <a:ext cx="3657600" cy="274320"/>
          </a:xfrm>
          <a:prstGeom prst="rect">
            <a:avLst/>
          </a:prstGeom>
          <a:noFill/>
          <a:ln/>
        </p:spPr>
        <p:txBody>
          <a:bodyPr wrap="square" lIns="0" tIns="0" rIns="0" bIns="0" rtlCol="0" anchor="t"/>
          <a:lstStyle/>
          <a:p>
            <a:pPr marL="0" indent="0">
              <a:buNone/>
            </a:pPr>
            <a:r>
              <a:rPr lang="en-US" sz="1100" b="1" dirty="0">
                <a:solidFill>
                  <a:srgbClr val="6B4430"/>
                </a:solidFill>
                <a:latin typeface="Malgun Gothic" pitchFamily="34" charset="0"/>
                <a:ea typeface="Malgun Gothic" pitchFamily="34" charset="-122"/>
                <a:cs typeface="Malgun Gothic" pitchFamily="34" charset="-120"/>
              </a:rPr>
              <a:t>경기 단계 (AGameGameState)</a:t>
            </a:r>
            <a:endParaRPr lang="en-US" sz="1100" dirty="0"/>
          </a:p>
        </p:txBody>
      </p:sp>
      <p:sp>
        <p:nvSpPr>
          <p:cNvPr id="25" name="Text 23"/>
          <p:cNvSpPr txBox="1"/>
          <p:nvPr/>
        </p:nvSpPr>
        <p:spPr>
          <a:xfrm>
            <a:off x="4892040" y="3017520"/>
            <a:ext cx="3657600" cy="160020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WaitingForPlayers → Countdown → Playing → Ended</a:t>
            </a:r>
            <a:endParaRPr lang="en-US" sz="1050" dirty="0"/>
          </a:p>
          <a:p>
            <a:pPr marL="152400" indent="-152400">
              <a:spcAft>
                <a:spcPts val="5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끝나는 시각만 복제하고 남은 시간은 각 머신이 계산한다</a:t>
            </a:r>
            <a:endParaRPr lang="en-US" sz="1050" dirty="0"/>
          </a:p>
          <a:p>
            <a:pPr marL="152400" indent="-152400">
              <a:spcAft>
                <a:spcPts val="5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결과 연출은 복제된 값으로 각자 재생하고 RPC가 없다</a:t>
            </a:r>
            <a:endParaRPr lang="en-US" sz="1050" dirty="0"/>
          </a:p>
          <a:p>
            <a:pPr marL="152400" indent="-152400">
              <a:spcAft>
                <a:spcPts val="5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로비로 돌아가기 전에 EndSession을 부른다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ONLINE · TROUBLESHOOTING</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네트워크에서 풀어낸 문제</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18</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426208"/>
        </p:xfrm>
        <a:graphic>
          <a:graphicData uri="http://schemas.openxmlformats.org/drawingml/2006/table">
            <a:tbl>
              <a:tblPr/>
              <a:tblGrid>
                <a:gridCol w="25603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증상</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원인</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처리</a:t>
                      </a:r>
                      <a:endParaRPr lang="en-US" sz="110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6B4430"/>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로비로 돌아오면 플레이어 초기화가 빠진다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seamless travel은 PostLogin을 부르지 않는다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InitLobbyPlayer를 PostLogin과 HandleSeamlessTravelPlayer 양쪽에서 부른다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로비 복귀 뒤 한 클라이언트에서만 페인트·아이템이 사라진다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GC 후 90초가 지나면 NetGUID 캐시가 만료돼 NOT_IN_CACHE가 난다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NetAssetRetainerSubsystem이 복제 참조 에셋을 계속 붙들고 net CVar 두 개를 켠다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다음 경기가 열리지 않는다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InProgress 세션은 엔진이 다시 시작하지 않는다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ReturnToLobby에서 EndOnlineSession 후 이동한다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extLst>
                  <a:ext uri="{0D108BD9-81ED-4DB2-BD59-A6C34878D82A}">
                    <a16:rowId xmlns:a16="http://schemas.microsoft.com/office/drawing/2014/main" val="10003"/>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Create 한 번에 모든 PIE 창이 반응한다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월드 없이 IOnlineSubsystem::Get()을 썼다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Online::GetSubsystem(GetWorld())로 창마다 따로 얻는다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050" b="1" dirty="0">
                          <a:solidFill>
                            <a:srgbClr val="2A221D"/>
                          </a:solidFill>
                          <a:latin typeface="Malgun Gothic" pitchFamily="34" charset="0"/>
                          <a:ea typeface="Malgun Gothic" pitchFamily="34" charset="-122"/>
                          <a:cs typeface="Malgun Gothic" pitchFamily="34" charset="-120"/>
                        </a:rPr>
                        <a:t>팀 정보가 빠지면 조용히 민트가 된다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Team 기본값 0이 민트와 같다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tc>
                  <a:txBody>
                    <a:bodyPr/>
                    <a:lstStyle/>
                    <a:p>
                      <a:pPr marL="0" indent="0">
                        <a:buNone/>
                      </a:pPr>
                      <a:r>
                        <a:rPr lang="en-US" sz="1050" dirty="0">
                          <a:solidFill>
                            <a:srgbClr val="2A221D"/>
                          </a:solidFill>
                          <a:latin typeface="Malgun Gothic" pitchFamily="34" charset="0"/>
                          <a:ea typeface="Malgun Gothic" pitchFamily="34" charset="-122"/>
                          <a:cs typeface="Malgun Gothic" pitchFamily="34" charset="-120"/>
                        </a:rPr>
                        <a:t>기본값을 Teams::None(-1)으로 둬 누락이 드러나게 한다</a:t>
                      </a:r>
                      <a:endParaRPr lang="en-US" sz="1050" dirty="0">
                        <a:latin typeface="Malgun Gothic" charset="0"/>
                        <a:ea typeface="Malgun Gothic" charset="0"/>
                        <a:cs typeface="Malgun Gothic" charset="0"/>
                      </a:endParaRPr>
                    </a:p>
                  </a:txBody>
                  <a:tcPr marL="73152" marR="73152"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F3ECE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ONLINE · SCREEN FADE</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가림막이 열려야 경기가 시작된다</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19</a:t>
            </a:r>
            <a:endParaRPr lang="en-US" sz="900" dirty="0"/>
          </a:p>
        </p:txBody>
      </p:sp>
      <p:sp>
        <p:nvSpPr>
          <p:cNvPr id="7" name="Text 5"/>
          <p:cNvSpPr txBox="1"/>
          <p:nvPr/>
        </p:nvSpPr>
        <p:spPr>
          <a:xfrm>
            <a:off x="457200" y="1234440"/>
            <a:ext cx="3657600" cy="201168"/>
          </a:xfrm>
          <a:prstGeom prst="rect">
            <a:avLst/>
          </a:prstGeom>
          <a:noFill/>
          <a:ln/>
        </p:spPr>
        <p:txBody>
          <a:bodyPr wrap="square" lIns="0" tIns="0" rIns="0" bIns="0" rtlCol="0" anchor="t"/>
          <a:lstStyle/>
          <a:p>
            <a:pPr marL="0" indent="0">
              <a:buNone/>
            </a:pPr>
            <a:r>
              <a:rPr lang="en-US" sz="900" dirty="0">
                <a:solidFill>
                  <a:srgbClr val="6E655F"/>
                </a:solidFill>
                <a:latin typeface="Consolas" pitchFamily="34" charset="0"/>
                <a:ea typeface="Consolas" pitchFamily="34" charset="-122"/>
                <a:cs typeface="Consolas" pitchFamily="34" charset="-120"/>
              </a:rPr>
              <a:t>가림막 · GameInstance · 각 머신</a:t>
            </a:r>
            <a:endParaRPr lang="en-US" sz="900" dirty="0"/>
          </a:p>
        </p:txBody>
      </p:sp>
      <p:sp>
        <p:nvSpPr>
          <p:cNvPr id="8" name="Shape 6"/>
          <p:cNvSpPr/>
          <p:nvPr/>
        </p:nvSpPr>
        <p:spPr>
          <a:xfrm>
            <a:off x="457200" y="1508760"/>
            <a:ext cx="1417320" cy="566928"/>
          </a:xfrm>
          <a:prstGeom prst="roundRect">
            <a:avLst>
              <a:gd name="adj" fmla="val 8065"/>
            </a:avLst>
          </a:prstGeom>
          <a:solidFill>
            <a:srgbClr val="FFFFFF"/>
          </a:solidFill>
          <a:ln w="9525">
            <a:solidFill>
              <a:srgbClr val="8E8780"/>
            </a:solidFill>
            <a:prstDash val="solid"/>
          </a:ln>
        </p:spPr>
      </p:sp>
      <p:sp>
        <p:nvSpPr>
          <p:cNvPr id="9" name="Text 7"/>
          <p:cNvSpPr txBox="1"/>
          <p:nvPr/>
        </p:nvSpPr>
        <p:spPr>
          <a:xfrm>
            <a:off x="457200" y="1563624"/>
            <a:ext cx="141732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FadingOut</a:t>
            </a:r>
            <a:endParaRPr lang="en-US" sz="1000" dirty="0"/>
          </a:p>
        </p:txBody>
      </p:sp>
      <p:sp>
        <p:nvSpPr>
          <p:cNvPr id="10" name="Text 8"/>
          <p:cNvSpPr txBox="1"/>
          <p:nvPr/>
        </p:nvSpPr>
        <p:spPr>
          <a:xfrm>
            <a:off x="457200" y="1792224"/>
            <a:ext cx="141732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릴레이 멀티캐스트</a:t>
            </a:r>
            <a:endParaRPr lang="en-US" sz="850" dirty="0"/>
          </a:p>
        </p:txBody>
      </p:sp>
      <p:sp>
        <p:nvSpPr>
          <p:cNvPr id="11" name="Shape 9"/>
          <p:cNvSpPr/>
          <p:nvPr/>
        </p:nvSpPr>
        <p:spPr>
          <a:xfrm>
            <a:off x="1874520" y="1792224"/>
            <a:ext cx="283464" cy="0"/>
          </a:xfrm>
          <a:prstGeom prst="line">
            <a:avLst/>
          </a:prstGeom>
          <a:noFill/>
          <a:ln w="12700">
            <a:solidFill>
              <a:srgbClr val="8E8780"/>
            </a:solidFill>
            <a:prstDash val="solid"/>
            <a:tailEnd type="triangle"/>
          </a:ln>
        </p:spPr>
      </p:sp>
      <p:sp>
        <p:nvSpPr>
          <p:cNvPr id="12" name="Shape 10"/>
          <p:cNvSpPr/>
          <p:nvPr/>
        </p:nvSpPr>
        <p:spPr>
          <a:xfrm>
            <a:off x="2157984" y="1508760"/>
            <a:ext cx="1417320" cy="566928"/>
          </a:xfrm>
          <a:prstGeom prst="roundRect">
            <a:avLst>
              <a:gd name="adj" fmla="val 8065"/>
            </a:avLst>
          </a:prstGeom>
          <a:solidFill>
            <a:srgbClr val="FFFFFF"/>
          </a:solidFill>
          <a:ln w="9525">
            <a:solidFill>
              <a:srgbClr val="8E8780"/>
            </a:solidFill>
            <a:prstDash val="solid"/>
          </a:ln>
        </p:spPr>
      </p:sp>
      <p:sp>
        <p:nvSpPr>
          <p:cNvPr id="13" name="Text 11"/>
          <p:cNvSpPr txBox="1"/>
          <p:nvPr/>
        </p:nvSpPr>
        <p:spPr>
          <a:xfrm>
            <a:off x="2157984" y="1563624"/>
            <a:ext cx="141732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Covered</a:t>
            </a:r>
            <a:endParaRPr lang="en-US" sz="1000" dirty="0"/>
          </a:p>
        </p:txBody>
      </p:sp>
      <p:sp>
        <p:nvSpPr>
          <p:cNvPr id="14" name="Text 12"/>
          <p:cNvSpPr txBox="1"/>
          <p:nvPr/>
        </p:nvSpPr>
        <p:spPr>
          <a:xfrm>
            <a:off x="2157984" y="1792224"/>
            <a:ext cx="141732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0.2초 뒤 ServerTravel</a:t>
            </a:r>
            <a:endParaRPr lang="en-US" sz="850" dirty="0"/>
          </a:p>
        </p:txBody>
      </p:sp>
      <p:sp>
        <p:nvSpPr>
          <p:cNvPr id="15" name="Shape 13"/>
          <p:cNvSpPr/>
          <p:nvPr/>
        </p:nvSpPr>
        <p:spPr>
          <a:xfrm>
            <a:off x="3575304" y="1792224"/>
            <a:ext cx="283464" cy="0"/>
          </a:xfrm>
          <a:prstGeom prst="line">
            <a:avLst/>
          </a:prstGeom>
          <a:noFill/>
          <a:ln w="12700">
            <a:solidFill>
              <a:srgbClr val="8E8780"/>
            </a:solidFill>
            <a:prstDash val="solid"/>
            <a:tailEnd type="triangle"/>
          </a:ln>
        </p:spPr>
      </p:sp>
      <p:sp>
        <p:nvSpPr>
          <p:cNvPr id="16" name="Shape 14"/>
          <p:cNvSpPr/>
          <p:nvPr/>
        </p:nvSpPr>
        <p:spPr>
          <a:xfrm>
            <a:off x="3858768" y="1508760"/>
            <a:ext cx="1417320" cy="566928"/>
          </a:xfrm>
          <a:prstGeom prst="roundRect">
            <a:avLst>
              <a:gd name="adj" fmla="val 8065"/>
            </a:avLst>
          </a:prstGeom>
          <a:solidFill>
            <a:srgbClr val="FFFFFF"/>
          </a:solidFill>
          <a:ln w="9525">
            <a:solidFill>
              <a:srgbClr val="8E8780"/>
            </a:solidFill>
            <a:prstDash val="solid"/>
          </a:ln>
        </p:spPr>
      </p:sp>
      <p:sp>
        <p:nvSpPr>
          <p:cNvPr id="17" name="Text 15"/>
          <p:cNvSpPr txBox="1"/>
          <p:nvPr/>
        </p:nvSpPr>
        <p:spPr>
          <a:xfrm>
            <a:off x="3858768" y="1563624"/>
            <a:ext cx="141732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WaitingForReady</a:t>
            </a:r>
            <a:endParaRPr lang="en-US" sz="1000" dirty="0"/>
          </a:p>
        </p:txBody>
      </p:sp>
      <p:sp>
        <p:nvSpPr>
          <p:cNvPr id="18" name="Text 16"/>
          <p:cNvSpPr txBox="1"/>
          <p:nvPr/>
        </p:nvSpPr>
        <p:spPr>
          <a:xfrm>
            <a:off x="3858768" y="1792224"/>
            <a:ext cx="141732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새 맵 · Warmup 홀드</a:t>
            </a:r>
            <a:endParaRPr lang="en-US" sz="850" dirty="0"/>
          </a:p>
        </p:txBody>
      </p:sp>
      <p:sp>
        <p:nvSpPr>
          <p:cNvPr id="19" name="Shape 17"/>
          <p:cNvSpPr/>
          <p:nvPr/>
        </p:nvSpPr>
        <p:spPr>
          <a:xfrm>
            <a:off x="5276088" y="1792224"/>
            <a:ext cx="283464" cy="0"/>
          </a:xfrm>
          <a:prstGeom prst="line">
            <a:avLst/>
          </a:prstGeom>
          <a:noFill/>
          <a:ln w="12700">
            <a:solidFill>
              <a:srgbClr val="8E8780"/>
            </a:solidFill>
            <a:prstDash val="solid"/>
            <a:tailEnd type="triangle"/>
          </a:ln>
        </p:spPr>
      </p:sp>
      <p:sp>
        <p:nvSpPr>
          <p:cNvPr id="20" name="Shape 18"/>
          <p:cNvSpPr/>
          <p:nvPr/>
        </p:nvSpPr>
        <p:spPr>
          <a:xfrm>
            <a:off x="5559552" y="1508760"/>
            <a:ext cx="1417320" cy="566928"/>
          </a:xfrm>
          <a:prstGeom prst="roundRect">
            <a:avLst>
              <a:gd name="adj" fmla="val 8065"/>
            </a:avLst>
          </a:prstGeom>
          <a:solidFill>
            <a:srgbClr val="FFFFFF"/>
          </a:solidFill>
          <a:ln w="9525">
            <a:solidFill>
              <a:srgbClr val="8E8780"/>
            </a:solidFill>
            <a:prstDash val="solid"/>
          </a:ln>
        </p:spPr>
      </p:sp>
      <p:sp>
        <p:nvSpPr>
          <p:cNvPr id="21" name="Text 19"/>
          <p:cNvSpPr txBox="1"/>
          <p:nvPr/>
        </p:nvSpPr>
        <p:spPr>
          <a:xfrm>
            <a:off x="5559552" y="1563624"/>
            <a:ext cx="141732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FadingIn</a:t>
            </a:r>
            <a:endParaRPr lang="en-US" sz="1000" dirty="0"/>
          </a:p>
        </p:txBody>
      </p:sp>
      <p:sp>
        <p:nvSpPr>
          <p:cNvPr id="22" name="Text 20"/>
          <p:cNvSpPr txBox="1"/>
          <p:nvPr/>
        </p:nvSpPr>
        <p:spPr>
          <a:xfrm>
            <a:off x="5559552" y="1792224"/>
            <a:ext cx="141732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준비 완료 또는 18초</a:t>
            </a:r>
            <a:endParaRPr lang="en-US" sz="850" dirty="0"/>
          </a:p>
        </p:txBody>
      </p:sp>
      <p:sp>
        <p:nvSpPr>
          <p:cNvPr id="23" name="Shape 21"/>
          <p:cNvSpPr/>
          <p:nvPr/>
        </p:nvSpPr>
        <p:spPr>
          <a:xfrm>
            <a:off x="6976872" y="1792224"/>
            <a:ext cx="283464" cy="0"/>
          </a:xfrm>
          <a:prstGeom prst="line">
            <a:avLst/>
          </a:prstGeom>
          <a:noFill/>
          <a:ln w="12700">
            <a:solidFill>
              <a:srgbClr val="8E8780"/>
            </a:solidFill>
            <a:prstDash val="solid"/>
            <a:tailEnd type="triangle"/>
          </a:ln>
        </p:spPr>
      </p:sp>
      <p:sp>
        <p:nvSpPr>
          <p:cNvPr id="24" name="Shape 22"/>
          <p:cNvSpPr/>
          <p:nvPr/>
        </p:nvSpPr>
        <p:spPr>
          <a:xfrm>
            <a:off x="7260336" y="1508760"/>
            <a:ext cx="1417320" cy="566928"/>
          </a:xfrm>
          <a:prstGeom prst="roundRect">
            <a:avLst>
              <a:gd name="adj" fmla="val 8065"/>
            </a:avLst>
          </a:prstGeom>
          <a:solidFill>
            <a:srgbClr val="E2F4EF"/>
          </a:solidFill>
          <a:ln w="9525">
            <a:solidFill>
              <a:srgbClr val="1FA88E"/>
            </a:solidFill>
            <a:prstDash val="solid"/>
          </a:ln>
        </p:spPr>
      </p:sp>
      <p:sp>
        <p:nvSpPr>
          <p:cNvPr id="25" name="Text 23"/>
          <p:cNvSpPr txBox="1"/>
          <p:nvPr/>
        </p:nvSpPr>
        <p:spPr>
          <a:xfrm>
            <a:off x="7260336" y="1563624"/>
            <a:ext cx="141732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Clear</a:t>
            </a:r>
            <a:endParaRPr lang="en-US" sz="1000" dirty="0"/>
          </a:p>
        </p:txBody>
      </p:sp>
      <p:sp>
        <p:nvSpPr>
          <p:cNvPr id="26" name="Text 24"/>
          <p:cNvSpPr txBox="1"/>
          <p:nvPr/>
        </p:nvSpPr>
        <p:spPr>
          <a:xfrm>
            <a:off x="7260336" y="1792224"/>
            <a:ext cx="141732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PlayerState · 폰 · 홀드 0</a:t>
            </a:r>
            <a:endParaRPr lang="en-US" sz="850" dirty="0"/>
          </a:p>
        </p:txBody>
      </p:sp>
      <p:sp>
        <p:nvSpPr>
          <p:cNvPr id="27" name="Text 25"/>
          <p:cNvSpPr txBox="1"/>
          <p:nvPr/>
        </p:nvSpPr>
        <p:spPr>
          <a:xfrm>
            <a:off x="5029200" y="3154680"/>
            <a:ext cx="3657600" cy="201168"/>
          </a:xfrm>
          <a:prstGeom prst="rect">
            <a:avLst/>
          </a:prstGeom>
          <a:noFill/>
          <a:ln/>
        </p:spPr>
        <p:txBody>
          <a:bodyPr wrap="square" lIns="0" tIns="0" rIns="0" bIns="0" rtlCol="0" anchor="t"/>
          <a:lstStyle/>
          <a:p>
            <a:pPr marL="0" indent="0" algn="r">
              <a:buNone/>
            </a:pPr>
            <a:r>
              <a:rPr lang="en-US" sz="900" dirty="0">
                <a:solidFill>
                  <a:srgbClr val="6E655F"/>
                </a:solidFill>
                <a:latin typeface="Consolas" pitchFamily="34" charset="0"/>
                <a:ea typeface="Consolas" pitchFamily="34" charset="-122"/>
                <a:cs typeface="Consolas" pitchFamily="34" charset="-120"/>
              </a:rPr>
              <a:t>경기 단계 · GameState · 복제</a:t>
            </a:r>
            <a:endParaRPr lang="en-US" sz="900" dirty="0"/>
          </a:p>
        </p:txBody>
      </p:sp>
      <p:sp>
        <p:nvSpPr>
          <p:cNvPr id="28" name="Shape 26"/>
          <p:cNvSpPr/>
          <p:nvPr/>
        </p:nvSpPr>
        <p:spPr>
          <a:xfrm>
            <a:off x="457200" y="3429000"/>
            <a:ext cx="1828800" cy="566928"/>
          </a:xfrm>
          <a:prstGeom prst="roundRect">
            <a:avLst>
              <a:gd name="adj" fmla="val 8065"/>
            </a:avLst>
          </a:prstGeom>
          <a:solidFill>
            <a:srgbClr val="F3ECE6"/>
          </a:solidFill>
          <a:ln w="9525">
            <a:solidFill>
              <a:srgbClr val="6B4430"/>
            </a:solidFill>
            <a:prstDash val="solid"/>
          </a:ln>
        </p:spPr>
      </p:sp>
      <p:sp>
        <p:nvSpPr>
          <p:cNvPr id="29" name="Text 27"/>
          <p:cNvSpPr txBox="1"/>
          <p:nvPr/>
        </p:nvSpPr>
        <p:spPr>
          <a:xfrm>
            <a:off x="457200" y="3483864"/>
            <a:ext cx="182880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WaitingForPlayers</a:t>
            </a:r>
            <a:endParaRPr lang="en-US" sz="1000" dirty="0"/>
          </a:p>
        </p:txBody>
      </p:sp>
      <p:sp>
        <p:nvSpPr>
          <p:cNvPr id="30" name="Text 28"/>
          <p:cNvSpPr txBox="1"/>
          <p:nvPr/>
        </p:nvSpPr>
        <p:spPr>
          <a:xfrm>
            <a:off x="457200" y="3712464"/>
            <a:ext cx="182880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0.25초마다 확인 · 20초 상한</a:t>
            </a:r>
            <a:endParaRPr lang="en-US" sz="850" dirty="0"/>
          </a:p>
        </p:txBody>
      </p:sp>
      <p:sp>
        <p:nvSpPr>
          <p:cNvPr id="31" name="Shape 29"/>
          <p:cNvSpPr/>
          <p:nvPr/>
        </p:nvSpPr>
        <p:spPr>
          <a:xfrm>
            <a:off x="2286000" y="3712464"/>
            <a:ext cx="301752" cy="0"/>
          </a:xfrm>
          <a:prstGeom prst="line">
            <a:avLst/>
          </a:prstGeom>
          <a:noFill/>
          <a:ln w="12700">
            <a:solidFill>
              <a:srgbClr val="8E8780"/>
            </a:solidFill>
            <a:prstDash val="solid"/>
            <a:tailEnd type="triangle"/>
          </a:ln>
        </p:spPr>
      </p:sp>
      <p:sp>
        <p:nvSpPr>
          <p:cNvPr id="32" name="Shape 30"/>
          <p:cNvSpPr/>
          <p:nvPr/>
        </p:nvSpPr>
        <p:spPr>
          <a:xfrm>
            <a:off x="2587752" y="3429000"/>
            <a:ext cx="1828800" cy="566928"/>
          </a:xfrm>
          <a:prstGeom prst="roundRect">
            <a:avLst>
              <a:gd name="adj" fmla="val 8065"/>
            </a:avLst>
          </a:prstGeom>
          <a:solidFill>
            <a:srgbClr val="F3ECE6"/>
          </a:solidFill>
          <a:ln w="9525">
            <a:solidFill>
              <a:srgbClr val="6B4430"/>
            </a:solidFill>
            <a:prstDash val="solid"/>
          </a:ln>
        </p:spPr>
      </p:sp>
      <p:sp>
        <p:nvSpPr>
          <p:cNvPr id="33" name="Text 31"/>
          <p:cNvSpPr txBox="1"/>
          <p:nvPr/>
        </p:nvSpPr>
        <p:spPr>
          <a:xfrm>
            <a:off x="2587752" y="3483864"/>
            <a:ext cx="182880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Countdown</a:t>
            </a:r>
            <a:endParaRPr lang="en-US" sz="1000" dirty="0"/>
          </a:p>
        </p:txBody>
      </p:sp>
      <p:sp>
        <p:nvSpPr>
          <p:cNvPr id="34" name="Text 32"/>
          <p:cNvSpPr txBox="1"/>
          <p:nvPr/>
        </p:nvSpPr>
        <p:spPr>
          <a:xfrm>
            <a:off x="2587752" y="3712464"/>
            <a:ext cx="182880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3초</a:t>
            </a:r>
            <a:endParaRPr lang="en-US" sz="850" dirty="0"/>
          </a:p>
        </p:txBody>
      </p:sp>
      <p:sp>
        <p:nvSpPr>
          <p:cNvPr id="35" name="Shape 33"/>
          <p:cNvSpPr/>
          <p:nvPr/>
        </p:nvSpPr>
        <p:spPr>
          <a:xfrm>
            <a:off x="4416552" y="3712464"/>
            <a:ext cx="301752" cy="0"/>
          </a:xfrm>
          <a:prstGeom prst="line">
            <a:avLst/>
          </a:prstGeom>
          <a:noFill/>
          <a:ln w="12700">
            <a:solidFill>
              <a:srgbClr val="8E8780"/>
            </a:solidFill>
            <a:prstDash val="solid"/>
            <a:tailEnd type="triangle"/>
          </a:ln>
        </p:spPr>
      </p:sp>
      <p:sp>
        <p:nvSpPr>
          <p:cNvPr id="36" name="Shape 34"/>
          <p:cNvSpPr/>
          <p:nvPr/>
        </p:nvSpPr>
        <p:spPr>
          <a:xfrm>
            <a:off x="4718304" y="3429000"/>
            <a:ext cx="1828800" cy="566928"/>
          </a:xfrm>
          <a:prstGeom prst="roundRect">
            <a:avLst>
              <a:gd name="adj" fmla="val 8065"/>
            </a:avLst>
          </a:prstGeom>
          <a:solidFill>
            <a:srgbClr val="F3ECE6"/>
          </a:solidFill>
          <a:ln w="9525">
            <a:solidFill>
              <a:srgbClr val="6B4430"/>
            </a:solidFill>
            <a:prstDash val="solid"/>
          </a:ln>
        </p:spPr>
      </p:sp>
      <p:sp>
        <p:nvSpPr>
          <p:cNvPr id="37" name="Text 35"/>
          <p:cNvSpPr txBox="1"/>
          <p:nvPr/>
        </p:nvSpPr>
        <p:spPr>
          <a:xfrm>
            <a:off x="4718304" y="3483864"/>
            <a:ext cx="182880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Playing</a:t>
            </a:r>
            <a:endParaRPr lang="en-US" sz="1000" dirty="0"/>
          </a:p>
        </p:txBody>
      </p:sp>
      <p:sp>
        <p:nvSpPr>
          <p:cNvPr id="38" name="Text 36"/>
          <p:cNvSpPr txBox="1"/>
          <p:nvPr/>
        </p:nvSpPr>
        <p:spPr>
          <a:xfrm>
            <a:off x="4718304" y="3712464"/>
            <a:ext cx="182880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90초 · 이동과 사격 허용</a:t>
            </a:r>
            <a:endParaRPr lang="en-US" sz="850" dirty="0"/>
          </a:p>
        </p:txBody>
      </p:sp>
      <p:sp>
        <p:nvSpPr>
          <p:cNvPr id="39" name="Shape 37"/>
          <p:cNvSpPr/>
          <p:nvPr/>
        </p:nvSpPr>
        <p:spPr>
          <a:xfrm>
            <a:off x="6547104" y="3712464"/>
            <a:ext cx="301752" cy="0"/>
          </a:xfrm>
          <a:prstGeom prst="line">
            <a:avLst/>
          </a:prstGeom>
          <a:noFill/>
          <a:ln w="12700">
            <a:solidFill>
              <a:srgbClr val="8E8780"/>
            </a:solidFill>
            <a:prstDash val="solid"/>
            <a:tailEnd type="triangle"/>
          </a:ln>
        </p:spPr>
      </p:sp>
      <p:sp>
        <p:nvSpPr>
          <p:cNvPr id="40" name="Shape 38"/>
          <p:cNvSpPr/>
          <p:nvPr/>
        </p:nvSpPr>
        <p:spPr>
          <a:xfrm>
            <a:off x="6848856" y="3429000"/>
            <a:ext cx="1828800" cy="566928"/>
          </a:xfrm>
          <a:prstGeom prst="roundRect">
            <a:avLst>
              <a:gd name="adj" fmla="val 8065"/>
            </a:avLst>
          </a:prstGeom>
          <a:solidFill>
            <a:srgbClr val="F3ECE6"/>
          </a:solidFill>
          <a:ln w="9525">
            <a:solidFill>
              <a:srgbClr val="6B4430"/>
            </a:solidFill>
            <a:prstDash val="solid"/>
          </a:ln>
        </p:spPr>
      </p:sp>
      <p:sp>
        <p:nvSpPr>
          <p:cNvPr id="41" name="Text 39"/>
          <p:cNvSpPr txBox="1"/>
          <p:nvPr/>
        </p:nvSpPr>
        <p:spPr>
          <a:xfrm>
            <a:off x="6848856" y="3483864"/>
            <a:ext cx="1828800" cy="246888"/>
          </a:xfrm>
          <a:prstGeom prst="rect">
            <a:avLst/>
          </a:prstGeom>
          <a:noFill/>
          <a:ln/>
        </p:spPr>
        <p:txBody>
          <a:bodyPr wrap="square" lIns="0" tIns="0" rIns="0" bIns="0" rtlCol="0" anchor="ctr"/>
          <a:lstStyle/>
          <a:p>
            <a:pPr marL="0" indent="0" algn="ctr">
              <a:buNone/>
            </a:pPr>
            <a:r>
              <a:rPr lang="en-US" sz="1000" b="1" dirty="0">
                <a:solidFill>
                  <a:srgbClr val="2B1B12"/>
                </a:solidFill>
                <a:latin typeface="Consolas" pitchFamily="34" charset="0"/>
                <a:ea typeface="Consolas" pitchFamily="34" charset="-122"/>
                <a:cs typeface="Consolas" pitchFamily="34" charset="-120"/>
              </a:rPr>
              <a:t>Ended</a:t>
            </a:r>
            <a:endParaRPr lang="en-US" sz="1000" dirty="0"/>
          </a:p>
        </p:txBody>
      </p:sp>
      <p:sp>
        <p:nvSpPr>
          <p:cNvPr id="42" name="Text 40"/>
          <p:cNvSpPr txBox="1"/>
          <p:nvPr/>
        </p:nvSpPr>
        <p:spPr>
          <a:xfrm>
            <a:off x="6848856" y="3712464"/>
            <a:ext cx="1828800" cy="228600"/>
          </a:xfrm>
          <a:prstGeom prst="rect">
            <a:avLst/>
          </a:prstGeom>
          <a:noFill/>
          <a:ln/>
        </p:spPr>
        <p:txBody>
          <a:bodyPr wrap="square" lIns="0" tIns="0" rIns="0" bIns="0" rtlCol="0" anchor="ctr"/>
          <a:lstStyle/>
          <a:p>
            <a:pPr marL="0" indent="0" algn="ctr">
              <a:buNone/>
            </a:pPr>
            <a:r>
              <a:rPr lang="en-US" sz="850" dirty="0">
                <a:solidFill>
                  <a:srgbClr val="6E655F"/>
                </a:solidFill>
                <a:latin typeface="Malgun Gothic" pitchFamily="34" charset="0"/>
                <a:ea typeface="Malgun Gothic" pitchFamily="34" charset="-122"/>
                <a:cs typeface="Malgun Gothic" pitchFamily="34" charset="-120"/>
              </a:rPr>
              <a:t>결과 연출 → 로비</a:t>
            </a:r>
            <a:endParaRPr lang="en-US" sz="850" dirty="0"/>
          </a:p>
        </p:txBody>
      </p:sp>
      <p:sp>
        <p:nvSpPr>
          <p:cNvPr id="43" name="Shape 41"/>
          <p:cNvSpPr/>
          <p:nvPr/>
        </p:nvSpPr>
        <p:spPr>
          <a:xfrm>
            <a:off x="7968996" y="2075688"/>
            <a:ext cx="0" cy="621792"/>
          </a:xfrm>
          <a:prstGeom prst="line">
            <a:avLst/>
          </a:prstGeom>
          <a:noFill/>
          <a:ln w="25400">
            <a:solidFill>
              <a:srgbClr val="1FA88E"/>
            </a:solidFill>
            <a:prstDash val="solid"/>
          </a:ln>
        </p:spPr>
      </p:sp>
      <p:sp>
        <p:nvSpPr>
          <p:cNvPr id="44" name="Shape 42"/>
          <p:cNvSpPr/>
          <p:nvPr/>
        </p:nvSpPr>
        <p:spPr>
          <a:xfrm>
            <a:off x="2436876" y="2697480"/>
            <a:ext cx="5532120" cy="0"/>
          </a:xfrm>
          <a:prstGeom prst="line">
            <a:avLst/>
          </a:prstGeom>
          <a:noFill/>
          <a:ln w="25400">
            <a:solidFill>
              <a:srgbClr val="1FA88E"/>
            </a:solidFill>
            <a:prstDash val="solid"/>
          </a:ln>
        </p:spPr>
      </p:sp>
      <p:sp>
        <p:nvSpPr>
          <p:cNvPr id="45" name="Shape 43"/>
          <p:cNvSpPr/>
          <p:nvPr/>
        </p:nvSpPr>
        <p:spPr>
          <a:xfrm>
            <a:off x="2436876" y="2697480"/>
            <a:ext cx="0" cy="960120"/>
          </a:xfrm>
          <a:prstGeom prst="line">
            <a:avLst/>
          </a:prstGeom>
          <a:noFill/>
          <a:ln w="25400">
            <a:solidFill>
              <a:srgbClr val="1FA88E"/>
            </a:solidFill>
            <a:prstDash val="solid"/>
            <a:tailEnd type="triangle"/>
          </a:ln>
        </p:spPr>
      </p:sp>
      <p:sp>
        <p:nvSpPr>
          <p:cNvPr id="46" name="Text 44"/>
          <p:cNvSpPr txBox="1"/>
          <p:nvPr/>
        </p:nvSpPr>
        <p:spPr>
          <a:xfrm>
            <a:off x="2436876" y="2423160"/>
            <a:ext cx="5532120" cy="228600"/>
          </a:xfrm>
          <a:prstGeom prst="rect">
            <a:avLst/>
          </a:prstGeom>
          <a:noFill/>
          <a:ln/>
        </p:spPr>
        <p:txBody>
          <a:bodyPr wrap="square" lIns="0" tIns="0" rIns="0" bIns="0" rtlCol="0" anchor="t"/>
          <a:lstStyle/>
          <a:p>
            <a:pPr marL="0" indent="0" algn="ctr">
              <a:buNone/>
            </a:pPr>
            <a:r>
              <a:rPr lang="en-US" sz="1000" b="1" dirty="0">
                <a:solidFill>
                  <a:srgbClr val="137A67"/>
                </a:solidFill>
                <a:latin typeface="Malgun Gothic" pitchFamily="34" charset="0"/>
                <a:ea typeface="Malgun Gothic" pitchFamily="34" charset="-122"/>
                <a:cs typeface="Malgun Gothic" pitchFamily="34" charset="-120"/>
              </a:rPr>
              <a:t>가림막이 열리면 bReady 보고 → 전원 준비 + 폰이면 Countdown</a:t>
            </a:r>
            <a:endParaRPr lang="en-US" sz="1000" dirty="0"/>
          </a:p>
        </p:txBody>
      </p:sp>
      <p:sp>
        <p:nvSpPr>
          <p:cNvPr id="47" name="Text 45"/>
          <p:cNvSpPr txBox="1"/>
          <p:nvPr/>
        </p:nvSpPr>
        <p:spPr>
          <a:xfrm>
            <a:off x="457200" y="4224528"/>
            <a:ext cx="8229600" cy="365760"/>
          </a:xfrm>
          <a:prstGeom prst="rect">
            <a:avLst/>
          </a:prstGeom>
          <a:noFill/>
          <a:ln/>
        </p:spPr>
        <p:txBody>
          <a:bodyPr wrap="square" lIns="0" tIns="0" rIns="0" bIns="0" rtlCol="0" anchor="t"/>
          <a:lstStyle/>
          <a:p>
            <a:pPr marL="0" indent="0">
              <a:buNone/>
            </a:pPr>
            <a:r>
              <a:rPr lang="en-US" sz="1000" dirty="0">
                <a:solidFill>
                  <a:srgbClr val="6E655F"/>
                </a:solidFill>
                <a:latin typeface="Malgun Gothic" pitchFamily="34" charset="0"/>
                <a:ea typeface="Malgun Gothic" pitchFamily="34" charset="-122"/>
                <a:cs typeface="Malgun Gothic" pitchFamily="34" charset="-120"/>
              </a:rPr>
              <a:t>Warmup 홀드 하나가 로딩 화면이 열리는 시점과 카운트다운 시작을 함께 늦춘다. 직접 ServerTravel을 부르면 이 연결이 끊긴다.</a:t>
            </a:r>
            <a:endParaRPr lang="en-US" sz="1000" dirty="0"/>
          </a:p>
        </p:txBody>
      </p:sp>
    </p:spTree>
    <p:extLst>
      <p:ext uri="{BB962C8B-B14F-4D97-AF65-F5344CB8AC3E}">
        <p14:creationId xmlns:p14="http://schemas.microsoft.com/office/powerpoint/2010/main" val="2609783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COLLABORATION</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기획·아트가 직접 고치는 값</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20</a:t>
            </a:r>
            <a:endParaRPr lang="en-US" sz="900" dirty="0"/>
          </a:p>
        </p:txBody>
      </p:sp>
      <p:sp>
        <p:nvSpPr>
          <p:cNvPr id="7" name="Shape 5"/>
          <p:cNvSpPr/>
          <p:nvPr/>
        </p:nvSpPr>
        <p:spPr>
          <a:xfrm>
            <a:off x="457200" y="1234440"/>
            <a:ext cx="4023360" cy="1572768"/>
          </a:xfrm>
          <a:prstGeom prst="roundRect">
            <a:avLst>
              <a:gd name="adj" fmla="val 4651"/>
            </a:avLst>
          </a:prstGeom>
          <a:solidFill>
            <a:srgbClr val="E2F4EF"/>
          </a:solidFill>
          <a:ln w="12700">
            <a:solidFill>
              <a:srgbClr val="E2F4EF"/>
            </a:solidFill>
            <a:prstDash val="solid"/>
          </a:ln>
        </p:spPr>
        <p:txBody>
          <a:bodyPr/>
          <a:lstStyle/>
          <a:p>
            <a:endParaRPr lang="ko-KR" altLang="en-US"/>
          </a:p>
        </p:txBody>
      </p:sp>
      <p:sp>
        <p:nvSpPr>
          <p:cNvPr id="8" name="Shape 6"/>
          <p:cNvSpPr/>
          <p:nvPr/>
        </p:nvSpPr>
        <p:spPr>
          <a:xfrm>
            <a:off x="658368" y="1417320"/>
            <a:ext cx="502920" cy="502920"/>
          </a:xfrm>
          <a:prstGeom prst="ellipse">
            <a:avLst/>
          </a:prstGeom>
          <a:solidFill>
            <a:srgbClr val="1FA88E"/>
          </a:solidFill>
          <a:ln w="12700">
            <a:solidFill>
              <a:srgbClr val="1FA88E"/>
            </a:solidFill>
            <a:prstDash val="solid"/>
          </a:ln>
        </p:spPr>
        <p:txBody>
          <a:bodyPr/>
          <a:lstStyle/>
          <a:p>
            <a:endParaRPr lang="ko-KR" altLang="en-US"/>
          </a:p>
        </p:txBody>
      </p:sp>
      <p:sp>
        <p:nvSpPr>
          <p:cNvPr id="9" name="Text 7"/>
          <p:cNvSpPr txBox="1"/>
          <p:nvPr/>
        </p:nvSpPr>
        <p:spPr>
          <a:xfrm>
            <a:off x="658368" y="141732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에셋</a:t>
            </a:r>
            <a:endParaRPr lang="en-US" sz="1000" dirty="0"/>
          </a:p>
        </p:txBody>
      </p:sp>
      <p:sp>
        <p:nvSpPr>
          <p:cNvPr id="10" name="Text 8"/>
          <p:cNvSpPr txBox="1"/>
          <p:nvPr/>
        </p:nvSpPr>
        <p:spPr>
          <a:xfrm>
            <a:off x="1325880" y="1417320"/>
            <a:ext cx="2971800" cy="502920"/>
          </a:xfrm>
          <a:prstGeom prst="rect">
            <a:avLst/>
          </a:prstGeom>
          <a:noFill/>
          <a:ln/>
        </p:spPr>
        <p:txBody>
          <a:bodyPr wrap="square" lIns="0" tIns="0" rIns="0" bIns="0" rtlCol="0" anchor="ctr"/>
          <a:lstStyle/>
          <a:p>
            <a:pPr marL="0" indent="0">
              <a:buNone/>
            </a:pPr>
            <a:r>
              <a:rPr lang="en-US" sz="1400" b="1" dirty="0">
                <a:solidFill>
                  <a:srgbClr val="2B1B12"/>
                </a:solidFill>
                <a:latin typeface="Malgun Gothic" pitchFamily="34" charset="0"/>
                <a:ea typeface="Malgun Gothic" pitchFamily="34" charset="-122"/>
                <a:cs typeface="Malgun Gothic" pitchFamily="34" charset="-120"/>
              </a:rPr>
              <a:t>데이터 에셋으로 뺀 값</a:t>
            </a:r>
            <a:endParaRPr lang="en-US" sz="1400" dirty="0"/>
          </a:p>
        </p:txBody>
      </p:sp>
      <p:sp>
        <p:nvSpPr>
          <p:cNvPr id="11" name="Text 9"/>
          <p:cNvSpPr txBox="1"/>
          <p:nvPr/>
        </p:nvSpPr>
        <p:spPr>
          <a:xfrm>
            <a:off x="685800" y="2039112"/>
            <a:ext cx="3611880" cy="71323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캐릭터: UnitDataAsset의 메시·애님·동작별 몽타주와 FX</a:t>
            </a:r>
            <a:endParaRPr lang="en-US" sz="1050" dirty="0"/>
          </a:p>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아이템 8종은 Profile 에셋, 무기는 탄과 퍼짐을 따로</a:t>
            </a:r>
            <a:endParaRPr lang="en-US" sz="1050" dirty="0"/>
          </a:p>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사운드는 바꿀 소리만 담는 오버라이드 뱅크</a:t>
            </a:r>
            <a:endParaRPr lang="en-US" sz="1050" dirty="0"/>
          </a:p>
        </p:txBody>
      </p:sp>
      <p:sp>
        <p:nvSpPr>
          <p:cNvPr id="12" name="Shape 10"/>
          <p:cNvSpPr/>
          <p:nvPr/>
        </p:nvSpPr>
        <p:spPr>
          <a:xfrm>
            <a:off x="4663440" y="1234440"/>
            <a:ext cx="4023360" cy="1572768"/>
          </a:xfrm>
          <a:prstGeom prst="roundRect">
            <a:avLst>
              <a:gd name="adj" fmla="val 4651"/>
            </a:avLst>
          </a:prstGeom>
          <a:solidFill>
            <a:srgbClr val="F3ECE6"/>
          </a:solidFill>
          <a:ln w="12700">
            <a:solidFill>
              <a:srgbClr val="F3ECE6"/>
            </a:solidFill>
            <a:prstDash val="solid"/>
          </a:ln>
        </p:spPr>
        <p:txBody>
          <a:bodyPr/>
          <a:lstStyle/>
          <a:p>
            <a:endParaRPr lang="ko-KR" altLang="en-US"/>
          </a:p>
        </p:txBody>
      </p:sp>
      <p:sp>
        <p:nvSpPr>
          <p:cNvPr id="13" name="Shape 11"/>
          <p:cNvSpPr/>
          <p:nvPr/>
        </p:nvSpPr>
        <p:spPr>
          <a:xfrm>
            <a:off x="4864608" y="1417320"/>
            <a:ext cx="502920" cy="502920"/>
          </a:xfrm>
          <a:prstGeom prst="ellipse">
            <a:avLst/>
          </a:prstGeom>
          <a:solidFill>
            <a:srgbClr val="6B4430"/>
          </a:solidFill>
          <a:ln w="12700">
            <a:solidFill>
              <a:srgbClr val="6B4430"/>
            </a:solidFill>
            <a:prstDash val="solid"/>
          </a:ln>
        </p:spPr>
        <p:txBody>
          <a:bodyPr/>
          <a:lstStyle/>
          <a:p>
            <a:endParaRPr lang="ko-KR" altLang="en-US"/>
          </a:p>
        </p:txBody>
      </p:sp>
      <p:sp>
        <p:nvSpPr>
          <p:cNvPr id="14" name="Text 12"/>
          <p:cNvSpPr txBox="1"/>
          <p:nvPr/>
        </p:nvSpPr>
        <p:spPr>
          <a:xfrm>
            <a:off x="4864608" y="141732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설정</a:t>
            </a:r>
            <a:endParaRPr lang="en-US" sz="1000" dirty="0"/>
          </a:p>
        </p:txBody>
      </p:sp>
      <p:sp>
        <p:nvSpPr>
          <p:cNvPr id="15" name="Text 13"/>
          <p:cNvSpPr txBox="1"/>
          <p:nvPr/>
        </p:nvSpPr>
        <p:spPr>
          <a:xfrm>
            <a:off x="5532120" y="1417320"/>
            <a:ext cx="2971800" cy="502920"/>
          </a:xfrm>
          <a:prstGeom prst="rect">
            <a:avLst/>
          </a:prstGeom>
          <a:noFill/>
          <a:ln/>
        </p:spPr>
        <p:txBody>
          <a:bodyPr wrap="square" lIns="0" tIns="0" rIns="0" bIns="0" rtlCol="0" anchor="ctr"/>
          <a:lstStyle/>
          <a:p>
            <a:pPr marL="0" indent="0">
              <a:buNone/>
            </a:pPr>
            <a:r>
              <a:rPr lang="en-US" sz="1400" b="1" dirty="0">
                <a:solidFill>
                  <a:srgbClr val="2B1B12"/>
                </a:solidFill>
                <a:latin typeface="Malgun Gothic" pitchFamily="34" charset="0"/>
                <a:ea typeface="Malgun Gothic" pitchFamily="34" charset="-122"/>
                <a:cs typeface="Malgun Gothic" pitchFamily="34" charset="-120"/>
              </a:rPr>
              <a:t>프로젝트 설정 페이지</a:t>
            </a:r>
            <a:endParaRPr lang="en-US" sz="1400" dirty="0"/>
          </a:p>
        </p:txBody>
      </p:sp>
      <p:sp>
        <p:nvSpPr>
          <p:cNvPr id="16" name="Text 14"/>
          <p:cNvSpPr txBox="1"/>
          <p:nvPr/>
        </p:nvSpPr>
        <p:spPr>
          <a:xfrm>
            <a:off x="4892040" y="2039112"/>
            <a:ext cx="3611880" cy="71323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Items · Match Result · Screen Fade · Warmup</a:t>
            </a:r>
            <a:endParaRPr lang="en-US" sz="1050" dirty="0"/>
          </a:p>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값은 DefaultGame.ini에 남는다</a:t>
            </a:r>
            <a:endParaRPr lang="en-US" sz="1050" dirty="0"/>
          </a:p>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결과 연출 단계를 늘리면 로비 복귀도 같이 늦춰진다</a:t>
            </a:r>
            <a:endParaRPr lang="en-US" sz="1050" dirty="0"/>
          </a:p>
        </p:txBody>
      </p:sp>
      <p:sp>
        <p:nvSpPr>
          <p:cNvPr id="17" name="Shape 15"/>
          <p:cNvSpPr/>
          <p:nvPr/>
        </p:nvSpPr>
        <p:spPr>
          <a:xfrm>
            <a:off x="457200" y="2971800"/>
            <a:ext cx="4023360" cy="1572768"/>
          </a:xfrm>
          <a:prstGeom prst="roundRect">
            <a:avLst>
              <a:gd name="adj" fmla="val 4651"/>
            </a:avLst>
          </a:prstGeom>
          <a:solidFill>
            <a:srgbClr val="F3ECE6"/>
          </a:solidFill>
          <a:ln w="12700">
            <a:solidFill>
              <a:srgbClr val="F3ECE6"/>
            </a:solidFill>
            <a:prstDash val="solid"/>
          </a:ln>
        </p:spPr>
        <p:txBody>
          <a:bodyPr/>
          <a:lstStyle/>
          <a:p>
            <a:endParaRPr lang="ko-KR" altLang="en-US"/>
          </a:p>
        </p:txBody>
      </p:sp>
      <p:sp>
        <p:nvSpPr>
          <p:cNvPr id="18" name="Shape 16"/>
          <p:cNvSpPr/>
          <p:nvPr/>
        </p:nvSpPr>
        <p:spPr>
          <a:xfrm>
            <a:off x="658368" y="3154680"/>
            <a:ext cx="502920" cy="502920"/>
          </a:xfrm>
          <a:prstGeom prst="ellipse">
            <a:avLst/>
          </a:prstGeom>
          <a:solidFill>
            <a:srgbClr val="6B4430"/>
          </a:solidFill>
          <a:ln w="12700">
            <a:solidFill>
              <a:srgbClr val="6B4430"/>
            </a:solidFill>
            <a:prstDash val="solid"/>
          </a:ln>
        </p:spPr>
        <p:txBody>
          <a:bodyPr/>
          <a:lstStyle/>
          <a:p>
            <a:endParaRPr lang="ko-KR" altLang="en-US"/>
          </a:p>
        </p:txBody>
      </p:sp>
      <p:sp>
        <p:nvSpPr>
          <p:cNvPr id="19" name="Text 17"/>
          <p:cNvSpPr txBox="1"/>
          <p:nvPr/>
        </p:nvSpPr>
        <p:spPr>
          <a:xfrm>
            <a:off x="658368" y="315468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BP</a:t>
            </a:r>
            <a:endParaRPr lang="en-US" sz="1000" dirty="0"/>
          </a:p>
        </p:txBody>
      </p:sp>
      <p:sp>
        <p:nvSpPr>
          <p:cNvPr id="20" name="Text 18"/>
          <p:cNvSpPr txBox="1"/>
          <p:nvPr/>
        </p:nvSpPr>
        <p:spPr>
          <a:xfrm>
            <a:off x="1325880" y="3154680"/>
            <a:ext cx="2971800" cy="502920"/>
          </a:xfrm>
          <a:prstGeom prst="rect">
            <a:avLst/>
          </a:prstGeom>
          <a:noFill/>
          <a:ln/>
        </p:spPr>
        <p:txBody>
          <a:bodyPr wrap="square" lIns="0" tIns="0" rIns="0" bIns="0" rtlCol="0" anchor="ctr"/>
          <a:lstStyle/>
          <a:p>
            <a:pPr marL="0" indent="0">
              <a:buNone/>
            </a:pPr>
            <a:r>
              <a:rPr lang="en-US" sz="1400" b="1" dirty="0">
                <a:solidFill>
                  <a:srgbClr val="2B1B12"/>
                </a:solidFill>
                <a:latin typeface="Malgun Gothic" pitchFamily="34" charset="0"/>
                <a:ea typeface="Malgun Gothic" pitchFamily="34" charset="-122"/>
                <a:cs typeface="Malgun Gothic" pitchFamily="34" charset="-120"/>
              </a:rPr>
              <a:t>블루프린트 연결점</a:t>
            </a:r>
            <a:endParaRPr lang="en-US" sz="1400" dirty="0"/>
          </a:p>
        </p:txBody>
      </p:sp>
      <p:sp>
        <p:nvSpPr>
          <p:cNvPr id="21" name="Text 19"/>
          <p:cNvSpPr txBox="1"/>
          <p:nvPr/>
        </p:nvSpPr>
        <p:spPr>
          <a:xfrm>
            <a:off x="685800" y="3776472"/>
            <a:ext cx="3611880" cy="71323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Txt_Timer처럼 이름만 맞추면 붙는 위젯</a:t>
            </a:r>
            <a:endParaRPr lang="en-US" sz="1050" dirty="0"/>
          </a:p>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BP_OnStunned, BP_OnMatchEnded 같은 연출 이벤트</a:t>
            </a:r>
            <a:endParaRPr lang="en-US" sz="1050" dirty="0"/>
          </a:p>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TeamPlayerStart, ItemSpawnPoint 같은 배치 액터</a:t>
            </a:r>
            <a:endParaRPr lang="en-US" sz="1050" dirty="0"/>
          </a:p>
        </p:txBody>
      </p:sp>
      <p:sp>
        <p:nvSpPr>
          <p:cNvPr id="22" name="Shape 20"/>
          <p:cNvSpPr/>
          <p:nvPr/>
        </p:nvSpPr>
        <p:spPr>
          <a:xfrm>
            <a:off x="4663440" y="2971800"/>
            <a:ext cx="4023360" cy="1572768"/>
          </a:xfrm>
          <a:prstGeom prst="roundRect">
            <a:avLst>
              <a:gd name="adj" fmla="val 4651"/>
            </a:avLst>
          </a:prstGeom>
          <a:solidFill>
            <a:srgbClr val="E2F4EF"/>
          </a:solidFill>
          <a:ln w="12700">
            <a:solidFill>
              <a:srgbClr val="E2F4EF"/>
            </a:solidFill>
            <a:prstDash val="solid"/>
          </a:ln>
        </p:spPr>
        <p:txBody>
          <a:bodyPr/>
          <a:lstStyle/>
          <a:p>
            <a:endParaRPr lang="ko-KR" altLang="en-US"/>
          </a:p>
        </p:txBody>
      </p:sp>
      <p:sp>
        <p:nvSpPr>
          <p:cNvPr id="23" name="Shape 21"/>
          <p:cNvSpPr/>
          <p:nvPr/>
        </p:nvSpPr>
        <p:spPr>
          <a:xfrm>
            <a:off x="4864608" y="3154680"/>
            <a:ext cx="502920" cy="502920"/>
          </a:xfrm>
          <a:prstGeom prst="ellipse">
            <a:avLst/>
          </a:prstGeom>
          <a:solidFill>
            <a:srgbClr val="137A67"/>
          </a:solidFill>
          <a:ln w="12700">
            <a:solidFill>
              <a:srgbClr val="137A67"/>
            </a:solidFill>
            <a:prstDash val="solid"/>
          </a:ln>
        </p:spPr>
        <p:txBody>
          <a:bodyPr/>
          <a:lstStyle/>
          <a:p>
            <a:endParaRPr lang="ko-KR" altLang="en-US"/>
          </a:p>
        </p:txBody>
      </p:sp>
      <p:sp>
        <p:nvSpPr>
          <p:cNvPr id="24" name="Text 22"/>
          <p:cNvSpPr txBox="1"/>
          <p:nvPr/>
        </p:nvSpPr>
        <p:spPr>
          <a:xfrm>
            <a:off x="4864608" y="315468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검증</a:t>
            </a:r>
            <a:endParaRPr lang="en-US" sz="1000" dirty="0"/>
          </a:p>
        </p:txBody>
      </p:sp>
      <p:sp>
        <p:nvSpPr>
          <p:cNvPr id="25" name="Text 23"/>
          <p:cNvSpPr txBox="1"/>
          <p:nvPr/>
        </p:nvSpPr>
        <p:spPr>
          <a:xfrm>
            <a:off x="5532120" y="3154680"/>
            <a:ext cx="2971800" cy="502920"/>
          </a:xfrm>
          <a:prstGeom prst="rect">
            <a:avLst/>
          </a:prstGeom>
          <a:noFill/>
          <a:ln/>
        </p:spPr>
        <p:txBody>
          <a:bodyPr wrap="square" lIns="0" tIns="0" rIns="0" bIns="0" rtlCol="0" anchor="ctr"/>
          <a:lstStyle/>
          <a:p>
            <a:pPr marL="0" indent="0">
              <a:buNone/>
            </a:pPr>
            <a:r>
              <a:rPr lang="en-US" sz="1400" b="1" dirty="0">
                <a:solidFill>
                  <a:srgbClr val="2B1B12"/>
                </a:solidFill>
                <a:latin typeface="Malgun Gothic" pitchFamily="34" charset="0"/>
                <a:ea typeface="Malgun Gothic" pitchFamily="34" charset="-122"/>
                <a:cs typeface="Malgun Gothic" pitchFamily="34" charset="-120"/>
              </a:rPr>
              <a:t>잘못 넣은 값은 알려 준다</a:t>
            </a:r>
            <a:endParaRPr lang="en-US" sz="1400" dirty="0"/>
          </a:p>
        </p:txBody>
      </p:sp>
      <p:sp>
        <p:nvSpPr>
          <p:cNvPr id="26" name="Text 24"/>
          <p:cNvSpPr txBox="1"/>
          <p:nvPr/>
        </p:nvSpPr>
        <p:spPr>
          <a:xfrm>
            <a:off x="4892040" y="3776472"/>
            <a:ext cx="3611880" cy="71323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비어 있는 필수 참조는 어느 필드인지 로그로</a:t>
            </a:r>
            <a:endParaRPr lang="en-US" sz="1050" dirty="0"/>
          </a:p>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입력 칸에 최솟값과 단위(s, cm) 표시</a:t>
            </a:r>
            <a:endParaRPr lang="en-US" sz="1050" dirty="0"/>
          </a:p>
          <a:p>
            <a:pPr marL="152400" indent="-152400">
              <a:spcAft>
                <a:spcPts val="300"/>
              </a:spcAft>
              <a:buSzPct val="100000"/>
              <a:buChar char="•"/>
            </a:pPr>
            <a:r>
              <a:rPr lang="en-US" sz="1050" dirty="0">
                <a:solidFill>
                  <a:srgbClr val="2A221D"/>
                </a:solidFill>
                <a:latin typeface="Malgun Gothic" pitchFamily="34" charset="0"/>
                <a:ea typeface="Malgun Gothic" pitchFamily="34" charset="-122"/>
                <a:cs typeface="Malgun Gothic" pitchFamily="34" charset="-120"/>
              </a:rPr>
              <a:t>실제 에셋 값을 검사하는 자동화 테스트</a:t>
            </a:r>
            <a:endParaRPr lang="en-US" sz="1050" dirty="0"/>
          </a:p>
        </p:txBody>
      </p:sp>
    </p:spTree>
    <p:extLst>
      <p:ext uri="{BB962C8B-B14F-4D97-AF65-F5344CB8AC3E}">
        <p14:creationId xmlns:p14="http://schemas.microsoft.com/office/powerpoint/2010/main" val="3614583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AUDIO</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코드는 태그만 넘기고 소리는 뱅크가 정한다</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21</a:t>
            </a:r>
            <a:endParaRPr lang="en-US" sz="900" dirty="0"/>
          </a:p>
        </p:txBody>
      </p:sp>
      <p:sp>
        <p:nvSpPr>
          <p:cNvPr id="7" name="Shape 5"/>
          <p:cNvSpPr/>
          <p:nvPr/>
        </p:nvSpPr>
        <p:spPr>
          <a:xfrm>
            <a:off x="457200" y="1234440"/>
            <a:ext cx="3840480" cy="868680"/>
          </a:xfrm>
          <a:prstGeom prst="roundRect">
            <a:avLst>
              <a:gd name="adj" fmla="val 8421"/>
            </a:avLst>
          </a:prstGeom>
          <a:solidFill>
            <a:srgbClr val="E2F4EF"/>
          </a:solidFill>
          <a:ln w="12700">
            <a:solidFill>
              <a:srgbClr val="E2F4EF"/>
            </a:solidFill>
            <a:prstDash val="solid"/>
          </a:ln>
        </p:spPr>
        <p:txBody>
          <a:bodyPr/>
          <a:lstStyle/>
          <a:p>
            <a:endParaRPr lang="ko-KR" altLang="en-US"/>
          </a:p>
        </p:txBody>
      </p:sp>
      <p:sp>
        <p:nvSpPr>
          <p:cNvPr id="8" name="Shape 6"/>
          <p:cNvSpPr/>
          <p:nvPr/>
        </p:nvSpPr>
        <p:spPr>
          <a:xfrm>
            <a:off x="640080" y="1417320"/>
            <a:ext cx="502920" cy="502920"/>
          </a:xfrm>
          <a:prstGeom prst="ellipse">
            <a:avLst/>
          </a:prstGeom>
          <a:solidFill>
            <a:srgbClr val="1FA88E"/>
          </a:solidFill>
          <a:ln w="12700">
            <a:solidFill>
              <a:srgbClr val="1FA88E"/>
            </a:solidFill>
            <a:prstDash val="solid"/>
          </a:ln>
        </p:spPr>
        <p:txBody>
          <a:bodyPr/>
          <a:lstStyle/>
          <a:p>
            <a:endParaRPr lang="ko-KR" altLang="en-US"/>
          </a:p>
        </p:txBody>
      </p:sp>
      <p:sp>
        <p:nvSpPr>
          <p:cNvPr id="9" name="Text 7"/>
          <p:cNvSpPr txBox="1"/>
          <p:nvPr/>
        </p:nvSpPr>
        <p:spPr>
          <a:xfrm>
            <a:off x="640080" y="141732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태그</a:t>
            </a:r>
            <a:endParaRPr lang="en-US" sz="1000" dirty="0"/>
          </a:p>
        </p:txBody>
      </p:sp>
      <p:sp>
        <p:nvSpPr>
          <p:cNvPr id="10" name="Text 8"/>
          <p:cNvSpPr txBox="1"/>
          <p:nvPr/>
        </p:nvSpPr>
        <p:spPr>
          <a:xfrm>
            <a:off x="1325880" y="1389888"/>
            <a:ext cx="2834640" cy="274320"/>
          </a:xfrm>
          <a:prstGeom prst="rect">
            <a:avLst/>
          </a:prstGeom>
          <a:noFill/>
          <a:ln/>
        </p:spPr>
        <p:txBody>
          <a:bodyPr wrap="square" lIns="0" tIns="0" rIns="0" bIns="0" rtlCol="0" anchor="t"/>
          <a:lstStyle/>
          <a:p>
            <a:pPr marL="0" indent="0">
              <a:buNone/>
            </a:pPr>
            <a:r>
              <a:rPr lang="en-US" sz="1150" b="1" dirty="0">
                <a:solidFill>
                  <a:srgbClr val="2B1B12"/>
                </a:solidFill>
                <a:latin typeface="Consolas" pitchFamily="34" charset="0"/>
                <a:ea typeface="Consolas" pitchFamily="34" charset="-122"/>
                <a:cs typeface="Consolas" pitchFamily="34" charset="-120"/>
              </a:rPr>
              <a:t>AudioTags::Audio_*</a:t>
            </a:r>
            <a:endParaRPr lang="en-US" sz="1150" dirty="0"/>
          </a:p>
        </p:txBody>
      </p:sp>
      <p:sp>
        <p:nvSpPr>
          <p:cNvPr id="11" name="Text 9"/>
          <p:cNvSpPr txBox="1"/>
          <p:nvPr/>
        </p:nvSpPr>
        <p:spPr>
          <a:xfrm>
            <a:off x="1325880" y="1709928"/>
            <a:ext cx="2834640" cy="274320"/>
          </a:xfrm>
          <a:prstGeom prst="rect">
            <a:avLst/>
          </a:prstGeom>
          <a:noFill/>
          <a:ln/>
        </p:spPr>
        <p:txBody>
          <a:bodyPr wrap="square" lIns="0" tIns="0" rIns="0" bIns="0" rtlCol="0" anchor="t"/>
          <a:lstStyle/>
          <a:p>
            <a:pPr marL="0" indent="0">
              <a:buNone/>
            </a:pPr>
            <a:r>
              <a:rPr lang="en-US" sz="1000" dirty="0">
                <a:solidFill>
                  <a:srgbClr val="6E655F"/>
                </a:solidFill>
                <a:latin typeface="Malgun Gothic" pitchFamily="34" charset="0"/>
                <a:ea typeface="Malgun Gothic" pitchFamily="34" charset="-122"/>
                <a:cs typeface="Malgun Gothic" pitchFamily="34" charset="-120"/>
              </a:rPr>
              <a:t>코드는 이름 하나만 넘긴다</a:t>
            </a:r>
            <a:endParaRPr lang="en-US" sz="1000" dirty="0"/>
          </a:p>
        </p:txBody>
      </p:sp>
      <p:sp>
        <p:nvSpPr>
          <p:cNvPr id="12" name="Text 10"/>
          <p:cNvSpPr txBox="1"/>
          <p:nvPr/>
        </p:nvSpPr>
        <p:spPr>
          <a:xfrm>
            <a:off x="640080" y="2103120"/>
            <a:ext cx="502920" cy="274320"/>
          </a:xfrm>
          <a:prstGeom prst="rect">
            <a:avLst/>
          </a:prstGeom>
          <a:noFill/>
          <a:ln/>
        </p:spPr>
        <p:txBody>
          <a:bodyPr wrap="square" lIns="0" tIns="0" rIns="0" bIns="0" rtlCol="0" anchor="ctr"/>
          <a:lstStyle/>
          <a:p>
            <a:pPr marL="0" indent="0" algn="ctr">
              <a:buNone/>
            </a:pPr>
            <a:r>
              <a:rPr lang="en-US" sz="1400" b="1" dirty="0">
                <a:solidFill>
                  <a:srgbClr val="6E655F"/>
                </a:solidFill>
                <a:latin typeface="Malgun Gothic" pitchFamily="34" charset="0"/>
                <a:ea typeface="Malgun Gothic" pitchFamily="34" charset="-122"/>
                <a:cs typeface="Malgun Gothic" pitchFamily="34" charset="-120"/>
              </a:rPr>
              <a:t>↓</a:t>
            </a:r>
            <a:endParaRPr lang="en-US" sz="1400" dirty="0"/>
          </a:p>
        </p:txBody>
      </p:sp>
      <p:sp>
        <p:nvSpPr>
          <p:cNvPr id="13" name="Shape 11"/>
          <p:cNvSpPr/>
          <p:nvPr/>
        </p:nvSpPr>
        <p:spPr>
          <a:xfrm>
            <a:off x="457200" y="2377440"/>
            <a:ext cx="3840480" cy="868680"/>
          </a:xfrm>
          <a:prstGeom prst="roundRect">
            <a:avLst>
              <a:gd name="adj" fmla="val 8421"/>
            </a:avLst>
          </a:prstGeom>
          <a:solidFill>
            <a:srgbClr val="F3ECE6"/>
          </a:solidFill>
          <a:ln w="12700">
            <a:solidFill>
              <a:srgbClr val="F3ECE6"/>
            </a:solidFill>
            <a:prstDash val="solid"/>
          </a:ln>
        </p:spPr>
        <p:txBody>
          <a:bodyPr/>
          <a:lstStyle/>
          <a:p>
            <a:endParaRPr lang="ko-KR" altLang="en-US"/>
          </a:p>
        </p:txBody>
      </p:sp>
      <p:sp>
        <p:nvSpPr>
          <p:cNvPr id="14" name="Shape 12"/>
          <p:cNvSpPr/>
          <p:nvPr/>
        </p:nvSpPr>
        <p:spPr>
          <a:xfrm>
            <a:off x="640080" y="2560320"/>
            <a:ext cx="502920" cy="502920"/>
          </a:xfrm>
          <a:prstGeom prst="ellipse">
            <a:avLst/>
          </a:prstGeom>
          <a:solidFill>
            <a:srgbClr val="6B4430"/>
          </a:solidFill>
          <a:ln w="12700">
            <a:solidFill>
              <a:srgbClr val="6B4430"/>
            </a:solidFill>
            <a:prstDash val="solid"/>
          </a:ln>
        </p:spPr>
        <p:txBody>
          <a:bodyPr/>
          <a:lstStyle/>
          <a:p>
            <a:endParaRPr lang="ko-KR" altLang="en-US"/>
          </a:p>
        </p:txBody>
      </p:sp>
      <p:sp>
        <p:nvSpPr>
          <p:cNvPr id="15" name="Text 13"/>
          <p:cNvSpPr txBox="1"/>
          <p:nvPr/>
        </p:nvSpPr>
        <p:spPr>
          <a:xfrm>
            <a:off x="640080" y="256032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뱅크</a:t>
            </a:r>
            <a:endParaRPr lang="en-US" sz="1000" dirty="0"/>
          </a:p>
        </p:txBody>
      </p:sp>
      <p:sp>
        <p:nvSpPr>
          <p:cNvPr id="16" name="Text 14"/>
          <p:cNvSpPr txBox="1"/>
          <p:nvPr/>
        </p:nvSpPr>
        <p:spPr>
          <a:xfrm>
            <a:off x="1325880" y="2532888"/>
            <a:ext cx="2834640" cy="274320"/>
          </a:xfrm>
          <a:prstGeom prst="rect">
            <a:avLst/>
          </a:prstGeom>
          <a:noFill/>
          <a:ln/>
        </p:spPr>
        <p:txBody>
          <a:bodyPr wrap="square" lIns="0" tIns="0" rIns="0" bIns="0" rtlCol="0" anchor="t"/>
          <a:lstStyle/>
          <a:p>
            <a:pPr marL="0" indent="0">
              <a:buNone/>
            </a:pPr>
            <a:r>
              <a:rPr lang="en-US" sz="1150" b="1" dirty="0">
                <a:solidFill>
                  <a:srgbClr val="2B1B12"/>
                </a:solidFill>
                <a:latin typeface="Consolas" pitchFamily="34" charset="0"/>
                <a:ea typeface="Consolas" pitchFamily="34" charset="-122"/>
                <a:cs typeface="Consolas" pitchFamily="34" charset="-120"/>
              </a:rPr>
              <a:t>USoundBank</a:t>
            </a:r>
            <a:endParaRPr lang="en-US" sz="1150" dirty="0"/>
          </a:p>
        </p:txBody>
      </p:sp>
      <p:sp>
        <p:nvSpPr>
          <p:cNvPr id="17" name="Text 15"/>
          <p:cNvSpPr txBox="1"/>
          <p:nvPr/>
        </p:nvSpPr>
        <p:spPr>
          <a:xfrm>
            <a:off x="1325880" y="2852928"/>
            <a:ext cx="2834640" cy="274320"/>
          </a:xfrm>
          <a:prstGeom prst="rect">
            <a:avLst/>
          </a:prstGeom>
          <a:noFill/>
          <a:ln/>
        </p:spPr>
        <p:txBody>
          <a:bodyPr wrap="square" lIns="0" tIns="0" rIns="0" bIns="0" rtlCol="0" anchor="t"/>
          <a:lstStyle/>
          <a:p>
            <a:pPr marL="0" indent="0">
              <a:buNone/>
            </a:pPr>
            <a:r>
              <a:rPr lang="en-US" sz="1000" dirty="0">
                <a:solidFill>
                  <a:srgbClr val="6E655F"/>
                </a:solidFill>
                <a:latin typeface="Malgun Gothic" pitchFamily="34" charset="0"/>
                <a:ea typeface="Malgun Gothic" pitchFamily="34" charset="-122"/>
                <a:cs typeface="Malgun Gothic" pitchFamily="34" charset="-120"/>
              </a:rPr>
              <a:t>소리 · 감쇠 · 동시 재생 제한 · 피치 범위 · 2D</a:t>
            </a:r>
            <a:endParaRPr lang="en-US" sz="1000" dirty="0"/>
          </a:p>
        </p:txBody>
      </p:sp>
      <p:sp>
        <p:nvSpPr>
          <p:cNvPr id="18" name="Text 16"/>
          <p:cNvSpPr txBox="1"/>
          <p:nvPr/>
        </p:nvSpPr>
        <p:spPr>
          <a:xfrm>
            <a:off x="640080" y="3246120"/>
            <a:ext cx="502920" cy="274320"/>
          </a:xfrm>
          <a:prstGeom prst="rect">
            <a:avLst/>
          </a:prstGeom>
          <a:noFill/>
          <a:ln/>
        </p:spPr>
        <p:txBody>
          <a:bodyPr wrap="square" lIns="0" tIns="0" rIns="0" bIns="0" rtlCol="0" anchor="ctr"/>
          <a:lstStyle/>
          <a:p>
            <a:pPr marL="0" indent="0" algn="ctr">
              <a:buNone/>
            </a:pPr>
            <a:r>
              <a:rPr lang="en-US" sz="1400" b="1" dirty="0">
                <a:solidFill>
                  <a:srgbClr val="6E655F"/>
                </a:solidFill>
                <a:latin typeface="Malgun Gothic" pitchFamily="34" charset="0"/>
                <a:ea typeface="Malgun Gothic" pitchFamily="34" charset="-122"/>
                <a:cs typeface="Malgun Gothic" pitchFamily="34" charset="-120"/>
              </a:rPr>
              <a:t>↓</a:t>
            </a:r>
            <a:endParaRPr lang="en-US" sz="1400" dirty="0"/>
          </a:p>
        </p:txBody>
      </p:sp>
      <p:sp>
        <p:nvSpPr>
          <p:cNvPr id="19" name="Shape 17"/>
          <p:cNvSpPr/>
          <p:nvPr/>
        </p:nvSpPr>
        <p:spPr>
          <a:xfrm>
            <a:off x="457200" y="3520440"/>
            <a:ext cx="3840480" cy="868680"/>
          </a:xfrm>
          <a:prstGeom prst="roundRect">
            <a:avLst>
              <a:gd name="adj" fmla="val 8421"/>
            </a:avLst>
          </a:prstGeom>
          <a:solidFill>
            <a:srgbClr val="E2F4EF"/>
          </a:solidFill>
          <a:ln w="12700">
            <a:solidFill>
              <a:srgbClr val="E2F4EF"/>
            </a:solidFill>
            <a:prstDash val="solid"/>
          </a:ln>
        </p:spPr>
        <p:txBody>
          <a:bodyPr/>
          <a:lstStyle/>
          <a:p>
            <a:endParaRPr lang="ko-KR" altLang="en-US"/>
          </a:p>
        </p:txBody>
      </p:sp>
      <p:sp>
        <p:nvSpPr>
          <p:cNvPr id="20" name="Shape 18"/>
          <p:cNvSpPr/>
          <p:nvPr/>
        </p:nvSpPr>
        <p:spPr>
          <a:xfrm>
            <a:off x="640080" y="3703320"/>
            <a:ext cx="502920" cy="502920"/>
          </a:xfrm>
          <a:prstGeom prst="ellipse">
            <a:avLst/>
          </a:prstGeom>
          <a:solidFill>
            <a:srgbClr val="137A67"/>
          </a:solidFill>
          <a:ln w="12700">
            <a:solidFill>
              <a:srgbClr val="137A67"/>
            </a:solidFill>
            <a:prstDash val="solid"/>
          </a:ln>
        </p:spPr>
        <p:txBody>
          <a:bodyPr/>
          <a:lstStyle/>
          <a:p>
            <a:endParaRPr lang="ko-KR" altLang="en-US"/>
          </a:p>
        </p:txBody>
      </p:sp>
      <p:sp>
        <p:nvSpPr>
          <p:cNvPr id="21" name="Text 19"/>
          <p:cNvSpPr txBox="1"/>
          <p:nvPr/>
        </p:nvSpPr>
        <p:spPr>
          <a:xfrm>
            <a:off x="640080" y="370332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재생</a:t>
            </a:r>
            <a:endParaRPr lang="en-US" sz="1000" dirty="0"/>
          </a:p>
        </p:txBody>
      </p:sp>
      <p:sp>
        <p:nvSpPr>
          <p:cNvPr id="22" name="Text 20"/>
          <p:cNvSpPr txBox="1"/>
          <p:nvPr/>
        </p:nvSpPr>
        <p:spPr>
          <a:xfrm>
            <a:off x="1325880" y="3675888"/>
            <a:ext cx="2834640" cy="274320"/>
          </a:xfrm>
          <a:prstGeom prst="rect">
            <a:avLst/>
          </a:prstGeom>
          <a:noFill/>
          <a:ln/>
        </p:spPr>
        <p:txBody>
          <a:bodyPr wrap="square" lIns="0" tIns="0" rIns="0" bIns="0" rtlCol="0" anchor="t"/>
          <a:lstStyle/>
          <a:p>
            <a:pPr marL="0" indent="0">
              <a:buNone/>
            </a:pPr>
            <a:r>
              <a:rPr lang="en-US" sz="1150" b="1" dirty="0">
                <a:solidFill>
                  <a:srgbClr val="2B1B12"/>
                </a:solidFill>
                <a:latin typeface="Consolas" pitchFamily="34" charset="0"/>
                <a:ea typeface="Consolas" pitchFamily="34" charset="-122"/>
                <a:cs typeface="Consolas" pitchFamily="34" charset="-120"/>
              </a:rPr>
              <a:t>UGameAudioSubsystem</a:t>
            </a:r>
            <a:endParaRPr lang="en-US" sz="1150" dirty="0"/>
          </a:p>
        </p:txBody>
      </p:sp>
      <p:sp>
        <p:nvSpPr>
          <p:cNvPr id="23" name="Text 21"/>
          <p:cNvSpPr txBox="1"/>
          <p:nvPr/>
        </p:nvSpPr>
        <p:spPr>
          <a:xfrm>
            <a:off x="1325880" y="3995928"/>
            <a:ext cx="2834640" cy="274320"/>
          </a:xfrm>
          <a:prstGeom prst="rect">
            <a:avLst/>
          </a:prstGeom>
          <a:noFill/>
          <a:ln/>
        </p:spPr>
        <p:txBody>
          <a:bodyPr wrap="square" lIns="0" tIns="0" rIns="0" bIns="0" rtlCol="0" anchor="t"/>
          <a:lstStyle/>
          <a:p>
            <a:pPr marL="0" indent="0">
              <a:buNone/>
            </a:pPr>
            <a:r>
              <a:rPr lang="en-US" sz="1000" dirty="0">
                <a:solidFill>
                  <a:srgbClr val="6E655F"/>
                </a:solidFill>
                <a:latin typeface="Malgun Gothic" pitchFamily="34" charset="0"/>
                <a:ea typeface="Malgun Gothic" pitchFamily="34" charset="-122"/>
                <a:cs typeface="Malgun Gothic" pitchFamily="34" charset="-120"/>
              </a:rPr>
              <a:t>PlayAt · Play2D · PlayAttached · PlayMusic</a:t>
            </a:r>
            <a:endParaRPr lang="en-US" sz="1000" dirty="0"/>
          </a:p>
        </p:txBody>
      </p:sp>
      <p:sp>
        <p:nvSpPr>
          <p:cNvPr id="24" name="Shape 22"/>
          <p:cNvSpPr/>
          <p:nvPr/>
        </p:nvSpPr>
        <p:spPr>
          <a:xfrm>
            <a:off x="4617720" y="1280160"/>
            <a:ext cx="548640" cy="548640"/>
          </a:xfrm>
          <a:prstGeom prst="ellipse">
            <a:avLst/>
          </a:prstGeom>
          <a:solidFill>
            <a:srgbClr val="6B4430"/>
          </a:solidFill>
          <a:ln w="12700">
            <a:solidFill>
              <a:srgbClr val="6B4430"/>
            </a:solidFill>
            <a:prstDash val="solid"/>
          </a:ln>
        </p:spPr>
        <p:txBody>
          <a:bodyPr/>
          <a:lstStyle/>
          <a:p>
            <a:endParaRPr lang="ko-KR" altLang="en-US"/>
          </a:p>
        </p:txBody>
      </p:sp>
      <p:sp>
        <p:nvSpPr>
          <p:cNvPr id="25" name="Text 23"/>
          <p:cNvSpPr txBox="1"/>
          <p:nvPr/>
        </p:nvSpPr>
        <p:spPr>
          <a:xfrm>
            <a:off x="4617720" y="1280160"/>
            <a:ext cx="548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Net</a:t>
            </a:r>
            <a:endParaRPr lang="en-US" sz="1000" dirty="0"/>
          </a:p>
        </p:txBody>
      </p:sp>
      <p:sp>
        <p:nvSpPr>
          <p:cNvPr id="26" name="Text 24"/>
          <p:cNvSpPr txBox="1"/>
          <p:nvPr/>
        </p:nvSpPr>
        <p:spPr>
          <a:xfrm>
            <a:off x="5349240" y="1234440"/>
            <a:ext cx="3337560" cy="274320"/>
          </a:xfrm>
          <a:prstGeom prst="rect">
            <a:avLst/>
          </a:prstGeom>
          <a:noFill/>
          <a:ln/>
        </p:spPr>
        <p:txBody>
          <a:bodyPr wrap="square" lIns="0" tIns="0" rIns="0" bIns="0" rtlCol="0" anchor="t"/>
          <a:lstStyle/>
          <a:p>
            <a:pPr marL="0" indent="0">
              <a:buNone/>
            </a:pPr>
            <a:r>
              <a:rPr lang="en-US" sz="1300" b="1" dirty="0">
                <a:solidFill>
                  <a:srgbClr val="2B1B12"/>
                </a:solidFill>
                <a:latin typeface="Malgun Gothic" pitchFamily="34" charset="0"/>
                <a:ea typeface="Malgun Gothic" pitchFamily="34" charset="-122"/>
                <a:cs typeface="Malgun Gothic" pitchFamily="34" charset="-120"/>
              </a:rPr>
              <a:t>RPC 없이 각자 재생</a:t>
            </a:r>
            <a:endParaRPr lang="en-US" sz="1300" dirty="0"/>
          </a:p>
        </p:txBody>
      </p:sp>
      <p:sp>
        <p:nvSpPr>
          <p:cNvPr id="27" name="Text 25"/>
          <p:cNvSpPr txBox="1"/>
          <p:nvPr/>
        </p:nvSpPr>
        <p:spPr>
          <a:xfrm>
            <a:off x="5349240" y="1563624"/>
            <a:ext cx="3337560" cy="566928"/>
          </a:xfrm>
          <a:prstGeom prst="rect">
            <a:avLst/>
          </a:prstGeom>
          <a:noFill/>
          <a:ln/>
        </p:spPr>
        <p:txBody>
          <a:bodyPr wrap="square" lIns="0" tIns="0" rIns="0" bIns="0" rtlCol="0" anchor="t"/>
          <a:lstStyle/>
          <a:p>
            <a:pPr marL="0" indent="0">
              <a:buNone/>
            </a:pPr>
            <a:r>
              <a:rPr lang="en-US" sz="1000" dirty="0">
                <a:solidFill>
                  <a:srgbClr val="2A221D"/>
                </a:solidFill>
                <a:latin typeface="Malgun Gothic" pitchFamily="34" charset="0"/>
                <a:ea typeface="Malgun Gothic" pitchFamily="34" charset="-122"/>
                <a:cs typeface="Malgun Gothic" pitchFamily="34" charset="-120"/>
              </a:rPr>
              <a:t>발사·스턴·픽업 소리는 각 머신이 이미 받은 이벤트에서 재생한다. 데디케이티드 서버는 재생하지 않는다.</a:t>
            </a:r>
            <a:endParaRPr lang="en-US" sz="1000" dirty="0"/>
          </a:p>
        </p:txBody>
      </p:sp>
      <p:sp>
        <p:nvSpPr>
          <p:cNvPr id="28" name="Shape 26"/>
          <p:cNvSpPr/>
          <p:nvPr/>
        </p:nvSpPr>
        <p:spPr>
          <a:xfrm>
            <a:off x="4617720" y="2423160"/>
            <a:ext cx="548640" cy="548640"/>
          </a:xfrm>
          <a:prstGeom prst="ellipse">
            <a:avLst/>
          </a:prstGeom>
          <a:solidFill>
            <a:srgbClr val="1FA88E"/>
          </a:solidFill>
          <a:ln w="12700">
            <a:solidFill>
              <a:srgbClr val="1FA88E"/>
            </a:solidFill>
            <a:prstDash val="solid"/>
          </a:ln>
        </p:spPr>
        <p:txBody>
          <a:bodyPr/>
          <a:lstStyle/>
          <a:p>
            <a:endParaRPr lang="ko-KR" altLang="en-US"/>
          </a:p>
        </p:txBody>
      </p:sp>
      <p:sp>
        <p:nvSpPr>
          <p:cNvPr id="29" name="Text 27"/>
          <p:cNvSpPr txBox="1"/>
          <p:nvPr/>
        </p:nvSpPr>
        <p:spPr>
          <a:xfrm>
            <a:off x="4617720" y="2423160"/>
            <a:ext cx="548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뱅크</a:t>
            </a:r>
            <a:endParaRPr lang="en-US" sz="1000" dirty="0"/>
          </a:p>
        </p:txBody>
      </p:sp>
      <p:sp>
        <p:nvSpPr>
          <p:cNvPr id="30" name="Text 28"/>
          <p:cNvSpPr txBox="1"/>
          <p:nvPr/>
        </p:nvSpPr>
        <p:spPr>
          <a:xfrm>
            <a:off x="5349240" y="2377440"/>
            <a:ext cx="3337560" cy="274320"/>
          </a:xfrm>
          <a:prstGeom prst="rect">
            <a:avLst/>
          </a:prstGeom>
          <a:noFill/>
          <a:ln/>
        </p:spPr>
        <p:txBody>
          <a:bodyPr wrap="square" lIns="0" tIns="0" rIns="0" bIns="0" rtlCol="0" anchor="t"/>
          <a:lstStyle/>
          <a:p>
            <a:pPr marL="0" indent="0">
              <a:buNone/>
            </a:pPr>
            <a:r>
              <a:rPr lang="en-US" sz="1300" b="1" dirty="0">
                <a:solidFill>
                  <a:srgbClr val="2B1B12"/>
                </a:solidFill>
                <a:latin typeface="Malgun Gothic" pitchFamily="34" charset="0"/>
                <a:ea typeface="Malgun Gothic" pitchFamily="34" charset="-122"/>
                <a:cs typeface="Malgun Gothic" pitchFamily="34" charset="-120"/>
              </a:rPr>
              <a:t>바꿀 소리만 오버라이드</a:t>
            </a:r>
            <a:endParaRPr lang="en-US" sz="1300" dirty="0"/>
          </a:p>
        </p:txBody>
      </p:sp>
      <p:sp>
        <p:nvSpPr>
          <p:cNvPr id="31" name="Text 29"/>
          <p:cNvSpPr txBox="1"/>
          <p:nvPr/>
        </p:nvSpPr>
        <p:spPr>
          <a:xfrm>
            <a:off x="5349240" y="2706624"/>
            <a:ext cx="3337560" cy="566928"/>
          </a:xfrm>
          <a:prstGeom prst="rect">
            <a:avLst/>
          </a:prstGeom>
          <a:noFill/>
          <a:ln/>
        </p:spPr>
        <p:txBody>
          <a:bodyPr wrap="square" lIns="0" tIns="0" rIns="0" bIns="0" rtlCol="0" anchor="t"/>
          <a:lstStyle/>
          <a:p>
            <a:pPr marL="0" indent="0">
              <a:buNone/>
            </a:pPr>
            <a:r>
              <a:rPr lang="en-US" sz="1000" dirty="0">
                <a:solidFill>
                  <a:srgbClr val="2A221D"/>
                </a:solidFill>
                <a:latin typeface="Malgun Gothic" pitchFamily="34" charset="0"/>
                <a:ea typeface="Malgun Gothic" pitchFamily="34" charset="-122"/>
                <a:cs typeface="Malgun Gothic" pitchFamily="34" charset="-120"/>
              </a:rPr>
              <a:t>캐릭터·무기·아이템 에셋이 작은 뱅크를 갖고 없는 소리는 기본 뱅크에서 가져온다. 노티파이로 프레임을 맞춘다.</a:t>
            </a:r>
            <a:endParaRPr lang="en-US" sz="1000" dirty="0"/>
          </a:p>
        </p:txBody>
      </p:sp>
      <p:sp>
        <p:nvSpPr>
          <p:cNvPr id="32" name="Shape 30"/>
          <p:cNvSpPr/>
          <p:nvPr/>
        </p:nvSpPr>
        <p:spPr>
          <a:xfrm>
            <a:off x="4617720" y="3566160"/>
            <a:ext cx="548640" cy="548640"/>
          </a:xfrm>
          <a:prstGeom prst="ellipse">
            <a:avLst/>
          </a:prstGeom>
          <a:solidFill>
            <a:srgbClr val="137A67"/>
          </a:solidFill>
          <a:ln w="12700">
            <a:solidFill>
              <a:srgbClr val="137A67"/>
            </a:solidFill>
            <a:prstDash val="solid"/>
          </a:ln>
        </p:spPr>
        <p:txBody>
          <a:bodyPr/>
          <a:lstStyle/>
          <a:p>
            <a:endParaRPr lang="ko-KR" altLang="en-US"/>
          </a:p>
        </p:txBody>
      </p:sp>
      <p:sp>
        <p:nvSpPr>
          <p:cNvPr id="33" name="Text 31"/>
          <p:cNvSpPr txBox="1"/>
          <p:nvPr/>
        </p:nvSpPr>
        <p:spPr>
          <a:xfrm>
            <a:off x="4617720" y="3566160"/>
            <a:ext cx="548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음악</a:t>
            </a:r>
            <a:endParaRPr lang="en-US" sz="1000" dirty="0"/>
          </a:p>
        </p:txBody>
      </p:sp>
      <p:sp>
        <p:nvSpPr>
          <p:cNvPr id="34" name="Text 32"/>
          <p:cNvSpPr txBox="1"/>
          <p:nvPr/>
        </p:nvSpPr>
        <p:spPr>
          <a:xfrm>
            <a:off x="5349240" y="3520440"/>
            <a:ext cx="3337560" cy="274320"/>
          </a:xfrm>
          <a:prstGeom prst="rect">
            <a:avLst/>
          </a:prstGeom>
          <a:noFill/>
          <a:ln/>
        </p:spPr>
        <p:txBody>
          <a:bodyPr wrap="square" lIns="0" tIns="0" rIns="0" bIns="0" rtlCol="0" anchor="t"/>
          <a:lstStyle/>
          <a:p>
            <a:pPr marL="0" indent="0">
              <a:buNone/>
            </a:pPr>
            <a:r>
              <a:rPr lang="en-US" sz="1300" b="1" dirty="0">
                <a:solidFill>
                  <a:srgbClr val="2B1B12"/>
                </a:solidFill>
                <a:latin typeface="Malgun Gothic" pitchFamily="34" charset="0"/>
                <a:ea typeface="Malgun Gothic" pitchFamily="34" charset="-122"/>
                <a:cs typeface="Malgun Gothic" pitchFamily="34" charset="-120"/>
              </a:rPr>
              <a:t>맵을 넘어 이어지는 음악</a:t>
            </a:r>
            <a:endParaRPr lang="en-US" sz="1300" dirty="0"/>
          </a:p>
        </p:txBody>
      </p:sp>
      <p:sp>
        <p:nvSpPr>
          <p:cNvPr id="35" name="Text 33"/>
          <p:cNvSpPr txBox="1"/>
          <p:nvPr/>
        </p:nvSpPr>
        <p:spPr>
          <a:xfrm>
            <a:off x="5349240" y="3849624"/>
            <a:ext cx="3337560" cy="566928"/>
          </a:xfrm>
          <a:prstGeom prst="rect">
            <a:avLst/>
          </a:prstGeom>
          <a:noFill/>
          <a:ln/>
        </p:spPr>
        <p:txBody>
          <a:bodyPr wrap="square" lIns="0" tIns="0" rIns="0" bIns="0" rtlCol="0" anchor="t"/>
          <a:lstStyle/>
          <a:p>
            <a:pPr marL="0" indent="0">
              <a:buNone/>
            </a:pPr>
            <a:r>
              <a:rPr lang="en-US" sz="1000" dirty="0">
                <a:solidFill>
                  <a:srgbClr val="2A221D"/>
                </a:solidFill>
                <a:latin typeface="Malgun Gothic" pitchFamily="34" charset="0"/>
                <a:ea typeface="Malgun Gothic" pitchFamily="34" charset="-122"/>
                <a:cs typeface="Malgun Gothic" pitchFamily="34" charset="-120"/>
              </a:rPr>
              <a:t>GameInstance 수명이라 맵이 바뀌어도 끊기지 않는다. 경기 단계가 바뀌면 컴포넌트 두 개로 1.5초 크로스페이드.</a:t>
            </a:r>
            <a:endParaRPr lang="en-US" sz="1000" dirty="0"/>
          </a:p>
        </p:txBody>
      </p:sp>
    </p:spTree>
    <p:extLst>
      <p:ext uri="{BB962C8B-B14F-4D97-AF65-F5344CB8AC3E}">
        <p14:creationId xmlns:p14="http://schemas.microsoft.com/office/powerpoint/2010/main" val="2561766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6858000" cy="228600"/>
          </a:xfrm>
          <a:prstGeom prst="rect">
            <a:avLst/>
          </a:prstGeom>
          <a:noFill/>
          <a:ln/>
        </p:spPr>
        <p:txBody>
          <a:bodyPr wrap="square" lIns="0" tIns="0" rIns="0" bIns="0" rtlCol="0" anchor="t"/>
          <a:lstStyle/>
          <a:p>
            <a:pPr marL="0" indent="0">
              <a:buNone/>
            </a:pPr>
            <a:r>
              <a:rPr lang="en-US" sz="1000" b="1" kern="0" spc="200" dirty="0">
                <a:solidFill>
                  <a:srgbClr val="1FA88E"/>
                </a:solidFill>
                <a:latin typeface="Malgun Gothic" pitchFamily="34" charset="0"/>
                <a:ea typeface="Malgun Gothic" pitchFamily="34" charset="-122"/>
                <a:cs typeface="Malgun Gothic" pitchFamily="34" charset="-120"/>
              </a:rPr>
              <a:t>VERIFICATION</a:t>
            </a:r>
            <a:endParaRPr lang="en-US" sz="1000" dirty="0"/>
          </a:p>
        </p:txBody>
      </p:sp>
      <p:sp>
        <p:nvSpPr>
          <p:cNvPr id="3" name="Text 1"/>
          <p:cNvSpPr txBox="1"/>
          <p:nvPr/>
        </p:nvSpPr>
        <p:spPr>
          <a:xfrm>
            <a:off x="457200" y="475488"/>
            <a:ext cx="7589520" cy="548640"/>
          </a:xfrm>
          <a:prstGeom prst="rect">
            <a:avLst/>
          </a:prstGeom>
          <a:noFill/>
          <a:ln/>
        </p:spPr>
        <p:txBody>
          <a:bodyPr wrap="square" lIns="0" tIns="0" rIns="0" bIns="0" rtlCol="0" anchor="t"/>
          <a:lstStyle/>
          <a:p>
            <a:pPr marL="0" indent="0">
              <a:buNone/>
            </a:pPr>
            <a:r>
              <a:rPr lang="en-US" sz="2400" b="1" dirty="0">
                <a:solidFill>
                  <a:srgbClr val="2B1B12"/>
                </a:solidFill>
                <a:latin typeface="Malgun Gothic" pitchFamily="34" charset="0"/>
                <a:ea typeface="Malgun Gothic" pitchFamily="34" charset="-122"/>
                <a:cs typeface="Malgun Gothic" pitchFamily="34" charset="-120"/>
              </a:rPr>
              <a:t>테스트와 문서로 고정한 동작</a:t>
            </a:r>
            <a:endParaRPr lang="en-US" sz="2400" dirty="0"/>
          </a:p>
        </p:txBody>
      </p:sp>
      <p:sp>
        <p:nvSpPr>
          <p:cNvPr id="4" name="Shape 2"/>
          <p:cNvSpPr/>
          <p:nvPr/>
        </p:nvSpPr>
        <p:spPr>
          <a:xfrm>
            <a:off x="8247888" y="329184"/>
            <a:ext cx="182880" cy="182880"/>
          </a:xfrm>
          <a:prstGeom prst="ellipse">
            <a:avLst/>
          </a:prstGeom>
          <a:solidFill>
            <a:srgbClr val="1FA88E"/>
          </a:solidFill>
          <a:ln w="12700">
            <a:solidFill>
              <a:srgbClr val="1FA88E"/>
            </a:solidFill>
            <a:prstDash val="solid"/>
          </a:ln>
        </p:spPr>
        <p:txBody>
          <a:bodyPr/>
          <a:lstStyle/>
          <a:p>
            <a:endParaRPr lang="ko-KR" altLang="en-US"/>
          </a:p>
        </p:txBody>
      </p:sp>
      <p:sp>
        <p:nvSpPr>
          <p:cNvPr id="5" name="Shape 3"/>
          <p:cNvSpPr/>
          <p:nvPr/>
        </p:nvSpPr>
        <p:spPr>
          <a:xfrm>
            <a:off x="8476488" y="329184"/>
            <a:ext cx="182880" cy="182880"/>
          </a:xfrm>
          <a:prstGeom prst="ellipse">
            <a:avLst/>
          </a:prstGeom>
          <a:solidFill>
            <a:srgbClr val="6B4430"/>
          </a:solidFill>
          <a:ln w="12700">
            <a:solidFill>
              <a:srgbClr val="6B4430"/>
            </a:solidFill>
            <a:prstDash val="solid"/>
          </a:ln>
        </p:spPr>
        <p:txBody>
          <a:bodyPr/>
          <a:lstStyle/>
          <a:p>
            <a:endParaRPr lang="ko-KR" altLang="en-US"/>
          </a:p>
        </p:txBody>
      </p:sp>
      <p:sp>
        <p:nvSpPr>
          <p:cNvPr id="6" name="Text 4"/>
          <p:cNvSpPr txBox="1"/>
          <p:nvPr/>
        </p:nvSpPr>
        <p:spPr>
          <a:xfrm>
            <a:off x="8229600" y="4754880"/>
            <a:ext cx="457200" cy="182880"/>
          </a:xfrm>
          <a:prstGeom prst="rect">
            <a:avLst/>
          </a:prstGeom>
          <a:noFill/>
          <a:ln/>
        </p:spPr>
        <p:txBody>
          <a:bodyPr wrap="square" lIns="0" tIns="0" rIns="0" bIns="0" rtlCol="0" anchor="t"/>
          <a:lstStyle/>
          <a:p>
            <a:pPr marL="0" indent="0" algn="r">
              <a:buNone/>
            </a:pPr>
            <a:r>
              <a:rPr lang="en-US" sz="900">
                <a:solidFill>
                  <a:srgbClr val="6E655F"/>
                </a:solidFill>
                <a:latin typeface="Malgun Gothic" pitchFamily="34" charset="0"/>
                <a:ea typeface="Malgun Gothic" pitchFamily="34" charset="-122"/>
                <a:cs typeface="Malgun Gothic" pitchFamily="34" charset="-120"/>
              </a:rPr>
              <a:t>22</a:t>
            </a:r>
            <a:endParaRPr lang="en-US" sz="900" dirty="0"/>
          </a:p>
        </p:txBody>
      </p:sp>
      <p:graphicFrame>
        <p:nvGraphicFramePr>
          <p:cNvPr id="7" name="Chart 0"/>
          <p:cNvGraphicFramePr/>
          <p:nvPr/>
        </p:nvGraphicFramePr>
        <p:xfrm>
          <a:off x="365760" y="1188720"/>
          <a:ext cx="4937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577840" y="1234440"/>
            <a:ext cx="3108960" cy="1554480"/>
          </a:xfrm>
          <a:prstGeom prst="roundRect">
            <a:avLst>
              <a:gd name="adj" fmla="val 4706"/>
            </a:avLst>
          </a:prstGeom>
          <a:solidFill>
            <a:srgbClr val="F3ECE6"/>
          </a:solidFill>
          <a:ln w="12700">
            <a:solidFill>
              <a:srgbClr val="F3ECE6"/>
            </a:solidFill>
            <a:prstDash val="solid"/>
          </a:ln>
        </p:spPr>
        <p:txBody>
          <a:bodyPr/>
          <a:lstStyle/>
          <a:p>
            <a:endParaRPr lang="ko-KR" altLang="en-US"/>
          </a:p>
        </p:txBody>
      </p:sp>
      <p:sp>
        <p:nvSpPr>
          <p:cNvPr id="9" name="Text 6"/>
          <p:cNvSpPr txBox="1"/>
          <p:nvPr/>
        </p:nvSpPr>
        <p:spPr>
          <a:xfrm>
            <a:off x="5760720" y="1371600"/>
            <a:ext cx="2743200" cy="274320"/>
          </a:xfrm>
          <a:prstGeom prst="rect">
            <a:avLst/>
          </a:prstGeom>
          <a:noFill/>
          <a:ln/>
        </p:spPr>
        <p:txBody>
          <a:bodyPr wrap="square" lIns="0" tIns="0" rIns="0" bIns="0" rtlCol="0" anchor="t"/>
          <a:lstStyle/>
          <a:p>
            <a:pPr marL="0" indent="0">
              <a:buNone/>
            </a:pPr>
            <a:r>
              <a:rPr lang="en-US" sz="1200" b="1" dirty="0">
                <a:solidFill>
                  <a:srgbClr val="2B1B12"/>
                </a:solidFill>
                <a:latin typeface="Malgun Gothic" pitchFamily="34" charset="0"/>
                <a:ea typeface="Malgun Gothic" pitchFamily="34" charset="-122"/>
                <a:cs typeface="Malgun Gothic" pitchFamily="34" charset="-120"/>
              </a:rPr>
              <a:t>헤드리스 실행</a:t>
            </a:r>
            <a:endParaRPr lang="en-US" sz="1200" dirty="0"/>
          </a:p>
        </p:txBody>
      </p:sp>
      <p:sp>
        <p:nvSpPr>
          <p:cNvPr id="10" name="Text 7"/>
          <p:cNvSpPr txBox="1"/>
          <p:nvPr/>
        </p:nvSpPr>
        <p:spPr>
          <a:xfrm>
            <a:off x="5760720" y="1691640"/>
            <a:ext cx="2788920" cy="1005840"/>
          </a:xfrm>
          <a:prstGeom prst="rect">
            <a:avLst/>
          </a:prstGeom>
          <a:noFill/>
          <a:ln/>
        </p:spPr>
        <p:txBody>
          <a:bodyPr wrap="square" lIns="0" tIns="0" rIns="0" bIns="0" rtlCol="0" anchor="t"/>
          <a:lstStyle/>
          <a:p>
            <a:pPr marL="0" indent="0">
              <a:buNone/>
            </a:pPr>
            <a:r>
              <a:rPr lang="en-US" sz="900" dirty="0">
                <a:solidFill>
                  <a:srgbClr val="6B4430"/>
                </a:solidFill>
                <a:latin typeface="Consolas" pitchFamily="34" charset="0"/>
                <a:ea typeface="Consolas" pitchFamily="34" charset="-122"/>
                <a:cs typeface="Consolas" pitchFamily="34" charset="-120"/>
              </a:rPr>
              <a:t>UnrealEditor-Cmd.exe &lt;uproject&gt;</a:t>
            </a:r>
            <a:endParaRPr lang="en-US" sz="900" dirty="0"/>
          </a:p>
          <a:p>
            <a:pPr marL="0" indent="0">
              <a:buNone/>
            </a:pPr>
            <a:r>
              <a:rPr lang="en-US" sz="900" dirty="0">
                <a:solidFill>
                  <a:srgbClr val="6B4430"/>
                </a:solidFill>
                <a:latin typeface="Consolas" pitchFamily="34" charset="0"/>
                <a:ea typeface="Consolas" pitchFamily="34" charset="-122"/>
                <a:cs typeface="Consolas" pitchFamily="34" charset="-120"/>
              </a:rPr>
              <a:t>-ExecCmds="Automation RunTests</a:t>
            </a:r>
            <a:endParaRPr lang="en-US" sz="900" dirty="0"/>
          </a:p>
          <a:p>
            <a:pPr marL="0" indent="0">
              <a:buNone/>
            </a:pPr>
            <a:r>
              <a:rPr lang="en-US" sz="900" dirty="0">
                <a:solidFill>
                  <a:srgbClr val="6B4430"/>
                </a:solidFill>
                <a:latin typeface="Consolas" pitchFamily="34" charset="0"/>
                <a:ea typeface="Consolas" pitchFamily="34" charset="-122"/>
                <a:cs typeface="Consolas" pitchFamily="34" charset="-120"/>
              </a:rPr>
              <a:t>MintChoco; Quit" -unattended</a:t>
            </a:r>
            <a:endParaRPr lang="en-US" sz="900" dirty="0"/>
          </a:p>
          <a:p>
            <a:pPr marL="0" indent="0">
              <a:buNone/>
            </a:pPr>
            <a:r>
              <a:rPr lang="en-US" sz="900" dirty="0">
                <a:solidFill>
                  <a:srgbClr val="6B4430"/>
                </a:solidFill>
                <a:latin typeface="Consolas" pitchFamily="34" charset="0"/>
                <a:ea typeface="Consolas" pitchFamily="34" charset="-122"/>
                <a:cs typeface="Consolas" pitchFamily="34" charset="-120"/>
              </a:rPr>
              <a:t>-nullrhi</a:t>
            </a:r>
            <a:endParaRPr lang="en-US" sz="900" dirty="0"/>
          </a:p>
        </p:txBody>
      </p:sp>
      <p:sp>
        <p:nvSpPr>
          <p:cNvPr id="11" name="Shape 8"/>
          <p:cNvSpPr/>
          <p:nvPr/>
        </p:nvSpPr>
        <p:spPr>
          <a:xfrm>
            <a:off x="5577840" y="2971800"/>
            <a:ext cx="3108960" cy="1645920"/>
          </a:xfrm>
          <a:prstGeom prst="roundRect">
            <a:avLst>
              <a:gd name="adj" fmla="val 4444"/>
            </a:avLst>
          </a:prstGeom>
          <a:solidFill>
            <a:srgbClr val="E2F4EF"/>
          </a:solidFill>
          <a:ln w="12700">
            <a:solidFill>
              <a:srgbClr val="E2F4EF"/>
            </a:solidFill>
            <a:prstDash val="solid"/>
          </a:ln>
        </p:spPr>
        <p:txBody>
          <a:bodyPr/>
          <a:lstStyle/>
          <a:p>
            <a:endParaRPr lang="ko-KR" altLang="en-US"/>
          </a:p>
        </p:txBody>
      </p:sp>
      <p:sp>
        <p:nvSpPr>
          <p:cNvPr id="12" name="Text 9"/>
          <p:cNvSpPr txBox="1"/>
          <p:nvPr/>
        </p:nvSpPr>
        <p:spPr>
          <a:xfrm>
            <a:off x="5760720" y="3108960"/>
            <a:ext cx="2743200" cy="274320"/>
          </a:xfrm>
          <a:prstGeom prst="rect">
            <a:avLst/>
          </a:prstGeom>
          <a:noFill/>
          <a:ln/>
        </p:spPr>
        <p:txBody>
          <a:bodyPr wrap="square" lIns="0" tIns="0" rIns="0" bIns="0" rtlCol="0" anchor="t"/>
          <a:lstStyle/>
          <a:p>
            <a:pPr marL="0" indent="0">
              <a:buNone/>
            </a:pPr>
            <a:r>
              <a:rPr lang="en-US" sz="1200" b="1" dirty="0">
                <a:solidFill>
                  <a:srgbClr val="137A67"/>
                </a:solidFill>
                <a:latin typeface="Consolas" pitchFamily="34" charset="0"/>
                <a:ea typeface="Consolas" pitchFamily="34" charset="-122"/>
                <a:cs typeface="Consolas" pitchFamily="34" charset="-120"/>
              </a:rPr>
              <a:t>docs/Traps.md</a:t>
            </a:r>
            <a:endParaRPr lang="en-US" sz="1200" dirty="0"/>
          </a:p>
        </p:txBody>
      </p:sp>
      <p:sp>
        <p:nvSpPr>
          <p:cNvPr id="13" name="Text 10"/>
          <p:cNvSpPr txBox="1"/>
          <p:nvPr/>
        </p:nvSpPr>
        <p:spPr>
          <a:xfrm>
            <a:off x="5760720" y="3429000"/>
            <a:ext cx="2788920" cy="1097280"/>
          </a:xfrm>
          <a:prstGeom prst="rect">
            <a:avLst/>
          </a:prstGeom>
          <a:noFill/>
          <a:ln/>
        </p:spPr>
        <p:txBody>
          <a:bodyPr wrap="square" lIns="0" tIns="0" rIns="0" bIns="0" rtlCol="0" anchor="t"/>
          <a:lstStyle/>
          <a:p>
            <a:pPr marL="0" indent="0">
              <a:buNone/>
            </a:pPr>
            <a:r>
              <a:rPr lang="en-US" sz="1050" dirty="0">
                <a:solidFill>
                  <a:srgbClr val="2A221D"/>
                </a:solidFill>
                <a:latin typeface="Malgun Gothic" pitchFamily="34" charset="0"/>
                <a:ea typeface="Malgun Gothic" pitchFamily="34" charset="-122"/>
                <a:cs typeface="Malgun Gothic" pitchFamily="34" charset="-120"/>
              </a:rPr>
              <a:t>증상 → 먼저 볼 곳을 시스템별 표로 남겼다. 한 번 시간을 쓴 진단은 다음 사람이 다시 쓰지 않게 했다.</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2B1B12"/>
        </a:solidFill>
        <a:effectLst/>
      </p:bgPr>
    </p:bg>
    <p:spTree>
      <p:nvGrpSpPr>
        <p:cNvPr id="1" name=""/>
        <p:cNvGrpSpPr/>
        <p:nvPr/>
      </p:nvGrpSpPr>
      <p:grpSpPr>
        <a:xfrm>
          <a:off x="0" y="0"/>
          <a:ext cx="0" cy="0"/>
          <a:chOff x="0" y="0"/>
          <a:chExt cx="0" cy="0"/>
        </a:xfrm>
      </p:grpSpPr>
      <p:sp>
        <p:nvSpPr>
          <p:cNvPr id="2" name="Shape 0"/>
          <p:cNvSpPr/>
          <p:nvPr/>
        </p:nvSpPr>
        <p:spPr>
          <a:xfrm>
            <a:off x="-1097280" y="2560320"/>
            <a:ext cx="3840480" cy="3840480"/>
          </a:xfrm>
          <a:prstGeom prst="ellipse">
            <a:avLst/>
          </a:prstGeom>
          <a:solidFill>
            <a:srgbClr val="1FA88E"/>
          </a:solidFill>
          <a:ln w="12700">
            <a:solidFill>
              <a:srgbClr val="1FA88E"/>
            </a:solidFill>
            <a:prstDash val="solid"/>
          </a:ln>
        </p:spPr>
        <p:txBody>
          <a:bodyPr/>
          <a:lstStyle/>
          <a:p>
            <a:endParaRPr lang="ko-KR" altLang="en-US"/>
          </a:p>
        </p:txBody>
      </p:sp>
      <p:sp>
        <p:nvSpPr>
          <p:cNvPr id="3" name="Shape 1"/>
          <p:cNvSpPr/>
          <p:nvPr/>
        </p:nvSpPr>
        <p:spPr>
          <a:xfrm>
            <a:off x="2377440" y="3931920"/>
            <a:ext cx="1005840" cy="1005840"/>
          </a:xfrm>
          <a:prstGeom prst="ellipse">
            <a:avLst/>
          </a:prstGeom>
          <a:solidFill>
            <a:srgbClr val="6B4430"/>
          </a:solidFill>
          <a:ln w="12700">
            <a:solidFill>
              <a:srgbClr val="6B4430"/>
            </a:solidFill>
            <a:prstDash val="solid"/>
          </a:ln>
        </p:spPr>
        <p:txBody>
          <a:bodyPr/>
          <a:lstStyle/>
          <a:p>
            <a:endParaRPr lang="ko-KR" altLang="en-US"/>
          </a:p>
        </p:txBody>
      </p:sp>
      <p:sp>
        <p:nvSpPr>
          <p:cNvPr id="4" name="Text 2"/>
          <p:cNvSpPr txBox="1"/>
          <p:nvPr/>
        </p:nvSpPr>
        <p:spPr>
          <a:xfrm>
            <a:off x="3474720" y="1463040"/>
            <a:ext cx="5212080" cy="822960"/>
          </a:xfrm>
          <a:prstGeom prst="rect">
            <a:avLst/>
          </a:prstGeom>
          <a:noFill/>
          <a:ln/>
        </p:spPr>
        <p:txBody>
          <a:bodyPr wrap="square" lIns="0" tIns="0" rIns="0" bIns="0" rtlCol="0" anchor="t"/>
          <a:lstStyle/>
          <a:p>
            <a:pPr marL="0" indent="0">
              <a:buNone/>
            </a:pPr>
            <a:r>
              <a:rPr lang="en-US" sz="4000" b="1" dirty="0">
                <a:solidFill>
                  <a:srgbClr val="FFFFFF"/>
                </a:solidFill>
                <a:latin typeface="Malgun Gothic" pitchFamily="34" charset="0"/>
                <a:ea typeface="Malgun Gothic" pitchFamily="34" charset="-122"/>
                <a:cs typeface="Malgun Gothic" pitchFamily="34" charset="-120"/>
              </a:rPr>
              <a:t>감사합니다</a:t>
            </a:r>
            <a:endParaRPr lang="en-US" sz="4000" dirty="0"/>
          </a:p>
        </p:txBody>
      </p:sp>
      <p:sp>
        <p:nvSpPr>
          <p:cNvPr id="5" name="Text 3"/>
          <p:cNvSpPr txBox="1"/>
          <p:nvPr/>
        </p:nvSpPr>
        <p:spPr>
          <a:xfrm>
            <a:off x="3474720" y="2377440"/>
            <a:ext cx="5212080" cy="365760"/>
          </a:xfrm>
          <a:prstGeom prst="rect">
            <a:avLst/>
          </a:prstGeom>
          <a:noFill/>
          <a:ln/>
        </p:spPr>
        <p:txBody>
          <a:bodyPr wrap="square" lIns="0" tIns="0" rIns="0" bIns="0" rtlCol="0" anchor="t"/>
          <a:lstStyle/>
          <a:p>
            <a:pPr marL="0" indent="0">
              <a:buNone/>
            </a:pPr>
            <a:r>
              <a:rPr lang="en-US" sz="1500" dirty="0">
                <a:solidFill>
                  <a:srgbClr val="9FE3D3"/>
                </a:solidFill>
                <a:latin typeface="Malgun Gothic" pitchFamily="34" charset="0"/>
                <a:ea typeface="Malgun Gothic" pitchFamily="34" charset="-122"/>
                <a:cs typeface="Malgun Gothic" pitchFamily="34" charset="-120"/>
              </a:rPr>
              <a:t>판정은 서버에, 연출은 각자에, 확장은 데이터에</a:t>
            </a:r>
            <a:endParaRPr lang="en-US" sz="1500" dirty="0"/>
          </a:p>
        </p:txBody>
      </p:sp>
      <p:sp>
        <p:nvSpPr>
          <p:cNvPr id="6" name="Text 4"/>
          <p:cNvSpPr txBox="1"/>
          <p:nvPr/>
        </p:nvSpPr>
        <p:spPr>
          <a:xfrm>
            <a:off x="3474720" y="3108960"/>
            <a:ext cx="5212080" cy="320040"/>
          </a:xfrm>
          <a:prstGeom prst="rect">
            <a:avLst/>
          </a:prstGeom>
          <a:noFill/>
          <a:ln/>
        </p:spPr>
        <p:txBody>
          <a:bodyPr wrap="square" lIns="0" tIns="0" rIns="0" bIns="0" rtlCol="0" anchor="t"/>
          <a:lstStyle/>
          <a:p>
            <a:pPr marL="0" indent="0">
              <a:buNone/>
            </a:pPr>
            <a:r>
              <a:rPr lang="en-US" sz="1300" dirty="0">
                <a:solidFill>
                  <a:srgbClr val="FFFFFF"/>
                </a:solidFill>
                <a:latin typeface="Malgun Gothic" pitchFamily="34" charset="0"/>
                <a:ea typeface="Malgun Gothic" pitchFamily="34" charset="-122"/>
                <a:cs typeface="Malgun Gothic" pitchFamily="34" charset="-120"/>
              </a:rPr>
              <a:t>질문 받겠습니다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TotalTime>
  <Words>5117</Words>
  <Application>Microsoft Office PowerPoint</Application>
  <PresentationFormat>화면 슬라이드 쇼(16:9)</PresentationFormat>
  <Paragraphs>641</Paragraphs>
  <Slides>23</Slides>
  <Notes>21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23</vt:i4>
      </vt:variant>
    </vt:vector>
  </HeadingPairs>
  <TitlesOfParts>
    <vt:vector size="29" baseType="lpstr">
      <vt:lpstr>맑은 고딕</vt:lpstr>
      <vt:lpstr>맑은 고딕</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MintChoco 포트폴리오</dc:title>
  <dc:subject>PptxGenJS Presentation</dc:subject>
  <dc:creator>PptxGenJS</dc:creator>
  <cp:lastModifiedBy>User</cp:lastModifiedBy>
  <cp:revision>12</cp:revision>
  <dcterms:created xsi:type="dcterms:W3CDTF">2026-10-01T02:44:44Z</dcterms:created>
  <dcterms:modified xsi:type="dcterms:W3CDTF">2026-10-02T05:15:41Z</dcterms:modified>
</cp:coreProperties>
</file>